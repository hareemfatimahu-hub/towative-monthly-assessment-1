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file" ContentType="image/file"/>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file"/><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0" y="0"/>
            <a:ext cx="5486400" cy="5143500"/>
          </a:xfrm>
          <a:prstGeom prst="rect">
            <a:avLst/>
          </a:prstGeom>
          <a:solidFill>
            <a:srgbClr val="1F4D3A"/>
          </a:solidFill>
          <a:ln/>
        </p:spPr>
        <p:txBody>
          <a:bodyPr wrap="square" rtlCol="0" anchor="ctr"/>
          <a:lstStyle/>
          <a:p>
            <a:pPr indent="0" marL="0">
              <a:buNone/>
            </a:pPr>
            <a:endParaRPr lang="en-US" dirty="0"/>
          </a:p>
        </p:txBody>
      </p:sp>
      <p:sp>
        <p:nvSpPr>
          <p:cNvPr id="3" name="Text 1"/>
          <p:cNvSpPr/>
          <p:nvPr/>
        </p:nvSpPr>
        <p:spPr>
          <a:xfrm>
            <a:off x="457200" y="400050"/>
            <a:ext cx="571500" cy="42863"/>
          </a:xfrm>
          <a:prstGeom prst="roundRect">
            <a:avLst>
              <a:gd name="adj" fmla="val 66666"/>
            </a:avLst>
          </a:prstGeom>
          <a:solidFill>
            <a:srgbClr val="E8A33D"/>
          </a:solidFill>
          <a:ln/>
        </p:spPr>
        <p:txBody>
          <a:bodyPr wrap="square" rtlCol="0" anchor="ctr"/>
          <a:lstStyle/>
          <a:p>
            <a:pPr indent="0" marL="0">
              <a:buNone/>
            </a:pPr>
            <a:endParaRPr lang="en-US" dirty="0"/>
          </a:p>
        </p:txBody>
      </p:sp>
      <p:sp>
        <p:nvSpPr>
          <p:cNvPr id="4" name="Text 2"/>
          <p:cNvSpPr/>
          <p:nvPr/>
        </p:nvSpPr>
        <p:spPr>
          <a:xfrm>
            <a:off x="457200" y="2010854"/>
            <a:ext cx="4572000" cy="432054"/>
          </a:xfrm>
          <a:prstGeom prst="rect">
            <a:avLst/>
          </a:prstGeom>
          <a:noFill/>
          <a:ln/>
        </p:spPr>
        <p:txBody>
          <a:bodyPr wrap="none" lIns="0" tIns="0" rIns="0" bIns="0" rtlCol="0" anchor="t"/>
          <a:lstStyle/>
          <a:p>
            <a:pPr algn="l" indent="0" marL="0">
              <a:lnSpc>
                <a:spcPts val="3150"/>
              </a:lnSpc>
              <a:buNone/>
            </a:pPr>
            <a:r>
              <a:rPr lang="en-US" sz="3150" b="1" spc="126" kern="0" dirty="0">
                <a:solidFill>
                  <a:srgbClr val="FFFFFF"/>
                </a:solidFill>
                <a:latin typeface="Tinos" pitchFamily="34" charset="0"/>
                <a:ea typeface="Tinos" pitchFamily="34" charset="-122"/>
                <a:cs typeface="Tinos" pitchFamily="34" charset="-120"/>
              </a:rPr>
              <a:t>TOWATIVE</a:t>
            </a:r>
            <a:endParaRPr lang="en-US" sz="3150" dirty="0"/>
          </a:p>
        </p:txBody>
      </p:sp>
      <p:sp>
        <p:nvSpPr>
          <p:cNvPr id="5" name="Text 3"/>
          <p:cNvSpPr/>
          <p:nvPr/>
        </p:nvSpPr>
        <p:spPr>
          <a:xfrm>
            <a:off x="457200" y="2525204"/>
            <a:ext cx="4681728" cy="164592"/>
          </a:xfrm>
          <a:prstGeom prst="rect">
            <a:avLst/>
          </a:prstGeom>
          <a:noFill/>
          <a:ln/>
        </p:spPr>
        <p:txBody>
          <a:bodyPr wrap="square" lIns="0" tIns="0" rIns="0" bIns="0" rtlCol="0" anchor="t"/>
          <a:lstStyle/>
          <a:p>
            <a:pPr algn="l" indent="0" marL="0">
              <a:lnSpc>
                <a:spcPts val="1181"/>
              </a:lnSpc>
              <a:buNone/>
            </a:pPr>
            <a:r>
              <a:rPr lang="en-US" sz="800" spc="157" kern="0" dirty="0">
                <a:solidFill>
                  <a:srgbClr val="E8A33D"/>
                </a:solidFill>
                <a:latin typeface="Carlito" pitchFamily="34" charset="0"/>
                <a:ea typeface="Carlito" pitchFamily="34" charset="-122"/>
                <a:cs typeface="Carlito" pitchFamily="34" charset="-120"/>
              </a:rPr>
              <a:t>NOURISH BOLDLY. ENJOY FULLY.</a:t>
            </a:r>
            <a:endParaRPr lang="en-US" sz="800" dirty="0"/>
          </a:p>
        </p:txBody>
      </p:sp>
      <p:sp>
        <p:nvSpPr>
          <p:cNvPr id="6" name="Text 4"/>
          <p:cNvSpPr/>
          <p:nvPr/>
        </p:nvSpPr>
        <p:spPr>
          <a:xfrm>
            <a:off x="457200" y="4243164"/>
            <a:ext cx="257175" cy="7144"/>
          </a:xfrm>
          <a:prstGeom prst="rect">
            <a:avLst/>
          </a:prstGeom>
          <a:solidFill>
            <a:srgbClr val="FFFFFF">
              <a:alpha val="25000"/>
            </a:srgbClr>
          </a:solidFill>
          <a:ln/>
        </p:spPr>
        <p:txBody>
          <a:bodyPr wrap="square" rtlCol="0" anchor="ctr"/>
          <a:lstStyle/>
          <a:p>
            <a:pPr indent="0" marL="0">
              <a:buNone/>
            </a:pPr>
            <a:endParaRPr lang="en-US" dirty="0"/>
          </a:p>
        </p:txBody>
      </p:sp>
      <p:sp>
        <p:nvSpPr>
          <p:cNvPr id="7" name="Text 5"/>
          <p:cNvSpPr/>
          <p:nvPr/>
        </p:nvSpPr>
        <p:spPr>
          <a:xfrm>
            <a:off x="457200" y="4336033"/>
            <a:ext cx="4681728" cy="117899"/>
          </a:xfrm>
          <a:prstGeom prst="rect">
            <a:avLst/>
          </a:prstGeom>
          <a:noFill/>
          <a:ln/>
        </p:spPr>
        <p:txBody>
          <a:bodyPr wrap="square" lIns="0" tIns="0" rIns="0" bIns="0" rtlCol="0" anchor="t">
            <a:normAutofit/>
          </a:bodyPr>
          <a:lstStyle/>
          <a:p>
            <a:pPr algn="l" indent="0" marL="0">
              <a:lnSpc>
                <a:spcPts val="1145"/>
              </a:lnSpc>
              <a:buNone/>
            </a:pPr>
            <a:r>
              <a:rPr lang="en-US" sz="800" spc="25" kern="0" dirty="0">
                <a:solidFill>
                  <a:srgbClr val="FFFFFF">
                    <a:alpha val="80000"/>
                  </a:srgbClr>
                </a:solidFill>
                <a:latin typeface="Courier New" pitchFamily="34" charset="0"/>
                <a:ea typeface="Courier New" pitchFamily="34" charset="-122"/>
                <a:cs typeface="Courier New" pitchFamily="34" charset="-120"/>
              </a:rPr>
              <a:t>Prepared by: Hareem Fatima — Owner &amp; Founder</a:t>
            </a:r>
            <a:endParaRPr lang="en-US" sz="800" dirty="0"/>
          </a:p>
        </p:txBody>
      </p:sp>
      <p:sp>
        <p:nvSpPr>
          <p:cNvPr id="8" name="Text 6"/>
          <p:cNvSpPr/>
          <p:nvPr/>
        </p:nvSpPr>
        <p:spPr>
          <a:xfrm>
            <a:off x="457200" y="4481364"/>
            <a:ext cx="4681728" cy="117899"/>
          </a:xfrm>
          <a:prstGeom prst="rect">
            <a:avLst/>
          </a:prstGeom>
          <a:noFill/>
          <a:ln/>
        </p:spPr>
        <p:txBody>
          <a:bodyPr wrap="square" lIns="0" tIns="0" rIns="0" bIns="0" rtlCol="0" anchor="t">
            <a:normAutofit/>
          </a:bodyPr>
          <a:lstStyle/>
          <a:p>
            <a:pPr algn="l" indent="0" marL="0">
              <a:lnSpc>
                <a:spcPts val="1145"/>
              </a:lnSpc>
              <a:buNone/>
            </a:pPr>
            <a:r>
              <a:rPr lang="en-US" sz="800" spc="25" kern="0" dirty="0">
                <a:solidFill>
                  <a:srgbClr val="FFFFFF">
                    <a:alpha val="80000"/>
                  </a:srgbClr>
                </a:solidFill>
                <a:latin typeface="Liberation Sans Narrow" pitchFamily="34" charset="0"/>
                <a:ea typeface="Liberation Sans Narrow" pitchFamily="34" charset="-122"/>
                <a:cs typeface="Liberation Sans Narrow" pitchFamily="34" charset="-120"/>
              </a:rPr>
              <a:t>Document set: TWV-DOC-REG-001 | v1.0</a:t>
            </a:r>
            <a:endParaRPr lang="en-US" sz="800" dirty="0"/>
          </a:p>
        </p:txBody>
      </p:sp>
      <p:sp>
        <p:nvSpPr>
          <p:cNvPr id="9" name="Text 7"/>
          <p:cNvSpPr/>
          <p:nvPr/>
        </p:nvSpPr>
        <p:spPr>
          <a:xfrm>
            <a:off x="457200" y="4626694"/>
            <a:ext cx="4572000" cy="145331"/>
          </a:xfrm>
          <a:prstGeom prst="rect">
            <a:avLst/>
          </a:prstGeom>
          <a:noFill/>
          <a:ln/>
        </p:spPr>
        <p:txBody>
          <a:bodyPr wrap="none" lIns="0" tIns="0" rIns="0" bIns="0" rtlCol="0" anchor="t"/>
          <a:lstStyle/>
          <a:p>
            <a:pPr algn="l" indent="0" marL="0">
              <a:lnSpc>
                <a:spcPts val="1145"/>
              </a:lnSpc>
              <a:buNone/>
            </a:pPr>
            <a:r>
              <a:rPr lang="en-US" sz="800" spc="25" kern="0" dirty="0">
                <a:solidFill>
                  <a:srgbClr val="FFFFFF">
                    <a:alpha val="80000"/>
                  </a:srgbClr>
                </a:solidFill>
                <a:latin typeface="Liberation Sans Narrow" pitchFamily="34" charset="0"/>
                <a:ea typeface="Liberation Sans Narrow" pitchFamily="34" charset="-122"/>
                <a:cs typeface="Liberation Sans Narrow" pitchFamily="34" charset="-120"/>
              </a:rPr>
              <a:t>01 Nov 2026</a:t>
            </a:r>
            <a:endParaRPr lang="en-US" sz="800" dirty="0"/>
          </a:p>
        </p:txBody>
      </p:sp>
      <p:sp>
        <p:nvSpPr>
          <p:cNvPr id="10" name="Text 8"/>
          <p:cNvSpPr/>
          <p:nvPr/>
        </p:nvSpPr>
        <p:spPr>
          <a:xfrm>
            <a:off x="5486400" y="0"/>
            <a:ext cx="3657600" cy="5143500"/>
          </a:xfrm>
          <a:prstGeom prst="rect">
            <a:avLst/>
          </a:prstGeom>
          <a:solidFill>
            <a:srgbClr val="FAF7F0"/>
          </a:solidFill>
          <a:ln/>
        </p:spPr>
        <p:txBody>
          <a:bodyPr wrap="square" rtlCol="0" anchor="ctr"/>
          <a:lstStyle/>
          <a:p>
            <a:pPr indent="0" marL="0">
              <a:buNone/>
            </a:pPr>
            <a:endParaRPr lang="en-US" dirty="0"/>
          </a:p>
        </p:txBody>
      </p:sp>
      <p:sp>
        <p:nvSpPr>
          <p:cNvPr id="11" name="Text 9"/>
          <p:cNvSpPr/>
          <p:nvPr/>
        </p:nvSpPr>
        <p:spPr>
          <a:xfrm>
            <a:off x="8363880" y="260747"/>
            <a:ext cx="42863" cy="42863"/>
          </a:xfrm>
          <a:prstGeom prst="ellipse">
            <a:avLst/>
          </a:prstGeom>
          <a:solidFill>
            <a:srgbClr val="E8A33D"/>
          </a:solidFill>
          <a:ln/>
        </p:spPr>
        <p:txBody>
          <a:bodyPr wrap="square" rtlCol="0" anchor="ctr"/>
          <a:lstStyle/>
          <a:p>
            <a:pPr indent="0" marL="0">
              <a:buNone/>
            </a:pPr>
            <a:endParaRPr lang="en-US" dirty="0"/>
          </a:p>
        </p:txBody>
      </p:sp>
      <p:sp>
        <p:nvSpPr>
          <p:cNvPr id="12" name="Text 10"/>
          <p:cNvSpPr/>
          <p:nvPr/>
        </p:nvSpPr>
        <p:spPr>
          <a:xfrm>
            <a:off x="8433683" y="228600"/>
            <a:ext cx="340477" cy="164592"/>
          </a:xfrm>
          <a:prstGeom prst="rect">
            <a:avLst/>
          </a:prstGeom>
          <a:noFill/>
          <a:ln/>
        </p:spPr>
        <p:txBody>
          <a:bodyPr wrap="none" lIns="0" tIns="0" rIns="0" bIns="0" rtlCol="0" anchor="t"/>
          <a:lstStyle/>
          <a:p>
            <a:pPr algn="l" indent="0" marL="0">
              <a:lnSpc>
                <a:spcPts val="844"/>
              </a:lnSpc>
              <a:buNone/>
            </a:pPr>
            <a:r>
              <a:rPr lang="en-US" sz="600" spc="34" kern="0" dirty="0">
                <a:solidFill>
                  <a:srgbClr val="7A7A7A"/>
                </a:solidFill>
                <a:latin typeface="Liberation Sans Narrow" pitchFamily="34" charset="0"/>
                <a:ea typeface="Liberation Sans Narrow" pitchFamily="34" charset="-122"/>
                <a:cs typeface="Liberation Sans Narrow" pitchFamily="34" charset="-120"/>
              </a:rPr>
              <a:t>01 / 15</a:t>
            </a:r>
            <a:endParaRPr lang="en-US" sz="600" dirty="0"/>
          </a:p>
        </p:txBody>
      </p:sp>
      <p:pic>
        <p:nvPicPr>
          <p:cNvPr id="13" name="Image 0" descr="https://chat.z.ai/api/v1/sandbox/version/file?path=download%2Fslides%2Ftowative-logo.png&amp;chatId=dfb64011-32c8-404e-8967-4fb71af8edcc">    </p:cNvPr>
          <p:cNvPicPr>
            <a:picLocks noChangeAspect="1"/>
          </p:cNvPicPr>
          <p:nvPr/>
        </p:nvPicPr>
        <p:blipFill>
          <a:blip r:embed="rId1"/>
          <a:stretch>
            <a:fillRect/>
          </a:stretch>
        </p:blipFill>
        <p:spPr>
          <a:xfrm>
            <a:off x="7958138" y="371475"/>
            <a:ext cx="785813" cy="161851"/>
          </a:xfrm>
          <a:prstGeom prst="rect">
            <a:avLst/>
          </a:prstGeom>
        </p:spPr>
      </p:pic>
      <p:sp>
        <p:nvSpPr>
          <p:cNvPr id="14" name="Text 11"/>
          <p:cNvSpPr/>
          <p:nvPr/>
        </p:nvSpPr>
        <p:spPr>
          <a:xfrm>
            <a:off x="5886450" y="790501"/>
            <a:ext cx="2857500"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B57820"/>
                </a:solidFill>
                <a:latin typeface="Liberation Sans Narrow" pitchFamily="34" charset="0"/>
                <a:ea typeface="Liberation Sans Narrow" pitchFamily="34" charset="-122"/>
                <a:cs typeface="Liberation Sans Narrow" pitchFamily="34" charset="-120"/>
              </a:rPr>
              <a:t>MONTHLY ASSESSMENT 01</a:t>
            </a:r>
            <a:endParaRPr lang="en-US" sz="800" dirty="0"/>
          </a:p>
        </p:txBody>
      </p:sp>
      <p:sp>
        <p:nvSpPr>
          <p:cNvPr id="15" name="Text 12"/>
          <p:cNvSpPr/>
          <p:nvPr/>
        </p:nvSpPr>
        <p:spPr>
          <a:xfrm>
            <a:off x="5886450" y="1008385"/>
            <a:ext cx="2857500" cy="766462"/>
          </a:xfrm>
          <a:prstGeom prst="rect">
            <a:avLst/>
          </a:prstGeom>
          <a:noFill/>
          <a:ln/>
        </p:spPr>
        <p:txBody>
          <a:bodyPr wrap="none" lIns="0" tIns="0" rIns="0" bIns="0" rtlCol="0" anchor="t"/>
          <a:lstStyle/>
          <a:p>
            <a:pPr algn="l" indent="0" marL="0">
              <a:lnSpc>
                <a:spcPts val="2795"/>
              </a:lnSpc>
              <a:buNone/>
            </a:pPr>
            <a:r>
              <a:rPr lang="en-US" sz="2588" b="1" spc="-13" kern="0" dirty="0">
                <a:solidFill>
                  <a:srgbClr val="1F4D3A"/>
                </a:solidFill>
                <a:latin typeface="Tinos" pitchFamily="34" charset="0"/>
                <a:ea typeface="Tinos" pitchFamily="34" charset="-122"/>
                <a:cs typeface="Tinos" pitchFamily="34" charset="-120"/>
              </a:rPr>
              <a:t>Launch Policy &amp;</a:t>
            </a:r>
            <a:endParaRPr lang="en-US" sz="2588" dirty="0"/>
          </a:p>
          <a:p>
            <a:pPr algn="l" indent="0" marL="0">
              <a:lnSpc>
                <a:spcPts val="2795"/>
              </a:lnSpc>
              <a:buNone/>
            </a:pPr>
            <a:r>
              <a:rPr lang="en-US" sz="2588" b="1" spc="-13" kern="0" dirty="0">
                <a:solidFill>
                  <a:srgbClr val="1F4D3A"/>
                </a:solidFill>
                <a:latin typeface="Tinos" pitchFamily="34" charset="0"/>
                <a:ea typeface="Tinos" pitchFamily="34" charset="-122"/>
                <a:cs typeface="Tinos" pitchFamily="34" charset="-120"/>
              </a:rPr>
              <a:t>SOP Package</a:t>
            </a:r>
            <a:endParaRPr lang="en-US" sz="2588" dirty="0"/>
          </a:p>
        </p:txBody>
      </p:sp>
      <p:sp>
        <p:nvSpPr>
          <p:cNvPr id="16" name="Text 13"/>
          <p:cNvSpPr/>
          <p:nvPr/>
        </p:nvSpPr>
        <p:spPr>
          <a:xfrm>
            <a:off x="5886450" y="1846659"/>
            <a:ext cx="428625" cy="21431"/>
          </a:xfrm>
          <a:prstGeom prst="roundRect">
            <a:avLst>
              <a:gd name="adj" fmla="val 88890"/>
            </a:avLst>
          </a:prstGeom>
          <a:solidFill>
            <a:srgbClr val="E8A33D"/>
          </a:solidFill>
          <a:ln/>
        </p:spPr>
        <p:txBody>
          <a:bodyPr wrap="square" rtlCol="0" anchor="ctr"/>
          <a:lstStyle/>
          <a:p>
            <a:pPr indent="0" marL="0">
              <a:buNone/>
            </a:pPr>
            <a:endParaRPr lang="en-US" dirty="0"/>
          </a:p>
        </p:txBody>
      </p:sp>
      <p:sp>
        <p:nvSpPr>
          <p:cNvPr id="17" name="Text 14"/>
          <p:cNvSpPr/>
          <p:nvPr/>
        </p:nvSpPr>
        <p:spPr>
          <a:xfrm>
            <a:off x="5886450" y="1996678"/>
            <a:ext cx="2857500" cy="723783"/>
          </a:xfrm>
          <a:prstGeom prst="rect">
            <a:avLst/>
          </a:prstGeom>
          <a:noFill/>
          <a:ln/>
        </p:spPr>
        <p:txBody>
          <a:bodyPr wrap="square" lIns="0" tIns="0" rIns="0" bIns="0" rtlCol="0" anchor="t"/>
          <a:lstStyle/>
          <a:p>
            <a:pPr algn="l" indent="0" marL="0">
              <a:lnSpc>
                <a:spcPts val="1207"/>
              </a:lnSpc>
              <a:buNone/>
            </a:pPr>
            <a:r>
              <a:rPr lang="en-US" sz="800" dirty="0">
                <a:solidFill>
                  <a:srgbClr val="4A4A4A"/>
                </a:solidFill>
                <a:latin typeface="Carlito" pitchFamily="34" charset="0"/>
                <a:ea typeface="Carlito" pitchFamily="34" charset="-122"/>
                <a:cs typeface="Carlito" pitchFamily="34" charset="-120"/>
              </a:rPr>
              <a:t>A complete governance package of 14 deliverables covering operations, IT, security, sales, communication, HR, finance, marketing, quality, organization, continuity, and document control for the Towative launch.</a:t>
            </a:r>
            <a:endParaRPr lang="en-US" sz="800" dirty="0"/>
          </a:p>
        </p:txBody>
      </p:sp>
      <p:sp>
        <p:nvSpPr>
          <p:cNvPr id="18" name="Text 15"/>
          <p:cNvSpPr/>
          <p:nvPr/>
        </p:nvSpPr>
        <p:spPr>
          <a:xfrm>
            <a:off x="5886450" y="4609576"/>
            <a:ext cx="805346" cy="232029"/>
          </a:xfrm>
          <a:prstGeom prst="roundRect">
            <a:avLst>
              <a:gd name="adj" fmla="val 4100985"/>
            </a:avLst>
          </a:prstGeom>
          <a:solidFill>
            <a:srgbClr val="FAF7F0"/>
          </a:solidFill>
          <a:ln w="7144">
            <a:solidFill>
              <a:srgbClr val="1F4D3A"/>
            </a:solidFill>
            <a:prstDash val="solid"/>
          </a:ln>
        </p:spPr>
        <p:txBody>
          <a:bodyPr wrap="square" rtlCol="0" anchor="ctr"/>
          <a:lstStyle/>
          <a:p>
            <a:pPr indent="0" marL="0">
              <a:buNone/>
            </a:pPr>
            <a:endParaRPr lang="en-US" dirty="0"/>
          </a:p>
        </p:txBody>
      </p:sp>
      <p:sp>
        <p:nvSpPr>
          <p:cNvPr id="19" name="Text 16"/>
          <p:cNvSpPr/>
          <p:nvPr/>
        </p:nvSpPr>
        <p:spPr>
          <a:xfrm>
            <a:off x="5886450" y="4622006"/>
            <a:ext cx="805346" cy="207169"/>
          </a:xfrm>
          <a:prstGeom prst="rect">
            <a:avLst/>
          </a:prstGeom>
          <a:noFill/>
          <a:ln/>
        </p:spPr>
        <p:txBody>
          <a:bodyPr wrap="none" lIns="0" tIns="0" rIns="0" bIns="0" rtlCol="0" anchor="ctr"/>
          <a:lstStyle/>
          <a:p>
            <a:pPr algn="ctr" indent="0" marL="0">
              <a:lnSpc>
                <a:spcPts val="844"/>
              </a:lnSpc>
              <a:buNone/>
            </a:pPr>
            <a:r>
              <a:rPr lang="en-US" sz="800" spc="68" kern="0" dirty="0">
                <a:solidFill>
                  <a:srgbClr val="1F4D3A"/>
                </a:solidFill>
                <a:latin typeface="Liberation Sans Narrow" pitchFamily="34" charset="0"/>
                <a:ea typeface="Liberation Sans Narrow" pitchFamily="34" charset="-122"/>
                <a:cs typeface="Liberation Sans Narrow" pitchFamily="34" charset="-120"/>
              </a:rPr>
              <a:t>14 DOCUMENTS</a:t>
            </a:r>
            <a:endParaRPr lang="en-US" sz="800" dirty="0"/>
          </a:p>
        </p:txBody>
      </p:sp>
      <p:sp>
        <p:nvSpPr>
          <p:cNvPr id="20" name="Text 17"/>
          <p:cNvSpPr/>
          <p:nvPr/>
        </p:nvSpPr>
        <p:spPr>
          <a:xfrm>
            <a:off x="6748946" y="4609576"/>
            <a:ext cx="738262" cy="232029"/>
          </a:xfrm>
          <a:prstGeom prst="roundRect">
            <a:avLst>
              <a:gd name="adj" fmla="val 4100985"/>
            </a:avLst>
          </a:prstGeom>
          <a:solidFill>
            <a:srgbClr val="FAF7F0"/>
          </a:solidFill>
          <a:ln w="7144">
            <a:solidFill>
              <a:srgbClr val="1F4D3A"/>
            </a:solidFill>
            <a:prstDash val="solid"/>
          </a:ln>
        </p:spPr>
        <p:txBody>
          <a:bodyPr wrap="square" rtlCol="0" anchor="ctr"/>
          <a:lstStyle/>
          <a:p>
            <a:pPr indent="0" marL="0">
              <a:buNone/>
            </a:pPr>
            <a:endParaRPr lang="en-US" dirty="0"/>
          </a:p>
        </p:txBody>
      </p:sp>
      <p:sp>
        <p:nvSpPr>
          <p:cNvPr id="21" name="Text 18"/>
          <p:cNvSpPr/>
          <p:nvPr/>
        </p:nvSpPr>
        <p:spPr>
          <a:xfrm>
            <a:off x="6748946" y="4622006"/>
            <a:ext cx="738262" cy="207169"/>
          </a:xfrm>
          <a:prstGeom prst="rect">
            <a:avLst/>
          </a:prstGeom>
          <a:noFill/>
          <a:ln/>
        </p:spPr>
        <p:txBody>
          <a:bodyPr wrap="none" lIns="0" tIns="0" rIns="0" bIns="0" rtlCol="0" anchor="ctr"/>
          <a:lstStyle/>
          <a:p>
            <a:pPr algn="ctr" indent="0" marL="0">
              <a:lnSpc>
                <a:spcPts val="844"/>
              </a:lnSpc>
              <a:buNone/>
            </a:pPr>
            <a:r>
              <a:rPr lang="en-US" sz="800" spc="68" kern="0" dirty="0">
                <a:solidFill>
                  <a:srgbClr val="1F4D3A"/>
                </a:solidFill>
                <a:latin typeface="Liberation Sans Narrow" pitchFamily="34" charset="0"/>
                <a:ea typeface="Liberation Sans Narrow" pitchFamily="34" charset="-122"/>
                <a:cs typeface="Liberation Sans Narrow" pitchFamily="34" charset="-120"/>
              </a:rPr>
              <a:t>11 POSITIONS</a:t>
            </a:r>
            <a:endParaRPr lang="en-US" sz="800" dirty="0"/>
          </a:p>
        </p:txBody>
      </p:sp>
      <p:sp>
        <p:nvSpPr>
          <p:cNvPr id="22" name="Text 19"/>
          <p:cNvSpPr/>
          <p:nvPr/>
        </p:nvSpPr>
        <p:spPr>
          <a:xfrm>
            <a:off x="7544358" y="4609576"/>
            <a:ext cx="925227" cy="232029"/>
          </a:xfrm>
          <a:prstGeom prst="roundRect">
            <a:avLst>
              <a:gd name="adj" fmla="val 4100985"/>
            </a:avLst>
          </a:prstGeom>
          <a:solidFill>
            <a:srgbClr val="FAF7F0"/>
          </a:solidFill>
          <a:ln w="7144">
            <a:solidFill>
              <a:srgbClr val="1F4D3A"/>
            </a:solidFill>
            <a:prstDash val="solid"/>
          </a:ln>
        </p:spPr>
        <p:txBody>
          <a:bodyPr wrap="square" rtlCol="0" anchor="ctr"/>
          <a:lstStyle/>
          <a:p>
            <a:pPr indent="0" marL="0">
              <a:buNone/>
            </a:pPr>
            <a:endParaRPr lang="en-US" dirty="0"/>
          </a:p>
        </p:txBody>
      </p:sp>
      <p:sp>
        <p:nvSpPr>
          <p:cNvPr id="23" name="Text 20"/>
          <p:cNvSpPr/>
          <p:nvPr/>
        </p:nvSpPr>
        <p:spPr>
          <a:xfrm>
            <a:off x="7544358" y="4622006"/>
            <a:ext cx="925227" cy="207169"/>
          </a:xfrm>
          <a:prstGeom prst="rect">
            <a:avLst/>
          </a:prstGeom>
          <a:noFill/>
          <a:ln/>
        </p:spPr>
        <p:txBody>
          <a:bodyPr wrap="none" lIns="0" tIns="0" rIns="0" bIns="0" rtlCol="0" anchor="ctr"/>
          <a:lstStyle/>
          <a:p>
            <a:pPr algn="ctr" indent="0" marL="0">
              <a:lnSpc>
                <a:spcPts val="844"/>
              </a:lnSpc>
              <a:buNone/>
            </a:pPr>
            <a:r>
              <a:rPr lang="en-US" sz="800" spc="68" kern="0" dirty="0">
                <a:solidFill>
                  <a:srgbClr val="1F4D3A"/>
                </a:solidFill>
                <a:latin typeface="Liberation Sans Narrow" pitchFamily="34" charset="0"/>
                <a:ea typeface="Liberation Sans Narrow" pitchFamily="34" charset="-122"/>
                <a:cs typeface="Liberation Sans Narrow" pitchFamily="34" charset="-120"/>
              </a:rPr>
              <a:t>6-MONTH HORIZON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75999" y="433983"/>
            <a:ext cx="579222" cy="151805"/>
          </a:xfrm>
          <a:prstGeom prst="rect">
            <a:avLst/>
          </a:prstGeom>
          <a:noFill/>
          <a:ln/>
        </p:spPr>
        <p:txBody>
          <a:bodyPr wrap="none" lIns="0" tIns="0" rIns="0" bIns="0" rtlCol="0" anchor="t"/>
          <a:lstStyle/>
          <a:p>
            <a:pPr algn="l" indent="0" marL="0">
              <a:lnSpc>
                <a:spcPts val="928"/>
              </a:lnSpc>
              <a:buNone/>
            </a:pPr>
            <a:r>
              <a:rPr lang="en-US" sz="619" spc="37" kern="0" dirty="0">
                <a:solidFill>
                  <a:srgbClr val="7A7A7A"/>
                </a:solidFill>
                <a:latin typeface="Liberation Sans Narrow" pitchFamily="34" charset="0"/>
                <a:ea typeface="Liberation Sans Narrow" pitchFamily="34" charset="-122"/>
                <a:cs typeface="Liberation Sans Narrow" pitchFamily="34" charset="-120"/>
              </a:rPr>
              <a:t>Page 02 / 15</a:t>
            </a:r>
            <a:endParaRPr lang="en-US" sz="619" dirty="0"/>
          </a:p>
        </p:txBody>
      </p:sp>
      <p:sp>
        <p:nvSpPr>
          <p:cNvPr id="9" name="Text 7"/>
          <p:cNvSpPr/>
          <p:nvPr/>
        </p:nvSpPr>
        <p:spPr>
          <a:xfrm>
            <a:off x="514350" y="921544"/>
            <a:ext cx="862965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Carlito" pitchFamily="34" charset="0"/>
                <a:ea typeface="Carlito" pitchFamily="34" charset="-122"/>
                <a:cs typeface="Carlito" pitchFamily="34" charset="-120"/>
              </a:rPr>
              <a:t>AGENDA</a:t>
            </a:r>
            <a:endParaRPr lang="en-US" sz="800" dirty="0"/>
          </a:p>
        </p:txBody>
      </p:sp>
      <p:sp>
        <p:nvSpPr>
          <p:cNvPr id="10" name="Text 8"/>
          <p:cNvSpPr/>
          <p:nvPr/>
        </p:nvSpPr>
        <p:spPr>
          <a:xfrm>
            <a:off x="514350" y="1082278"/>
            <a:ext cx="8629650" cy="337060"/>
          </a:xfrm>
          <a:prstGeom prst="rect">
            <a:avLst/>
          </a:prstGeom>
          <a:noFill/>
          <a:ln/>
        </p:spPr>
        <p:txBody>
          <a:bodyPr wrap="square" lIns="0" tIns="0" rIns="0" bIns="0" rtlCol="0" anchor="t"/>
          <a:lstStyle/>
          <a:p>
            <a:pPr algn="l" indent="0" marL="0">
              <a:lnSpc>
                <a:spcPts val="2458"/>
              </a:lnSpc>
              <a:buNone/>
            </a:pPr>
            <a:r>
              <a:rPr lang="en-US" sz="2138" spc="-11" kern="0" dirty="0">
                <a:solidFill>
                  <a:srgbClr val="1F4D3A"/>
                </a:solidFill>
                <a:latin typeface="Tinos" pitchFamily="34" charset="0"/>
                <a:ea typeface="Tinos" pitchFamily="34" charset="-122"/>
                <a:cs typeface="Tinos" pitchFamily="34" charset="-120"/>
              </a:rPr>
              <a:t>What's inside this package</a:t>
            </a:r>
            <a:endParaRPr lang="en-US" sz="2138" dirty="0"/>
          </a:p>
        </p:txBody>
      </p:sp>
      <p:sp>
        <p:nvSpPr>
          <p:cNvPr id="11" name="Text 9"/>
          <p:cNvSpPr/>
          <p:nvPr/>
        </p:nvSpPr>
        <p:spPr>
          <a:xfrm>
            <a:off x="514350" y="1480096"/>
            <a:ext cx="428625"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2" name="Text 10"/>
          <p:cNvSpPr/>
          <p:nvPr/>
        </p:nvSpPr>
        <p:spPr>
          <a:xfrm>
            <a:off x="517922" y="1715839"/>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13" name="Text 11"/>
          <p:cNvSpPr/>
          <p:nvPr/>
        </p:nvSpPr>
        <p:spPr>
          <a:xfrm>
            <a:off x="621506" y="1805136"/>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01</a:t>
            </a:r>
            <a:endParaRPr lang="en-US" sz="1463" dirty="0"/>
          </a:p>
        </p:txBody>
      </p:sp>
      <p:sp>
        <p:nvSpPr>
          <p:cNvPr id="14" name="Text 12"/>
          <p:cNvSpPr/>
          <p:nvPr/>
        </p:nvSpPr>
        <p:spPr>
          <a:xfrm>
            <a:off x="621506" y="2033736"/>
            <a:ext cx="1287304" cy="140446"/>
          </a:xfrm>
          <a:prstGeom prst="rect">
            <a:avLst/>
          </a:prstGeom>
          <a:noFill/>
          <a:ln/>
        </p:spPr>
        <p:txBody>
          <a:bodyPr wrap="square" lIns="0" tIns="0" rIns="0" bIns="0" rtlCol="0" anchor="t"/>
          <a:lstStyle/>
          <a:p>
            <a:pPr algn="l" indent="0" marL="0">
              <a:lnSpc>
                <a:spcPts val="864"/>
              </a:lnSpc>
              <a:buNone/>
            </a:pPr>
            <a:r>
              <a:rPr lang="en-US" sz="675" dirty="0">
                <a:solidFill>
                  <a:srgbClr val="1F4D3A"/>
                </a:solidFill>
                <a:latin typeface="Carlito" pitchFamily="34" charset="0"/>
                <a:ea typeface="Carlito" pitchFamily="34" charset="-122"/>
                <a:cs typeface="Carlito" pitchFamily="34" charset="-120"/>
              </a:rPr>
              <a:t>Brand Portfolio &amp; Launch Profile</a:t>
            </a:r>
            <a:endParaRPr lang="en-US" sz="675" dirty="0"/>
          </a:p>
        </p:txBody>
      </p:sp>
      <p:sp>
        <p:nvSpPr>
          <p:cNvPr id="15" name="Shape 13"/>
          <p:cNvSpPr/>
          <p:nvPr/>
        </p:nvSpPr>
        <p:spPr>
          <a:xfrm>
            <a:off x="621506" y="2421285"/>
            <a:ext cx="1214438" cy="0"/>
          </a:xfrm>
          <a:prstGeom prst="line">
            <a:avLst/>
          </a:prstGeom>
          <a:noFill/>
          <a:ln w="7144">
            <a:solidFill>
              <a:srgbClr val="E2DCCB"/>
            </a:solidFill>
            <a:prstDash val="dash"/>
          </a:ln>
        </p:spPr>
      </p:sp>
      <p:sp>
        <p:nvSpPr>
          <p:cNvPr id="16" name="Text 14"/>
          <p:cNvSpPr/>
          <p:nvPr/>
        </p:nvSpPr>
        <p:spPr>
          <a:xfrm>
            <a:off x="621506" y="2417713"/>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TWV-BRD-001</a:t>
            </a:r>
            <a:endParaRPr lang="en-US" sz="800" dirty="0"/>
          </a:p>
        </p:txBody>
      </p:sp>
      <p:sp>
        <p:nvSpPr>
          <p:cNvPr id="17" name="Text 15"/>
          <p:cNvSpPr/>
          <p:nvPr/>
        </p:nvSpPr>
        <p:spPr>
          <a:xfrm>
            <a:off x="2032397" y="1715839"/>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18" name="Text 16"/>
          <p:cNvSpPr/>
          <p:nvPr/>
        </p:nvSpPr>
        <p:spPr>
          <a:xfrm>
            <a:off x="2135981" y="1805136"/>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9" name="Text 17"/>
          <p:cNvSpPr/>
          <p:nvPr/>
        </p:nvSpPr>
        <p:spPr>
          <a:xfrm>
            <a:off x="2135981" y="2033736"/>
            <a:ext cx="1214438" cy="140446"/>
          </a:xfrm>
          <a:prstGeom prst="rect">
            <a:avLst/>
          </a:prstGeom>
          <a:noFill/>
          <a:ln/>
        </p:spPr>
        <p:txBody>
          <a:bodyPr wrap="non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General Office SOP</a:t>
            </a:r>
            <a:endParaRPr lang="en-US" sz="800" dirty="0"/>
          </a:p>
        </p:txBody>
      </p:sp>
      <p:sp>
        <p:nvSpPr>
          <p:cNvPr id="20" name="Shape 18"/>
          <p:cNvSpPr/>
          <p:nvPr/>
        </p:nvSpPr>
        <p:spPr>
          <a:xfrm>
            <a:off x="2135981" y="2421285"/>
            <a:ext cx="1214438" cy="0"/>
          </a:xfrm>
          <a:prstGeom prst="line">
            <a:avLst/>
          </a:prstGeom>
          <a:noFill/>
          <a:ln w="7144">
            <a:solidFill>
              <a:srgbClr val="E2DCCB"/>
            </a:solidFill>
            <a:prstDash val="dash"/>
          </a:ln>
        </p:spPr>
      </p:sp>
      <p:sp>
        <p:nvSpPr>
          <p:cNvPr id="21" name="Text 19"/>
          <p:cNvSpPr/>
          <p:nvPr/>
        </p:nvSpPr>
        <p:spPr>
          <a:xfrm>
            <a:off x="2135981" y="2417713"/>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TWV-OPS-SOP-001</a:t>
            </a:r>
            <a:endParaRPr lang="en-US" sz="800" dirty="0"/>
          </a:p>
        </p:txBody>
      </p:sp>
      <p:sp>
        <p:nvSpPr>
          <p:cNvPr id="22" name="Text 20"/>
          <p:cNvSpPr/>
          <p:nvPr/>
        </p:nvSpPr>
        <p:spPr>
          <a:xfrm>
            <a:off x="3546872" y="1715839"/>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23" name="Text 21"/>
          <p:cNvSpPr/>
          <p:nvPr/>
        </p:nvSpPr>
        <p:spPr>
          <a:xfrm>
            <a:off x="3650456" y="1805136"/>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03</a:t>
            </a:r>
            <a:endParaRPr lang="en-US" sz="1463" dirty="0"/>
          </a:p>
        </p:txBody>
      </p:sp>
      <p:sp>
        <p:nvSpPr>
          <p:cNvPr id="24" name="Text 22"/>
          <p:cNvSpPr/>
          <p:nvPr/>
        </p:nvSpPr>
        <p:spPr>
          <a:xfrm>
            <a:off x="3650456" y="2033736"/>
            <a:ext cx="1287304" cy="140446"/>
          </a:xfrm>
          <a:prstGeom prst="rect">
            <a:avLst/>
          </a:prstGeom>
          <a:noFill/>
          <a:ln/>
        </p:spPr>
        <p:txBody>
          <a:bodyPr wrap="square" lIns="0" tIns="0" rIns="0" bIns="0" rtlCol="0" anchor="t"/>
          <a:lstStyle/>
          <a:p>
            <a:pPr algn="l" indent="0" marL="0">
              <a:lnSpc>
                <a:spcPts val="864"/>
              </a:lnSpc>
              <a:buNone/>
            </a:pPr>
            <a:r>
              <a:rPr lang="en-US" sz="675" dirty="0">
                <a:solidFill>
                  <a:srgbClr val="1F4D3A"/>
                </a:solidFill>
                <a:latin typeface="Carlito" pitchFamily="34" charset="0"/>
                <a:ea typeface="Carlito" pitchFamily="34" charset="-122"/>
                <a:cs typeface="Carlito" pitchFamily="34" charset="-120"/>
              </a:rPr>
              <a:t>IT Rules &amp; Regulations Policy</a:t>
            </a:r>
            <a:endParaRPr lang="en-US" sz="675" dirty="0"/>
          </a:p>
        </p:txBody>
      </p:sp>
      <p:sp>
        <p:nvSpPr>
          <p:cNvPr id="25" name="Shape 23"/>
          <p:cNvSpPr/>
          <p:nvPr/>
        </p:nvSpPr>
        <p:spPr>
          <a:xfrm>
            <a:off x="3650456" y="2421285"/>
            <a:ext cx="1214438" cy="0"/>
          </a:xfrm>
          <a:prstGeom prst="line">
            <a:avLst/>
          </a:prstGeom>
          <a:noFill/>
          <a:ln w="7144">
            <a:solidFill>
              <a:srgbClr val="E2DCCB"/>
            </a:solidFill>
            <a:prstDash val="dash"/>
          </a:ln>
        </p:spPr>
      </p:sp>
      <p:sp>
        <p:nvSpPr>
          <p:cNvPr id="26" name="Text 24"/>
          <p:cNvSpPr/>
          <p:nvPr/>
        </p:nvSpPr>
        <p:spPr>
          <a:xfrm>
            <a:off x="3650456" y="2417713"/>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TWV-IT-POL-001</a:t>
            </a:r>
            <a:endParaRPr lang="en-US" sz="800" dirty="0"/>
          </a:p>
        </p:txBody>
      </p:sp>
      <p:sp>
        <p:nvSpPr>
          <p:cNvPr id="27" name="Text 25"/>
          <p:cNvSpPr/>
          <p:nvPr/>
        </p:nvSpPr>
        <p:spPr>
          <a:xfrm>
            <a:off x="5061347" y="1715839"/>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28" name="Text 26"/>
          <p:cNvSpPr/>
          <p:nvPr/>
        </p:nvSpPr>
        <p:spPr>
          <a:xfrm>
            <a:off x="5164931" y="1805136"/>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04</a:t>
            </a:r>
            <a:endParaRPr lang="en-US" sz="1463" dirty="0"/>
          </a:p>
        </p:txBody>
      </p:sp>
      <p:sp>
        <p:nvSpPr>
          <p:cNvPr id="29" name="Text 27"/>
          <p:cNvSpPr/>
          <p:nvPr/>
        </p:nvSpPr>
        <p:spPr>
          <a:xfrm>
            <a:off x="5164931" y="2033736"/>
            <a:ext cx="1214438" cy="140446"/>
          </a:xfrm>
          <a:prstGeom prst="rect">
            <a:avLst/>
          </a:prstGeom>
          <a:noFill/>
          <a:ln/>
        </p:spPr>
        <p:txBody>
          <a:bodyPr wrap="none" lIns="0" tIns="0" rIns="0" bIns="0" rtlCol="0" anchor="t"/>
          <a:lstStyle/>
          <a:p>
            <a:pPr algn="l" indent="0" marL="0">
              <a:lnSpc>
                <a:spcPts val="864"/>
              </a:lnSpc>
              <a:buNone/>
            </a:pPr>
            <a:r>
              <a:rPr lang="en-US" sz="675" dirty="0">
                <a:solidFill>
                  <a:srgbClr val="1F4D3A"/>
                </a:solidFill>
                <a:latin typeface="Carlito" pitchFamily="34" charset="0"/>
                <a:ea typeface="Carlito" pitchFamily="34" charset="-122"/>
                <a:cs typeface="Carlito" pitchFamily="34" charset="-120"/>
              </a:rPr>
              <a:t>Security Measures SOP</a:t>
            </a:r>
            <a:endParaRPr lang="en-US" sz="675" dirty="0"/>
          </a:p>
        </p:txBody>
      </p:sp>
      <p:sp>
        <p:nvSpPr>
          <p:cNvPr id="30" name="Shape 28"/>
          <p:cNvSpPr/>
          <p:nvPr/>
        </p:nvSpPr>
        <p:spPr>
          <a:xfrm>
            <a:off x="5164931" y="2421285"/>
            <a:ext cx="1214438" cy="0"/>
          </a:xfrm>
          <a:prstGeom prst="line">
            <a:avLst/>
          </a:prstGeom>
          <a:noFill/>
          <a:ln w="7144">
            <a:solidFill>
              <a:srgbClr val="E2DCCB"/>
            </a:solidFill>
            <a:prstDash val="dash"/>
          </a:ln>
        </p:spPr>
      </p:sp>
      <p:sp>
        <p:nvSpPr>
          <p:cNvPr id="31" name="Text 29"/>
          <p:cNvSpPr/>
          <p:nvPr/>
        </p:nvSpPr>
        <p:spPr>
          <a:xfrm>
            <a:off x="5164931" y="2417713"/>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TWV-SEC-SOP-001</a:t>
            </a:r>
            <a:endParaRPr lang="en-US" sz="800" dirty="0"/>
          </a:p>
        </p:txBody>
      </p:sp>
      <p:sp>
        <p:nvSpPr>
          <p:cNvPr id="32" name="Text 30"/>
          <p:cNvSpPr/>
          <p:nvPr/>
        </p:nvSpPr>
        <p:spPr>
          <a:xfrm>
            <a:off x="6575822" y="1715839"/>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33" name="Text 31"/>
          <p:cNvSpPr/>
          <p:nvPr/>
        </p:nvSpPr>
        <p:spPr>
          <a:xfrm>
            <a:off x="6679406" y="1805136"/>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2F6B53"/>
                </a:solidFill>
                <a:latin typeface="Liberation Sans Narrow" pitchFamily="34" charset="0"/>
                <a:ea typeface="Liberation Sans Narrow" pitchFamily="34" charset="-122"/>
                <a:cs typeface="Liberation Sans Narrow" pitchFamily="34" charset="-120"/>
              </a:rPr>
              <a:t>05</a:t>
            </a:r>
            <a:endParaRPr lang="en-US" sz="1463" dirty="0"/>
          </a:p>
        </p:txBody>
      </p:sp>
      <p:sp>
        <p:nvSpPr>
          <p:cNvPr id="34" name="Text 32"/>
          <p:cNvSpPr/>
          <p:nvPr/>
        </p:nvSpPr>
        <p:spPr>
          <a:xfrm>
            <a:off x="6679406" y="2033736"/>
            <a:ext cx="1214438"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Sales Targets &amp; Performance Plan</a:t>
            </a:r>
            <a:endParaRPr lang="en-US" sz="800" dirty="0"/>
          </a:p>
        </p:txBody>
      </p:sp>
      <p:sp>
        <p:nvSpPr>
          <p:cNvPr id="35" name="Shape 33"/>
          <p:cNvSpPr/>
          <p:nvPr/>
        </p:nvSpPr>
        <p:spPr>
          <a:xfrm>
            <a:off x="6679406" y="2421285"/>
            <a:ext cx="1214438" cy="0"/>
          </a:xfrm>
          <a:prstGeom prst="line">
            <a:avLst/>
          </a:prstGeom>
          <a:noFill/>
          <a:ln w="7144">
            <a:solidFill>
              <a:srgbClr val="E2DCCB"/>
            </a:solidFill>
            <a:prstDash val="dash"/>
          </a:ln>
        </p:spPr>
      </p:sp>
      <p:sp>
        <p:nvSpPr>
          <p:cNvPr id="36" name="Text 34"/>
          <p:cNvSpPr/>
          <p:nvPr/>
        </p:nvSpPr>
        <p:spPr>
          <a:xfrm>
            <a:off x="6679406" y="2417713"/>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TWV-SAL-PLN-001</a:t>
            </a:r>
            <a:endParaRPr lang="en-US" sz="800" dirty="0"/>
          </a:p>
        </p:txBody>
      </p:sp>
      <p:sp>
        <p:nvSpPr>
          <p:cNvPr id="37" name="Text 35"/>
          <p:cNvSpPr/>
          <p:nvPr/>
        </p:nvSpPr>
        <p:spPr>
          <a:xfrm>
            <a:off x="517922" y="2730252"/>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38" name="Text 36"/>
          <p:cNvSpPr/>
          <p:nvPr/>
        </p:nvSpPr>
        <p:spPr>
          <a:xfrm>
            <a:off x="621506" y="2819549"/>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06</a:t>
            </a:r>
            <a:endParaRPr lang="en-US" sz="1463" dirty="0"/>
          </a:p>
        </p:txBody>
      </p:sp>
      <p:sp>
        <p:nvSpPr>
          <p:cNvPr id="39" name="Text 37"/>
          <p:cNvSpPr/>
          <p:nvPr/>
        </p:nvSpPr>
        <p:spPr>
          <a:xfrm>
            <a:off x="621506" y="3048149"/>
            <a:ext cx="1287304"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Professional Communication Ethics SOP</a:t>
            </a:r>
            <a:endParaRPr lang="en-US" sz="800" dirty="0"/>
          </a:p>
        </p:txBody>
      </p:sp>
      <p:sp>
        <p:nvSpPr>
          <p:cNvPr id="40" name="Shape 38"/>
          <p:cNvSpPr/>
          <p:nvPr/>
        </p:nvSpPr>
        <p:spPr>
          <a:xfrm>
            <a:off x="621506" y="3435697"/>
            <a:ext cx="1214438" cy="0"/>
          </a:xfrm>
          <a:prstGeom prst="line">
            <a:avLst/>
          </a:prstGeom>
          <a:noFill/>
          <a:ln w="7144">
            <a:solidFill>
              <a:srgbClr val="E2DCCB"/>
            </a:solidFill>
            <a:prstDash val="dash"/>
          </a:ln>
        </p:spPr>
      </p:sp>
      <p:sp>
        <p:nvSpPr>
          <p:cNvPr id="41" name="Text 39"/>
          <p:cNvSpPr/>
          <p:nvPr/>
        </p:nvSpPr>
        <p:spPr>
          <a:xfrm>
            <a:off x="621506" y="3432125"/>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TWV-COM-SOP-001</a:t>
            </a:r>
            <a:endParaRPr lang="en-US" sz="800" dirty="0"/>
          </a:p>
        </p:txBody>
      </p:sp>
      <p:sp>
        <p:nvSpPr>
          <p:cNvPr id="42" name="Text 40"/>
          <p:cNvSpPr/>
          <p:nvPr/>
        </p:nvSpPr>
        <p:spPr>
          <a:xfrm>
            <a:off x="2032397" y="2730252"/>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43" name="Text 41"/>
          <p:cNvSpPr/>
          <p:nvPr/>
        </p:nvSpPr>
        <p:spPr>
          <a:xfrm>
            <a:off x="2135981" y="2819549"/>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07</a:t>
            </a:r>
            <a:endParaRPr lang="en-US" sz="1463" dirty="0"/>
          </a:p>
        </p:txBody>
      </p:sp>
      <p:sp>
        <p:nvSpPr>
          <p:cNvPr id="44" name="Text 42"/>
          <p:cNvSpPr/>
          <p:nvPr/>
        </p:nvSpPr>
        <p:spPr>
          <a:xfrm>
            <a:off x="2135981" y="3048149"/>
            <a:ext cx="1287304"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Client Communication &amp; Engagement Ethics SOP</a:t>
            </a:r>
            <a:endParaRPr lang="en-US" sz="800" dirty="0"/>
          </a:p>
        </p:txBody>
      </p:sp>
      <p:sp>
        <p:nvSpPr>
          <p:cNvPr id="45" name="Shape 43"/>
          <p:cNvSpPr/>
          <p:nvPr/>
        </p:nvSpPr>
        <p:spPr>
          <a:xfrm>
            <a:off x="2135981" y="3435697"/>
            <a:ext cx="1214438" cy="0"/>
          </a:xfrm>
          <a:prstGeom prst="line">
            <a:avLst/>
          </a:prstGeom>
          <a:noFill/>
          <a:ln w="7144">
            <a:solidFill>
              <a:srgbClr val="E2DCCB"/>
            </a:solidFill>
            <a:prstDash val="dash"/>
          </a:ln>
        </p:spPr>
      </p:sp>
      <p:sp>
        <p:nvSpPr>
          <p:cNvPr id="46" name="Text 44"/>
          <p:cNvSpPr/>
          <p:nvPr/>
        </p:nvSpPr>
        <p:spPr>
          <a:xfrm>
            <a:off x="2135981" y="3432125"/>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TWV-CLT-SOP-001</a:t>
            </a:r>
            <a:endParaRPr lang="en-US" sz="800" dirty="0"/>
          </a:p>
        </p:txBody>
      </p:sp>
      <p:sp>
        <p:nvSpPr>
          <p:cNvPr id="47" name="Text 45"/>
          <p:cNvSpPr/>
          <p:nvPr/>
        </p:nvSpPr>
        <p:spPr>
          <a:xfrm>
            <a:off x="3546872" y="2730252"/>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48" name="Text 46"/>
          <p:cNvSpPr/>
          <p:nvPr/>
        </p:nvSpPr>
        <p:spPr>
          <a:xfrm>
            <a:off x="3650456" y="2819549"/>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08</a:t>
            </a:r>
            <a:endParaRPr lang="en-US" sz="1463" dirty="0"/>
          </a:p>
        </p:txBody>
      </p:sp>
      <p:sp>
        <p:nvSpPr>
          <p:cNvPr id="49" name="Text 47"/>
          <p:cNvSpPr/>
          <p:nvPr/>
        </p:nvSpPr>
        <p:spPr>
          <a:xfrm>
            <a:off x="3650456" y="3048149"/>
            <a:ext cx="1214438"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HR &amp; Employee Management Policy</a:t>
            </a:r>
            <a:endParaRPr lang="en-US" sz="800" dirty="0"/>
          </a:p>
        </p:txBody>
      </p:sp>
      <p:sp>
        <p:nvSpPr>
          <p:cNvPr id="50" name="Shape 48"/>
          <p:cNvSpPr/>
          <p:nvPr/>
        </p:nvSpPr>
        <p:spPr>
          <a:xfrm>
            <a:off x="3650456" y="3435697"/>
            <a:ext cx="1214438" cy="0"/>
          </a:xfrm>
          <a:prstGeom prst="line">
            <a:avLst/>
          </a:prstGeom>
          <a:noFill/>
          <a:ln w="7144">
            <a:solidFill>
              <a:srgbClr val="E2DCCB"/>
            </a:solidFill>
            <a:prstDash val="dash"/>
          </a:ln>
        </p:spPr>
      </p:sp>
      <p:sp>
        <p:nvSpPr>
          <p:cNvPr id="51" name="Text 49"/>
          <p:cNvSpPr/>
          <p:nvPr/>
        </p:nvSpPr>
        <p:spPr>
          <a:xfrm>
            <a:off x="3650456" y="3432125"/>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TWV-HR-POL-001</a:t>
            </a:r>
            <a:endParaRPr lang="en-US" sz="800" dirty="0"/>
          </a:p>
        </p:txBody>
      </p:sp>
      <p:sp>
        <p:nvSpPr>
          <p:cNvPr id="52" name="Text 50"/>
          <p:cNvSpPr/>
          <p:nvPr/>
        </p:nvSpPr>
        <p:spPr>
          <a:xfrm>
            <a:off x="5061347" y="2730252"/>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53" name="Text 51"/>
          <p:cNvSpPr/>
          <p:nvPr/>
        </p:nvSpPr>
        <p:spPr>
          <a:xfrm>
            <a:off x="5164931" y="2819549"/>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09</a:t>
            </a:r>
            <a:endParaRPr lang="en-US" sz="1463" dirty="0"/>
          </a:p>
        </p:txBody>
      </p:sp>
      <p:sp>
        <p:nvSpPr>
          <p:cNvPr id="54" name="Text 52"/>
          <p:cNvSpPr/>
          <p:nvPr/>
        </p:nvSpPr>
        <p:spPr>
          <a:xfrm>
            <a:off x="5164931" y="3048149"/>
            <a:ext cx="1214438"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Finance &amp; Expense Management SOP</a:t>
            </a:r>
            <a:endParaRPr lang="en-US" sz="800" dirty="0"/>
          </a:p>
        </p:txBody>
      </p:sp>
      <p:sp>
        <p:nvSpPr>
          <p:cNvPr id="55" name="Shape 53"/>
          <p:cNvSpPr/>
          <p:nvPr/>
        </p:nvSpPr>
        <p:spPr>
          <a:xfrm>
            <a:off x="5164931" y="3435697"/>
            <a:ext cx="1214438" cy="0"/>
          </a:xfrm>
          <a:prstGeom prst="line">
            <a:avLst/>
          </a:prstGeom>
          <a:noFill/>
          <a:ln w="7144">
            <a:solidFill>
              <a:srgbClr val="E2DCCB"/>
            </a:solidFill>
            <a:prstDash val="dash"/>
          </a:ln>
        </p:spPr>
      </p:sp>
      <p:sp>
        <p:nvSpPr>
          <p:cNvPr id="56" name="Text 54"/>
          <p:cNvSpPr/>
          <p:nvPr/>
        </p:nvSpPr>
        <p:spPr>
          <a:xfrm>
            <a:off x="5164931" y="3432125"/>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TWV-FIN-SOP-001</a:t>
            </a:r>
            <a:endParaRPr lang="en-US" sz="800" dirty="0"/>
          </a:p>
        </p:txBody>
      </p:sp>
      <p:sp>
        <p:nvSpPr>
          <p:cNvPr id="57" name="Text 55"/>
          <p:cNvSpPr/>
          <p:nvPr/>
        </p:nvSpPr>
        <p:spPr>
          <a:xfrm>
            <a:off x="6575822" y="2730252"/>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58" name="Text 56"/>
          <p:cNvSpPr/>
          <p:nvPr/>
        </p:nvSpPr>
        <p:spPr>
          <a:xfrm>
            <a:off x="6679406" y="2819549"/>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2F6B53"/>
                </a:solidFill>
                <a:latin typeface="Liberation Sans Narrow" pitchFamily="34" charset="0"/>
                <a:ea typeface="Liberation Sans Narrow" pitchFamily="34" charset="-122"/>
                <a:cs typeface="Liberation Sans Narrow" pitchFamily="34" charset="-120"/>
              </a:rPr>
              <a:t>10</a:t>
            </a:r>
            <a:endParaRPr lang="en-US" sz="1463" dirty="0"/>
          </a:p>
        </p:txBody>
      </p:sp>
      <p:sp>
        <p:nvSpPr>
          <p:cNvPr id="59" name="Text 57"/>
          <p:cNvSpPr/>
          <p:nvPr/>
        </p:nvSpPr>
        <p:spPr>
          <a:xfrm>
            <a:off x="6679406" y="3048149"/>
            <a:ext cx="1287304" cy="140446"/>
          </a:xfrm>
          <a:prstGeom prst="rect">
            <a:avLst/>
          </a:prstGeom>
          <a:noFill/>
          <a:ln/>
        </p:spPr>
        <p:txBody>
          <a:bodyPr wrap="square" lIns="0" tIns="0" rIns="0" bIns="0" rtlCol="0" anchor="t"/>
          <a:lstStyle/>
          <a:p>
            <a:pPr algn="l" indent="0" marL="0">
              <a:lnSpc>
                <a:spcPts val="864"/>
              </a:lnSpc>
              <a:buNone/>
            </a:pPr>
            <a:r>
              <a:rPr lang="en-US" sz="675" dirty="0">
                <a:solidFill>
                  <a:srgbClr val="1F4D3A"/>
                </a:solidFill>
                <a:latin typeface="Carlito" pitchFamily="34" charset="0"/>
                <a:ea typeface="Carlito" pitchFamily="34" charset="-122"/>
                <a:cs typeface="Carlito" pitchFamily="34" charset="-120"/>
              </a:rPr>
              <a:t>Marketing &amp; Brand Guidelines</a:t>
            </a:r>
            <a:endParaRPr lang="en-US" sz="675" dirty="0"/>
          </a:p>
        </p:txBody>
      </p:sp>
      <p:sp>
        <p:nvSpPr>
          <p:cNvPr id="60" name="Shape 58"/>
          <p:cNvSpPr/>
          <p:nvPr/>
        </p:nvSpPr>
        <p:spPr>
          <a:xfrm>
            <a:off x="6679406" y="3435697"/>
            <a:ext cx="1214438" cy="0"/>
          </a:xfrm>
          <a:prstGeom prst="line">
            <a:avLst/>
          </a:prstGeom>
          <a:noFill/>
          <a:ln w="7144">
            <a:solidFill>
              <a:srgbClr val="E2DCCB"/>
            </a:solidFill>
            <a:prstDash val="dash"/>
          </a:ln>
        </p:spPr>
      </p:sp>
      <p:sp>
        <p:nvSpPr>
          <p:cNvPr id="61" name="Text 59"/>
          <p:cNvSpPr/>
          <p:nvPr/>
        </p:nvSpPr>
        <p:spPr>
          <a:xfrm>
            <a:off x="6679406" y="3432125"/>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TWV-MKT-GDL-001</a:t>
            </a:r>
            <a:endParaRPr lang="en-US" sz="800" dirty="0"/>
          </a:p>
        </p:txBody>
      </p:sp>
      <p:sp>
        <p:nvSpPr>
          <p:cNvPr id="62" name="Text 60"/>
          <p:cNvSpPr/>
          <p:nvPr/>
        </p:nvSpPr>
        <p:spPr>
          <a:xfrm>
            <a:off x="517922" y="3744664"/>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63" name="Text 61"/>
          <p:cNvSpPr/>
          <p:nvPr/>
        </p:nvSpPr>
        <p:spPr>
          <a:xfrm>
            <a:off x="621506" y="3833961"/>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11</a:t>
            </a:r>
            <a:endParaRPr lang="en-US" sz="1463" dirty="0"/>
          </a:p>
        </p:txBody>
      </p:sp>
      <p:sp>
        <p:nvSpPr>
          <p:cNvPr id="64" name="Text 62"/>
          <p:cNvSpPr/>
          <p:nvPr/>
        </p:nvSpPr>
        <p:spPr>
          <a:xfrm>
            <a:off x="621506" y="4062561"/>
            <a:ext cx="1214438"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Operations &amp; Quality Control SOP</a:t>
            </a:r>
            <a:endParaRPr lang="en-US" sz="800" dirty="0"/>
          </a:p>
        </p:txBody>
      </p:sp>
      <p:sp>
        <p:nvSpPr>
          <p:cNvPr id="65" name="Shape 63"/>
          <p:cNvSpPr/>
          <p:nvPr/>
        </p:nvSpPr>
        <p:spPr>
          <a:xfrm>
            <a:off x="621506" y="4450110"/>
            <a:ext cx="1214438" cy="0"/>
          </a:xfrm>
          <a:prstGeom prst="line">
            <a:avLst/>
          </a:prstGeom>
          <a:noFill/>
          <a:ln w="7144">
            <a:solidFill>
              <a:srgbClr val="E2DCCB"/>
            </a:solidFill>
            <a:prstDash val="dash"/>
          </a:ln>
        </p:spPr>
      </p:sp>
      <p:sp>
        <p:nvSpPr>
          <p:cNvPr id="66" name="Text 64"/>
          <p:cNvSpPr/>
          <p:nvPr/>
        </p:nvSpPr>
        <p:spPr>
          <a:xfrm>
            <a:off x="621506" y="4446538"/>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TWV-OPS-SOP-002</a:t>
            </a:r>
            <a:endParaRPr lang="en-US" sz="800" dirty="0"/>
          </a:p>
        </p:txBody>
      </p:sp>
      <p:sp>
        <p:nvSpPr>
          <p:cNvPr id="67" name="Text 65"/>
          <p:cNvSpPr/>
          <p:nvPr/>
        </p:nvSpPr>
        <p:spPr>
          <a:xfrm>
            <a:off x="2032397" y="3744664"/>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68" name="Text 66"/>
          <p:cNvSpPr/>
          <p:nvPr/>
        </p:nvSpPr>
        <p:spPr>
          <a:xfrm>
            <a:off x="2135981" y="3833961"/>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12</a:t>
            </a:r>
            <a:endParaRPr lang="en-US" sz="1463" dirty="0"/>
          </a:p>
        </p:txBody>
      </p:sp>
      <p:sp>
        <p:nvSpPr>
          <p:cNvPr id="69" name="Text 67"/>
          <p:cNvSpPr/>
          <p:nvPr/>
        </p:nvSpPr>
        <p:spPr>
          <a:xfrm>
            <a:off x="2135981" y="4062561"/>
            <a:ext cx="1287304"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Organizational Chart &amp; Job Descriptions</a:t>
            </a:r>
            <a:endParaRPr lang="en-US" sz="800" dirty="0"/>
          </a:p>
        </p:txBody>
      </p:sp>
      <p:sp>
        <p:nvSpPr>
          <p:cNvPr id="70" name="Shape 68"/>
          <p:cNvSpPr/>
          <p:nvPr/>
        </p:nvSpPr>
        <p:spPr>
          <a:xfrm>
            <a:off x="2135981" y="4450110"/>
            <a:ext cx="1214438" cy="0"/>
          </a:xfrm>
          <a:prstGeom prst="line">
            <a:avLst/>
          </a:prstGeom>
          <a:noFill/>
          <a:ln w="7144">
            <a:solidFill>
              <a:srgbClr val="E2DCCB"/>
            </a:solidFill>
            <a:prstDash val="dash"/>
          </a:ln>
        </p:spPr>
      </p:sp>
      <p:sp>
        <p:nvSpPr>
          <p:cNvPr id="71" name="Text 69"/>
          <p:cNvSpPr/>
          <p:nvPr/>
        </p:nvSpPr>
        <p:spPr>
          <a:xfrm>
            <a:off x="2135981" y="4446538"/>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TWV-ORG-001</a:t>
            </a:r>
            <a:endParaRPr lang="en-US" sz="800" dirty="0"/>
          </a:p>
        </p:txBody>
      </p:sp>
      <p:sp>
        <p:nvSpPr>
          <p:cNvPr id="72" name="Text 70"/>
          <p:cNvSpPr/>
          <p:nvPr/>
        </p:nvSpPr>
        <p:spPr>
          <a:xfrm>
            <a:off x="3546872" y="3744664"/>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73" name="Text 71"/>
          <p:cNvSpPr/>
          <p:nvPr/>
        </p:nvSpPr>
        <p:spPr>
          <a:xfrm>
            <a:off x="3650456" y="3833961"/>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13</a:t>
            </a:r>
            <a:endParaRPr lang="en-US" sz="1463" dirty="0"/>
          </a:p>
        </p:txBody>
      </p:sp>
      <p:sp>
        <p:nvSpPr>
          <p:cNvPr id="74" name="Text 72"/>
          <p:cNvSpPr/>
          <p:nvPr/>
        </p:nvSpPr>
        <p:spPr>
          <a:xfrm>
            <a:off x="3650456" y="4062561"/>
            <a:ext cx="1287304"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Business Continuity &amp; Incident Response Plan</a:t>
            </a:r>
            <a:endParaRPr lang="en-US" sz="800" dirty="0"/>
          </a:p>
        </p:txBody>
      </p:sp>
      <p:sp>
        <p:nvSpPr>
          <p:cNvPr id="75" name="Shape 73"/>
          <p:cNvSpPr/>
          <p:nvPr/>
        </p:nvSpPr>
        <p:spPr>
          <a:xfrm>
            <a:off x="3650456" y="4450110"/>
            <a:ext cx="1214438" cy="0"/>
          </a:xfrm>
          <a:prstGeom prst="line">
            <a:avLst/>
          </a:prstGeom>
          <a:noFill/>
          <a:ln w="7144">
            <a:solidFill>
              <a:srgbClr val="E2DCCB"/>
            </a:solidFill>
            <a:prstDash val="dash"/>
          </a:ln>
        </p:spPr>
      </p:sp>
      <p:sp>
        <p:nvSpPr>
          <p:cNvPr id="76" name="Text 74"/>
          <p:cNvSpPr/>
          <p:nvPr/>
        </p:nvSpPr>
        <p:spPr>
          <a:xfrm>
            <a:off x="3650456" y="4446538"/>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TWV-BCP-001</a:t>
            </a:r>
            <a:endParaRPr lang="en-US" sz="800" dirty="0"/>
          </a:p>
        </p:txBody>
      </p:sp>
      <p:sp>
        <p:nvSpPr>
          <p:cNvPr id="77" name="Text 75"/>
          <p:cNvSpPr/>
          <p:nvPr/>
        </p:nvSpPr>
        <p:spPr>
          <a:xfrm>
            <a:off x="5061347" y="3744664"/>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78" name="Text 76"/>
          <p:cNvSpPr/>
          <p:nvPr/>
        </p:nvSpPr>
        <p:spPr>
          <a:xfrm>
            <a:off x="5164931" y="3833961"/>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B57820"/>
                </a:solidFill>
                <a:latin typeface="Liberation Sans Narrow" pitchFamily="34" charset="0"/>
                <a:ea typeface="Liberation Sans Narrow" pitchFamily="34" charset="-122"/>
                <a:cs typeface="Liberation Sans Narrow" pitchFamily="34" charset="-120"/>
              </a:rPr>
              <a:t>14</a:t>
            </a:r>
            <a:endParaRPr lang="en-US" sz="1463" dirty="0"/>
          </a:p>
        </p:txBody>
      </p:sp>
      <p:sp>
        <p:nvSpPr>
          <p:cNvPr id="79" name="Text 77"/>
          <p:cNvSpPr/>
          <p:nvPr/>
        </p:nvSpPr>
        <p:spPr>
          <a:xfrm>
            <a:off x="5164931" y="4062561"/>
            <a:ext cx="1287304" cy="140446"/>
          </a:xfrm>
          <a:prstGeom prst="rect">
            <a:avLst/>
          </a:prstGeom>
          <a:noFill/>
          <a:ln/>
        </p:spPr>
        <p:txBody>
          <a:bodyPr wrap="square" lIns="0" tIns="0" rIns="0" bIns="0" rtlCol="0" anchor="t"/>
          <a:lstStyle/>
          <a:p>
            <a:pPr algn="l" indent="0" marL="0">
              <a:lnSpc>
                <a:spcPts val="864"/>
              </a:lnSpc>
              <a:buNone/>
            </a:pPr>
            <a:r>
              <a:rPr lang="en-US" sz="675" dirty="0">
                <a:solidFill>
                  <a:srgbClr val="1F4D3A"/>
                </a:solidFill>
                <a:latin typeface="Carlito" pitchFamily="34" charset="0"/>
                <a:ea typeface="Carlito" pitchFamily="34" charset="-122"/>
                <a:cs typeface="Carlito" pitchFamily="34" charset="-120"/>
              </a:rPr>
              <a:t>Forms, Registers &amp; Templates</a:t>
            </a:r>
            <a:endParaRPr lang="en-US" sz="675" dirty="0"/>
          </a:p>
        </p:txBody>
      </p:sp>
      <p:sp>
        <p:nvSpPr>
          <p:cNvPr id="80" name="Shape 78"/>
          <p:cNvSpPr/>
          <p:nvPr/>
        </p:nvSpPr>
        <p:spPr>
          <a:xfrm>
            <a:off x="5164931" y="4450110"/>
            <a:ext cx="1214438" cy="0"/>
          </a:xfrm>
          <a:prstGeom prst="line">
            <a:avLst/>
          </a:prstGeom>
          <a:noFill/>
          <a:ln w="7144">
            <a:solidFill>
              <a:srgbClr val="E2DCCB"/>
            </a:solidFill>
            <a:prstDash val="dash"/>
          </a:ln>
        </p:spPr>
      </p:sp>
      <p:sp>
        <p:nvSpPr>
          <p:cNvPr id="81" name="Text 79"/>
          <p:cNvSpPr/>
          <p:nvPr/>
        </p:nvSpPr>
        <p:spPr>
          <a:xfrm>
            <a:off x="5164931" y="4446538"/>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TWV-FRM-001</a:t>
            </a:r>
            <a:endParaRPr lang="en-US" sz="800" dirty="0"/>
          </a:p>
        </p:txBody>
      </p:sp>
      <p:sp>
        <p:nvSpPr>
          <p:cNvPr id="82" name="Text 80"/>
          <p:cNvSpPr/>
          <p:nvPr/>
        </p:nvSpPr>
        <p:spPr>
          <a:xfrm>
            <a:off x="6575822" y="3744664"/>
            <a:ext cx="1421606" cy="921544"/>
          </a:xfrm>
          <a:prstGeom prst="roundRect">
            <a:avLst>
              <a:gd name="adj" fmla="val 10336"/>
            </a:avLst>
          </a:prstGeom>
          <a:solidFill>
            <a:srgbClr val="FFFFFF"/>
          </a:solidFill>
          <a:ln w="7144">
            <a:solidFill>
              <a:srgbClr val="E2DCCB"/>
            </a:solidFill>
            <a:prstDash val="solid"/>
          </a:ln>
        </p:spPr>
        <p:txBody>
          <a:bodyPr wrap="square" rtlCol="0" anchor="ctr"/>
          <a:lstStyle/>
          <a:p>
            <a:pPr indent="0" marL="0">
              <a:buNone/>
            </a:pPr>
            <a:endParaRPr lang="en-US" dirty="0"/>
          </a:p>
        </p:txBody>
      </p:sp>
      <p:sp>
        <p:nvSpPr>
          <p:cNvPr id="83" name="Text 81"/>
          <p:cNvSpPr/>
          <p:nvPr/>
        </p:nvSpPr>
        <p:spPr>
          <a:xfrm>
            <a:off x="6679406" y="3833961"/>
            <a:ext cx="1214438"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2F6B53"/>
                </a:solidFill>
                <a:latin typeface="Liberation Sans Narrow" pitchFamily="34" charset="0"/>
                <a:ea typeface="Liberation Sans Narrow" pitchFamily="34" charset="-122"/>
                <a:cs typeface="Liberation Sans Narrow" pitchFamily="34" charset="-120"/>
              </a:rPr>
              <a:t>15</a:t>
            </a:r>
            <a:endParaRPr lang="en-US" sz="1463" dirty="0"/>
          </a:p>
        </p:txBody>
      </p:sp>
      <p:sp>
        <p:nvSpPr>
          <p:cNvPr id="84" name="Text 82"/>
          <p:cNvSpPr/>
          <p:nvPr/>
        </p:nvSpPr>
        <p:spPr>
          <a:xfrm>
            <a:off x="6679406" y="4062561"/>
            <a:ext cx="1287304" cy="280892"/>
          </a:xfrm>
          <a:prstGeom prst="rect">
            <a:avLst/>
          </a:prstGeom>
          <a:noFill/>
          <a:ln/>
        </p:spPr>
        <p:txBody>
          <a:bodyPr wrap="square" lIns="0" tIns="0" rIns="0" bIns="0" rtlCol="0" anchor="t"/>
          <a:lstStyle/>
          <a:p>
            <a:pPr algn="l" indent="0" marL="0">
              <a:lnSpc>
                <a:spcPts val="864"/>
              </a:lnSpc>
              <a:buNone/>
            </a:pPr>
            <a:r>
              <a:rPr lang="en-US" sz="800" dirty="0">
                <a:solidFill>
                  <a:srgbClr val="1F4D3A"/>
                </a:solidFill>
                <a:latin typeface="Carlito" pitchFamily="34" charset="0"/>
                <a:ea typeface="Carlito" pitchFamily="34" charset="-122"/>
                <a:cs typeface="Carlito" pitchFamily="34" charset="-120"/>
              </a:rPr>
              <a:t>Master Policy &amp; Document Control Register</a:t>
            </a:r>
            <a:endParaRPr lang="en-US" sz="800" dirty="0"/>
          </a:p>
        </p:txBody>
      </p:sp>
      <p:sp>
        <p:nvSpPr>
          <p:cNvPr id="85" name="Shape 83"/>
          <p:cNvSpPr/>
          <p:nvPr/>
        </p:nvSpPr>
        <p:spPr>
          <a:xfrm>
            <a:off x="6679406" y="4450110"/>
            <a:ext cx="1214438" cy="0"/>
          </a:xfrm>
          <a:prstGeom prst="line">
            <a:avLst/>
          </a:prstGeom>
          <a:noFill/>
          <a:ln w="7144">
            <a:solidFill>
              <a:srgbClr val="E2DCCB"/>
            </a:solidFill>
            <a:prstDash val="dash"/>
          </a:ln>
        </p:spPr>
      </p:sp>
      <p:sp>
        <p:nvSpPr>
          <p:cNvPr id="86" name="Text 84"/>
          <p:cNvSpPr/>
          <p:nvPr/>
        </p:nvSpPr>
        <p:spPr>
          <a:xfrm>
            <a:off x="6679406" y="4446538"/>
            <a:ext cx="1214438" cy="137517"/>
          </a:xfrm>
          <a:prstGeom prst="rect">
            <a:avLst/>
          </a:prstGeom>
          <a:noFill/>
          <a:ln/>
        </p:spPr>
        <p:txBody>
          <a:bodyPr wrap="none" lIns="0" tIns="28575" rIns="0" bIns="0" rtlCol="0" anchor="t"/>
          <a:lstStyle/>
          <a:p>
            <a:pPr algn="l" indent="0" marL="0">
              <a:lnSpc>
                <a:spcPts val="802"/>
              </a:lnSpc>
              <a:buNone/>
            </a:pPr>
            <a:r>
              <a:rPr lang="en-US" sz="800" spc="11" kern="0" dirty="0">
                <a:solidFill>
                  <a:srgbClr val="7A7A7A"/>
                </a:solidFill>
                <a:latin typeface="Liberation Sans Narrow" pitchFamily="34" charset="0"/>
                <a:ea typeface="Liberation Sans Narrow" pitchFamily="34" charset="-122"/>
                <a:cs typeface="Liberation Sans Narrow" pitchFamily="34" charset="-120"/>
              </a:rPr>
              <a:t>TWV-DOC-REG-001</a:t>
            </a:r>
            <a:endParaRPr lang="en-US" sz="800" dirty="0"/>
          </a:p>
        </p:txBody>
      </p:sp>
      <p:sp>
        <p:nvSpPr>
          <p:cNvPr id="87" name="Shape 85"/>
          <p:cNvSpPr/>
          <p:nvPr/>
        </p:nvSpPr>
        <p:spPr>
          <a:xfrm>
            <a:off x="514350" y="4764881"/>
            <a:ext cx="8115300" cy="0"/>
          </a:xfrm>
          <a:prstGeom prst="line">
            <a:avLst/>
          </a:prstGeom>
          <a:noFill/>
          <a:ln w="7144">
            <a:solidFill>
              <a:srgbClr val="E2DCCB"/>
            </a:solidFill>
            <a:prstDash val="solid"/>
          </a:ln>
        </p:spPr>
      </p:sp>
      <p:sp>
        <p:nvSpPr>
          <p:cNvPr id="88" name="Text 86"/>
          <p:cNvSpPr/>
          <p:nvPr/>
        </p:nvSpPr>
        <p:spPr>
          <a:xfrm>
            <a:off x="514350" y="4854178"/>
            <a:ext cx="7464437"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89" name="Text 87"/>
          <p:cNvSpPr/>
          <p:nvPr/>
        </p:nvSpPr>
        <p:spPr>
          <a:xfrm>
            <a:off x="7993075" y="4854178"/>
            <a:ext cx="636575" cy="117872"/>
          </a:xfrm>
          <a:prstGeom prst="rect">
            <a:avLst/>
          </a:prstGeom>
          <a:noFill/>
          <a:ln/>
        </p:spPr>
        <p:txBody>
          <a:bodyPr wrap="non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TWV-DOC-REG-001</a:t>
            </a:r>
            <a:endParaRPr lang="en-US" sz="61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75999" y="433983"/>
            <a:ext cx="579222" cy="151805"/>
          </a:xfrm>
          <a:prstGeom prst="rect">
            <a:avLst/>
          </a:prstGeom>
          <a:noFill/>
          <a:ln/>
        </p:spPr>
        <p:txBody>
          <a:bodyPr wrap="none" lIns="0" tIns="0" rIns="0" bIns="0" rtlCol="0" anchor="t"/>
          <a:lstStyle/>
          <a:p>
            <a:pPr algn="l" indent="0" marL="0">
              <a:lnSpc>
                <a:spcPts val="928"/>
              </a:lnSpc>
              <a:buNone/>
            </a:pPr>
            <a:r>
              <a:rPr lang="en-US" sz="619" spc="37" kern="0" dirty="0">
                <a:solidFill>
                  <a:srgbClr val="7A7A7A"/>
                </a:solidFill>
                <a:latin typeface="Liberation Sans Narrow" pitchFamily="34" charset="0"/>
                <a:ea typeface="Liberation Sans Narrow" pitchFamily="34" charset="-122"/>
                <a:cs typeface="Liberation Sans Narrow" pitchFamily="34" charset="-120"/>
              </a:rPr>
              <a:t>Page 03 / 15</a:t>
            </a:r>
            <a:endParaRPr lang="en-US" sz="619" dirty="0"/>
          </a:p>
        </p:txBody>
      </p:sp>
      <p:sp>
        <p:nvSpPr>
          <p:cNvPr id="9" name="Text 7"/>
          <p:cNvSpPr/>
          <p:nvPr/>
        </p:nvSpPr>
        <p:spPr>
          <a:xfrm>
            <a:off x="514350" y="964406"/>
            <a:ext cx="6631849"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Carlito" pitchFamily="34" charset="0"/>
                <a:ea typeface="Carlito" pitchFamily="34" charset="-122"/>
                <a:cs typeface="Carlito" pitchFamily="34" charset="-120"/>
              </a:rPr>
              <a:t>ABOUT TOWATIVE</a:t>
            </a:r>
            <a:endParaRPr lang="en-US" sz="800" dirty="0"/>
          </a:p>
        </p:txBody>
      </p:sp>
      <p:sp>
        <p:nvSpPr>
          <p:cNvPr id="10" name="Text 8"/>
          <p:cNvSpPr/>
          <p:nvPr/>
        </p:nvSpPr>
        <p:spPr>
          <a:xfrm>
            <a:off x="514350" y="1125141"/>
            <a:ext cx="5563553" cy="622042"/>
          </a:xfrm>
          <a:prstGeom prst="rect">
            <a:avLst/>
          </a:prstGeom>
          <a:noFill/>
          <a:ln/>
        </p:spPr>
        <p:txBody>
          <a:bodyPr wrap="none" lIns="0" tIns="0" rIns="0" bIns="0" rtlCol="0" anchor="t"/>
          <a:lstStyle/>
          <a:p>
            <a:pPr algn="l" indent="0" marL="0">
              <a:lnSpc>
                <a:spcPts val="2268"/>
              </a:lnSpc>
              <a:buNone/>
            </a:pPr>
            <a:r>
              <a:rPr lang="en-US" sz="2025" b="1" spc="-10" kern="0" dirty="0">
                <a:solidFill>
                  <a:srgbClr val="1F4D3A"/>
                </a:solidFill>
                <a:latin typeface="Tinos" pitchFamily="34" charset="0"/>
                <a:ea typeface="Tinos" pitchFamily="34" charset="-122"/>
                <a:cs typeface="Tinos" pitchFamily="34" charset="-120"/>
              </a:rPr>
              <a:t>A nutrition-first company</a:t>
            </a:r>
            <a:endParaRPr lang="en-US" sz="2025" dirty="0"/>
          </a:p>
          <a:p>
            <a:pPr algn="l" indent="0" marL="0">
              <a:lnSpc>
                <a:spcPts val="2268"/>
              </a:lnSpc>
              <a:buNone/>
            </a:pPr>
            <a:r>
              <a:rPr lang="en-US" sz="2025" b="1" spc="-10" kern="0" dirty="0">
                <a:solidFill>
                  <a:srgbClr val="1F4D3A"/>
                </a:solidFill>
                <a:latin typeface="Tinos" pitchFamily="34" charset="0"/>
                <a:ea typeface="Tinos" pitchFamily="34" charset="-122"/>
                <a:cs typeface="Tinos" pitchFamily="34" charset="-120"/>
              </a:rPr>
              <a:t>built to scale</a:t>
            </a:r>
            <a:endParaRPr lang="en-US" sz="2025" dirty="0"/>
          </a:p>
        </p:txBody>
      </p:sp>
      <p:sp>
        <p:nvSpPr>
          <p:cNvPr id="11" name="Text 9"/>
          <p:cNvSpPr/>
          <p:nvPr/>
        </p:nvSpPr>
        <p:spPr>
          <a:xfrm>
            <a:off x="514350" y="1801118"/>
            <a:ext cx="4000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2" name="Text 10"/>
          <p:cNvSpPr/>
          <p:nvPr/>
        </p:nvSpPr>
        <p:spPr>
          <a:xfrm>
            <a:off x="514350" y="2004715"/>
            <a:ext cx="5057775" cy="922816"/>
          </a:xfrm>
          <a:prstGeom prst="rect">
            <a:avLst/>
          </a:prstGeom>
          <a:noFill/>
          <a:ln/>
        </p:spPr>
        <p:txBody>
          <a:bodyPr wrap="square" lIns="0" tIns="0" rIns="0" bIns="0" rtlCol="0" anchor="t"/>
          <a:lstStyle/>
          <a:p>
            <a:pPr algn="l" indent="0" marL="0">
              <a:lnSpc>
                <a:spcPts val="1346"/>
              </a:lnSpc>
              <a:buNone/>
            </a:pPr>
            <a:r>
              <a:rPr lang="en-US" sz="816" dirty="0">
                <a:solidFill>
                  <a:srgbClr val="1A1A1A"/>
                </a:solidFill>
                <a:latin typeface="Carlito" pitchFamily="34" charset="0"/>
                <a:ea typeface="Carlito" pitchFamily="34" charset="-122"/>
                <a:cs typeface="Carlito" pitchFamily="34" charset="-120"/>
              </a:rPr>
              <a:t>Towative is a Pakistan-based nutrition and food company founded by Hareem Fatima. The brand promise — </a:t>
            </a:r>
            <a:pPr algn="l" indent="0" marL="0">
              <a:lnSpc>
                <a:spcPts val="1346"/>
              </a:lnSpc>
              <a:buNone/>
            </a:pPr>
            <a:r>
              <a:rPr lang="en-US" sz="816" dirty="0">
                <a:solidFill>
                  <a:srgbClr val="1F4D3A"/>
                </a:solidFill>
                <a:latin typeface="Carlito" pitchFamily="34" charset="0"/>
                <a:ea typeface="Carlito" pitchFamily="34" charset="-122"/>
                <a:cs typeface="Carlito" pitchFamily="34" charset="-120"/>
              </a:rPr>
              <a:t>Nourish Boldly. Enjoy Fully.</a:t>
            </a:r>
            <a:pPr algn="l" indent="0" marL="0">
              <a:lnSpc>
                <a:spcPts val="1346"/>
              </a:lnSpc>
              <a:buNone/>
            </a:pPr>
            <a:r>
              <a:rPr lang="en-US" sz="816" dirty="0">
                <a:solidFill>
                  <a:srgbClr val="1A1A1A"/>
                </a:solidFill>
                <a:latin typeface="Carlito" pitchFamily="34" charset="0"/>
                <a:ea typeface="Carlito" pitchFamily="34" charset="-122"/>
                <a:cs typeface="Carlito" pitchFamily="34" charset="-120"/>
              </a:rPr>
              <a:t> — anchors a portfolio that spans consumer products, professional consultations, pharmacy distribution, cafe experiences, and corporate wellness packages. This Monthly Assessment 1 package establishes the governance backbone for a controlled launch and a credible path toward a 500-person organization within five years.</a:t>
            </a:r>
            <a:endParaRPr lang="en-US" sz="816" dirty="0"/>
          </a:p>
        </p:txBody>
      </p:sp>
      <p:sp>
        <p:nvSpPr>
          <p:cNvPr id="13" name="Text 11"/>
          <p:cNvSpPr/>
          <p:nvPr/>
        </p:nvSpPr>
        <p:spPr>
          <a:xfrm>
            <a:off x="514350" y="2959187"/>
            <a:ext cx="5057775" cy="526615"/>
          </a:xfrm>
          <a:prstGeom prst="rect">
            <a:avLst/>
          </a:prstGeom>
          <a:noFill/>
          <a:ln/>
        </p:spPr>
        <p:txBody>
          <a:bodyPr wrap="square" lIns="0" tIns="0" rIns="0" bIns="0" rtlCol="0" anchor="t"/>
          <a:lstStyle/>
          <a:p>
            <a:pPr algn="l" indent="0" marL="0">
              <a:lnSpc>
                <a:spcPts val="1170"/>
              </a:lnSpc>
              <a:buNone/>
            </a:pPr>
            <a:r>
              <a:rPr lang="en-US" sz="800" dirty="0">
                <a:solidFill>
                  <a:srgbClr val="4A4A4A"/>
                </a:solidFill>
                <a:latin typeface="Carlito" pitchFamily="34" charset="0"/>
                <a:ea typeface="Carlito" pitchFamily="34" charset="-122"/>
                <a:cs typeface="Carlito" pitchFamily="34" charset="-120"/>
              </a:rPr>
              <a:t>Every deliverable is written in plain language, owned by a named role, and structured for review every six months in year one. The package is internally classified, v1.0, effective 01 November 2026, with the next scheduled review on 01 May 2027.</a:t>
            </a:r>
            <a:endParaRPr lang="en-US" sz="800" dirty="0"/>
          </a:p>
        </p:txBody>
      </p:sp>
      <p:sp>
        <p:nvSpPr>
          <p:cNvPr id="14" name="Text 12"/>
          <p:cNvSpPr/>
          <p:nvPr/>
        </p:nvSpPr>
        <p:spPr>
          <a:xfrm>
            <a:off x="6072188" y="971550"/>
            <a:ext cx="804523" cy="106513"/>
          </a:xfrm>
          <a:prstGeom prst="rect">
            <a:avLst/>
          </a:prstGeom>
          <a:noFill/>
          <a:ln/>
        </p:spPr>
        <p:txBody>
          <a:bodyPr wrap="none" lIns="0" tIns="0" rIns="0" bIns="0" rtlCol="0" anchor="t">
            <a:normAutofit/>
          </a:bodyPr>
          <a:lstStyle/>
          <a:p>
            <a:pPr algn="l" indent="0" marL="0">
              <a:lnSpc>
                <a:spcPts val="886"/>
              </a:lnSpc>
              <a:buNone/>
            </a:pPr>
            <a:r>
              <a:rPr lang="en-US" sz="800" spc="106" kern="0" dirty="0">
                <a:solidFill>
                  <a:srgbClr val="B57820"/>
                </a:solidFill>
                <a:latin typeface="Carlito" pitchFamily="34" charset="0"/>
                <a:ea typeface="Carlito" pitchFamily="34" charset="-122"/>
                <a:cs typeface="Carlito" pitchFamily="34" charset="-120"/>
              </a:rPr>
              <a:t>AT A GLANCE</a:t>
            </a:r>
            <a:endParaRPr lang="en-US" sz="800" dirty="0"/>
          </a:p>
        </p:txBody>
      </p:sp>
      <p:sp>
        <p:nvSpPr>
          <p:cNvPr id="15" name="Text 13"/>
          <p:cNvSpPr/>
          <p:nvPr/>
        </p:nvSpPr>
        <p:spPr>
          <a:xfrm>
            <a:off x="5915025" y="970657"/>
            <a:ext cx="100013" cy="100013"/>
          </a:xfrm>
          <a:prstGeom prst="rect">
            <a:avLst/>
          </a:prstGeom>
          <a:noFill/>
          <a:ln/>
        </p:spPr>
        <p:txBody>
          <a:bodyPr wrap="none" lIns="0" tIns="0" rIns="0" bIns="0" rtlCol="0" anchor="ctr"/>
          <a:lstStyle/>
          <a:p>
            <a:pPr algn="ctr" indent="0" marL="0">
              <a:buNone/>
            </a:pPr>
            <a:r>
              <a:rPr lang="en-US" sz="984" dirty="0">
                <a:solidFill>
                  <a:srgbClr val="E8A33D"/>
                </a:solidFill>
                <a:latin typeface="Segoe UI Symbol" pitchFamily="34" charset="0"/>
                <a:ea typeface="Segoe UI Symbol" pitchFamily="34" charset="-122"/>
                <a:cs typeface="Segoe UI Symbol" pitchFamily="34" charset="-120"/>
              </a:rPr>
              <a:t>◆</a:t>
            </a:r>
            <a:endParaRPr lang="en-US" sz="984" dirty="0"/>
          </a:p>
        </p:txBody>
      </p:sp>
      <p:sp>
        <p:nvSpPr>
          <p:cNvPr id="16" name="Text 14"/>
          <p:cNvSpPr/>
          <p:nvPr/>
        </p:nvSpPr>
        <p:spPr>
          <a:xfrm>
            <a:off x="5915025" y="1105495"/>
            <a:ext cx="2714625" cy="612577"/>
          </a:xfrm>
          <a:prstGeom prst="roundRect">
            <a:avLst>
              <a:gd name="adj" fmla="val 15549"/>
            </a:avLst>
          </a:prstGeom>
          <a:solidFill>
            <a:srgbClr val="F3EEE2"/>
          </a:solidFill>
          <a:ln/>
        </p:spPr>
        <p:txBody>
          <a:bodyPr wrap="square" rtlCol="0" anchor="ctr"/>
          <a:lstStyle/>
          <a:p>
            <a:pPr indent="0" marL="0">
              <a:buNone/>
            </a:pPr>
            <a:endParaRPr lang="en-US" dirty="0"/>
          </a:p>
        </p:txBody>
      </p:sp>
      <p:sp>
        <p:nvSpPr>
          <p:cNvPr id="17" name="Shape 15"/>
          <p:cNvSpPr/>
          <p:nvPr/>
        </p:nvSpPr>
        <p:spPr>
          <a:xfrm>
            <a:off x="5915025" y="1109067"/>
            <a:ext cx="2714625" cy="0"/>
          </a:xfrm>
          <a:prstGeom prst="line">
            <a:avLst/>
          </a:prstGeom>
          <a:noFill/>
          <a:ln w="7144">
            <a:solidFill>
              <a:srgbClr val="E2DCCB"/>
            </a:solidFill>
            <a:prstDash val="solid"/>
          </a:ln>
        </p:spPr>
      </p:sp>
      <p:sp>
        <p:nvSpPr>
          <p:cNvPr id="18" name="Shape 16"/>
          <p:cNvSpPr/>
          <p:nvPr/>
        </p:nvSpPr>
        <p:spPr>
          <a:xfrm>
            <a:off x="8626078" y="1105495"/>
            <a:ext cx="0" cy="612577"/>
          </a:xfrm>
          <a:prstGeom prst="line">
            <a:avLst/>
          </a:prstGeom>
          <a:noFill/>
          <a:ln w="7144">
            <a:solidFill>
              <a:srgbClr val="E2DCCB"/>
            </a:solidFill>
            <a:prstDash val="solid"/>
          </a:ln>
        </p:spPr>
      </p:sp>
      <p:sp>
        <p:nvSpPr>
          <p:cNvPr id="19" name="Shape 17"/>
          <p:cNvSpPr/>
          <p:nvPr/>
        </p:nvSpPr>
        <p:spPr>
          <a:xfrm>
            <a:off x="5915025" y="1714500"/>
            <a:ext cx="2714625" cy="0"/>
          </a:xfrm>
          <a:prstGeom prst="line">
            <a:avLst/>
          </a:prstGeom>
          <a:noFill/>
          <a:ln w="7144">
            <a:solidFill>
              <a:srgbClr val="E2DCCB"/>
            </a:solidFill>
            <a:prstDash val="solid"/>
          </a:ln>
        </p:spPr>
      </p:sp>
      <p:sp>
        <p:nvSpPr>
          <p:cNvPr id="20" name="Shape 18"/>
          <p:cNvSpPr/>
          <p:nvPr/>
        </p:nvSpPr>
        <p:spPr>
          <a:xfrm>
            <a:off x="5929313" y="1105495"/>
            <a:ext cx="0" cy="612577"/>
          </a:xfrm>
          <a:prstGeom prst="line">
            <a:avLst/>
          </a:prstGeom>
          <a:noFill/>
          <a:ln w="28575">
            <a:solidFill>
              <a:srgbClr val="E8A33D"/>
            </a:solidFill>
            <a:prstDash val="solid"/>
          </a:ln>
        </p:spPr>
      </p:sp>
      <p:sp>
        <p:nvSpPr>
          <p:cNvPr id="21" name="Text 19"/>
          <p:cNvSpPr/>
          <p:nvPr/>
        </p:nvSpPr>
        <p:spPr>
          <a:xfrm>
            <a:off x="6072188" y="1212652"/>
            <a:ext cx="2421731" cy="258318"/>
          </a:xfrm>
          <a:prstGeom prst="rect">
            <a:avLst/>
          </a:prstGeom>
          <a:noFill/>
          <a:ln/>
        </p:spPr>
        <p:txBody>
          <a:bodyPr wrap="none" lIns="0" tIns="0" rIns="0" bIns="0" rtlCol="0" anchor="t">
            <a:normAutofit/>
          </a:bodyPr>
          <a:lstStyle/>
          <a:p>
            <a:pPr algn="l" indent="0" marL="0">
              <a:lnSpc>
                <a:spcPts val="1913"/>
              </a:lnSpc>
              <a:buNone/>
            </a:pPr>
            <a:r>
              <a:rPr lang="en-US" sz="1913" b="1" spc="-19" kern="0" dirty="0">
                <a:solidFill>
                  <a:srgbClr val="1F4D3A"/>
                </a:solidFill>
                <a:latin typeface="Liberation Sans Narrow" pitchFamily="34" charset="0"/>
                <a:ea typeface="Liberation Sans Narrow" pitchFamily="34" charset="-122"/>
                <a:cs typeface="Liberation Sans Narrow" pitchFamily="34" charset="-120"/>
              </a:rPr>
              <a:t>14</a:t>
            </a:r>
            <a:endParaRPr lang="en-US" sz="1913" dirty="0"/>
          </a:p>
        </p:txBody>
      </p:sp>
      <p:sp>
        <p:nvSpPr>
          <p:cNvPr id="22" name="Text 20"/>
          <p:cNvSpPr/>
          <p:nvPr/>
        </p:nvSpPr>
        <p:spPr>
          <a:xfrm>
            <a:off x="6072188" y="1498402"/>
            <a:ext cx="2421731" cy="112514"/>
          </a:xfrm>
          <a:prstGeom prst="rect">
            <a:avLst/>
          </a:prstGeom>
          <a:noFill/>
          <a:ln/>
        </p:spPr>
        <p:txBody>
          <a:bodyPr wrap="none" lIns="0" tIns="0" rIns="0" bIns="0" rtlCol="0" anchor="t"/>
          <a:lstStyle/>
          <a:p>
            <a:pPr algn="l" indent="0" marL="0">
              <a:lnSpc>
                <a:spcPts val="886"/>
              </a:lnSpc>
              <a:buNone/>
            </a:pPr>
            <a:r>
              <a:rPr lang="en-US" sz="800" spc="83" kern="0" dirty="0">
                <a:solidFill>
                  <a:srgbClr val="7A7A7A"/>
                </a:solidFill>
                <a:latin typeface="Carlito" pitchFamily="34" charset="0"/>
                <a:ea typeface="Carlito" pitchFamily="34" charset="-122"/>
                <a:cs typeface="Carlito" pitchFamily="34" charset="-120"/>
              </a:rPr>
              <a:t>POLICIES &amp; SOPS</a:t>
            </a:r>
            <a:endParaRPr lang="en-US" sz="800" dirty="0"/>
          </a:p>
        </p:txBody>
      </p:sp>
      <p:sp>
        <p:nvSpPr>
          <p:cNvPr id="23" name="Text 21"/>
          <p:cNvSpPr/>
          <p:nvPr/>
        </p:nvSpPr>
        <p:spPr>
          <a:xfrm>
            <a:off x="5915025" y="1803797"/>
            <a:ext cx="2714625" cy="612577"/>
          </a:xfrm>
          <a:prstGeom prst="roundRect">
            <a:avLst>
              <a:gd name="adj" fmla="val 15549"/>
            </a:avLst>
          </a:prstGeom>
          <a:solidFill>
            <a:srgbClr val="F3EEE2"/>
          </a:solidFill>
          <a:ln/>
        </p:spPr>
        <p:txBody>
          <a:bodyPr wrap="square" rtlCol="0" anchor="ctr"/>
          <a:lstStyle/>
          <a:p>
            <a:pPr indent="0" marL="0">
              <a:buNone/>
            </a:pPr>
            <a:endParaRPr lang="en-US" dirty="0"/>
          </a:p>
        </p:txBody>
      </p:sp>
      <p:sp>
        <p:nvSpPr>
          <p:cNvPr id="24" name="Shape 22"/>
          <p:cNvSpPr/>
          <p:nvPr/>
        </p:nvSpPr>
        <p:spPr>
          <a:xfrm>
            <a:off x="5915025" y="1807369"/>
            <a:ext cx="2714625" cy="0"/>
          </a:xfrm>
          <a:prstGeom prst="line">
            <a:avLst/>
          </a:prstGeom>
          <a:noFill/>
          <a:ln w="7144">
            <a:solidFill>
              <a:srgbClr val="E2DCCB"/>
            </a:solidFill>
            <a:prstDash val="solid"/>
          </a:ln>
        </p:spPr>
      </p:sp>
      <p:sp>
        <p:nvSpPr>
          <p:cNvPr id="25" name="Shape 23"/>
          <p:cNvSpPr/>
          <p:nvPr/>
        </p:nvSpPr>
        <p:spPr>
          <a:xfrm>
            <a:off x="8626078" y="1803797"/>
            <a:ext cx="0" cy="612577"/>
          </a:xfrm>
          <a:prstGeom prst="line">
            <a:avLst/>
          </a:prstGeom>
          <a:noFill/>
          <a:ln w="7144">
            <a:solidFill>
              <a:srgbClr val="E2DCCB"/>
            </a:solidFill>
            <a:prstDash val="solid"/>
          </a:ln>
        </p:spPr>
      </p:sp>
      <p:sp>
        <p:nvSpPr>
          <p:cNvPr id="26" name="Shape 24"/>
          <p:cNvSpPr/>
          <p:nvPr/>
        </p:nvSpPr>
        <p:spPr>
          <a:xfrm>
            <a:off x="5915025" y="2412802"/>
            <a:ext cx="2714625" cy="0"/>
          </a:xfrm>
          <a:prstGeom prst="line">
            <a:avLst/>
          </a:prstGeom>
          <a:noFill/>
          <a:ln w="7144">
            <a:solidFill>
              <a:srgbClr val="E2DCCB"/>
            </a:solidFill>
            <a:prstDash val="solid"/>
          </a:ln>
        </p:spPr>
      </p:sp>
      <p:sp>
        <p:nvSpPr>
          <p:cNvPr id="27" name="Shape 25"/>
          <p:cNvSpPr/>
          <p:nvPr/>
        </p:nvSpPr>
        <p:spPr>
          <a:xfrm>
            <a:off x="5929313" y="1803797"/>
            <a:ext cx="0" cy="612577"/>
          </a:xfrm>
          <a:prstGeom prst="line">
            <a:avLst/>
          </a:prstGeom>
          <a:noFill/>
          <a:ln w="28575">
            <a:solidFill>
              <a:srgbClr val="E8A33D"/>
            </a:solidFill>
            <a:prstDash val="solid"/>
          </a:ln>
        </p:spPr>
      </p:sp>
      <p:sp>
        <p:nvSpPr>
          <p:cNvPr id="28" name="Text 26"/>
          <p:cNvSpPr/>
          <p:nvPr/>
        </p:nvSpPr>
        <p:spPr>
          <a:xfrm>
            <a:off x="6072188" y="1910953"/>
            <a:ext cx="2421731" cy="258318"/>
          </a:xfrm>
          <a:prstGeom prst="rect">
            <a:avLst/>
          </a:prstGeom>
          <a:noFill/>
          <a:ln/>
        </p:spPr>
        <p:txBody>
          <a:bodyPr wrap="none" lIns="0" tIns="0" rIns="0" bIns="0" rtlCol="0" anchor="t">
            <a:normAutofit/>
          </a:bodyPr>
          <a:lstStyle/>
          <a:p>
            <a:pPr algn="l" indent="0" marL="0">
              <a:lnSpc>
                <a:spcPts val="1913"/>
              </a:lnSpc>
              <a:buNone/>
            </a:pPr>
            <a:r>
              <a:rPr lang="en-US" sz="1913" b="1" spc="-19" kern="0" dirty="0">
                <a:solidFill>
                  <a:srgbClr val="1F4D3A"/>
                </a:solidFill>
                <a:latin typeface="Liberation Sans Narrow" pitchFamily="34" charset="0"/>
                <a:ea typeface="Liberation Sans Narrow" pitchFamily="34" charset="-122"/>
                <a:cs typeface="Liberation Sans Narrow" pitchFamily="34" charset="-120"/>
              </a:rPr>
              <a:t>11</a:t>
            </a:r>
            <a:endParaRPr lang="en-US" sz="1913" dirty="0"/>
          </a:p>
        </p:txBody>
      </p:sp>
      <p:sp>
        <p:nvSpPr>
          <p:cNvPr id="29" name="Text 27"/>
          <p:cNvSpPr/>
          <p:nvPr/>
        </p:nvSpPr>
        <p:spPr>
          <a:xfrm>
            <a:off x="6072188" y="2196703"/>
            <a:ext cx="2421731" cy="112514"/>
          </a:xfrm>
          <a:prstGeom prst="rect">
            <a:avLst/>
          </a:prstGeom>
          <a:noFill/>
          <a:ln/>
        </p:spPr>
        <p:txBody>
          <a:bodyPr wrap="none" lIns="0" tIns="0" rIns="0" bIns="0" rtlCol="0" anchor="t"/>
          <a:lstStyle/>
          <a:p>
            <a:pPr algn="l" indent="0" marL="0">
              <a:lnSpc>
                <a:spcPts val="886"/>
              </a:lnSpc>
              <a:buNone/>
            </a:pPr>
            <a:r>
              <a:rPr lang="en-US" sz="800" spc="83" kern="0" dirty="0">
                <a:solidFill>
                  <a:srgbClr val="7A7A7A"/>
                </a:solidFill>
                <a:latin typeface="Carlito" pitchFamily="34" charset="0"/>
                <a:ea typeface="Carlito" pitchFamily="34" charset="-122"/>
                <a:cs typeface="Carlito" pitchFamily="34" charset="-120"/>
              </a:rPr>
              <a:t>LAUNCH POSITIONS</a:t>
            </a:r>
            <a:endParaRPr lang="en-US" sz="800" dirty="0"/>
          </a:p>
        </p:txBody>
      </p:sp>
      <p:sp>
        <p:nvSpPr>
          <p:cNvPr id="30" name="Text 28"/>
          <p:cNvSpPr/>
          <p:nvPr/>
        </p:nvSpPr>
        <p:spPr>
          <a:xfrm>
            <a:off x="5915025" y="2502098"/>
            <a:ext cx="2714625" cy="555427"/>
          </a:xfrm>
          <a:prstGeom prst="roundRect">
            <a:avLst>
              <a:gd name="adj" fmla="val 17149"/>
            </a:avLst>
          </a:prstGeom>
          <a:solidFill>
            <a:srgbClr val="F3EEE2"/>
          </a:solidFill>
          <a:ln/>
        </p:spPr>
        <p:txBody>
          <a:bodyPr wrap="square" rtlCol="0" anchor="ctr"/>
          <a:lstStyle/>
          <a:p>
            <a:pPr indent="0" marL="0">
              <a:buNone/>
            </a:pPr>
            <a:endParaRPr lang="en-US" dirty="0"/>
          </a:p>
        </p:txBody>
      </p:sp>
      <p:sp>
        <p:nvSpPr>
          <p:cNvPr id="31" name="Shape 29"/>
          <p:cNvSpPr/>
          <p:nvPr/>
        </p:nvSpPr>
        <p:spPr>
          <a:xfrm>
            <a:off x="5915025" y="2505670"/>
            <a:ext cx="2714625" cy="0"/>
          </a:xfrm>
          <a:prstGeom prst="line">
            <a:avLst/>
          </a:prstGeom>
          <a:noFill/>
          <a:ln w="7144">
            <a:solidFill>
              <a:srgbClr val="E2DCCB"/>
            </a:solidFill>
            <a:prstDash val="solid"/>
          </a:ln>
        </p:spPr>
      </p:sp>
      <p:sp>
        <p:nvSpPr>
          <p:cNvPr id="32" name="Shape 30"/>
          <p:cNvSpPr/>
          <p:nvPr/>
        </p:nvSpPr>
        <p:spPr>
          <a:xfrm>
            <a:off x="8626078" y="2502098"/>
            <a:ext cx="0" cy="555427"/>
          </a:xfrm>
          <a:prstGeom prst="line">
            <a:avLst/>
          </a:prstGeom>
          <a:noFill/>
          <a:ln w="7144">
            <a:solidFill>
              <a:srgbClr val="E2DCCB"/>
            </a:solidFill>
            <a:prstDash val="solid"/>
          </a:ln>
        </p:spPr>
      </p:sp>
      <p:sp>
        <p:nvSpPr>
          <p:cNvPr id="33" name="Shape 31"/>
          <p:cNvSpPr/>
          <p:nvPr/>
        </p:nvSpPr>
        <p:spPr>
          <a:xfrm>
            <a:off x="5915025" y="3053953"/>
            <a:ext cx="2714625" cy="0"/>
          </a:xfrm>
          <a:prstGeom prst="line">
            <a:avLst/>
          </a:prstGeom>
          <a:noFill/>
          <a:ln w="7144">
            <a:solidFill>
              <a:srgbClr val="E2DCCB"/>
            </a:solidFill>
            <a:prstDash val="solid"/>
          </a:ln>
        </p:spPr>
      </p:sp>
      <p:sp>
        <p:nvSpPr>
          <p:cNvPr id="34" name="Shape 32"/>
          <p:cNvSpPr/>
          <p:nvPr/>
        </p:nvSpPr>
        <p:spPr>
          <a:xfrm>
            <a:off x="5929313" y="2502098"/>
            <a:ext cx="0" cy="555427"/>
          </a:xfrm>
          <a:prstGeom prst="line">
            <a:avLst/>
          </a:prstGeom>
          <a:noFill/>
          <a:ln w="28575">
            <a:solidFill>
              <a:srgbClr val="E8A33D"/>
            </a:solidFill>
            <a:prstDash val="solid"/>
          </a:ln>
        </p:spPr>
      </p:sp>
      <p:sp>
        <p:nvSpPr>
          <p:cNvPr id="35" name="Text 33"/>
          <p:cNvSpPr/>
          <p:nvPr/>
        </p:nvSpPr>
        <p:spPr>
          <a:xfrm>
            <a:off x="6072188" y="2609255"/>
            <a:ext cx="2421731" cy="200597"/>
          </a:xfrm>
          <a:prstGeom prst="rect">
            <a:avLst/>
          </a:prstGeom>
          <a:noFill/>
          <a:ln/>
        </p:spPr>
        <p:txBody>
          <a:bodyPr wrap="none" lIns="0" tIns="0" rIns="0" bIns="0" rtlCol="0" anchor="t"/>
          <a:lstStyle/>
          <a:p>
            <a:pPr algn="l" indent="0" marL="0">
              <a:lnSpc>
                <a:spcPts val="1463"/>
              </a:lnSpc>
              <a:buNone/>
            </a:pPr>
            <a:r>
              <a:rPr lang="en-US" sz="1463" b="1" spc="-15" kern="0" dirty="0">
                <a:solidFill>
                  <a:srgbClr val="1F4D3A"/>
                </a:solidFill>
                <a:latin typeface="Liberation Sans Narrow" pitchFamily="34" charset="0"/>
                <a:ea typeface="Liberation Sans Narrow" pitchFamily="34" charset="-122"/>
                <a:cs typeface="Liberation Sans Narrow" pitchFamily="34" charset="-120"/>
              </a:rPr>
              <a:t>PKR 5.45M</a:t>
            </a:r>
            <a:endParaRPr lang="en-US" sz="1463" dirty="0"/>
          </a:p>
        </p:txBody>
      </p:sp>
      <p:sp>
        <p:nvSpPr>
          <p:cNvPr id="36" name="Text 34"/>
          <p:cNvSpPr/>
          <p:nvPr/>
        </p:nvSpPr>
        <p:spPr>
          <a:xfrm>
            <a:off x="6072188" y="2837855"/>
            <a:ext cx="2421731" cy="112514"/>
          </a:xfrm>
          <a:prstGeom prst="rect">
            <a:avLst/>
          </a:prstGeom>
          <a:noFill/>
          <a:ln/>
        </p:spPr>
        <p:txBody>
          <a:bodyPr wrap="none" lIns="0" tIns="0" rIns="0" bIns="0" rtlCol="0" anchor="t"/>
          <a:lstStyle/>
          <a:p>
            <a:pPr algn="l" indent="0" marL="0">
              <a:lnSpc>
                <a:spcPts val="886"/>
              </a:lnSpc>
              <a:buNone/>
            </a:pPr>
            <a:r>
              <a:rPr lang="en-US" sz="800" spc="83" kern="0" dirty="0">
                <a:solidFill>
                  <a:srgbClr val="7A7A7A"/>
                </a:solidFill>
                <a:latin typeface="Liberation Sans Narrow" pitchFamily="34" charset="0"/>
                <a:ea typeface="Liberation Sans Narrow" pitchFamily="34" charset="-122"/>
                <a:cs typeface="Liberation Sans Narrow" pitchFamily="34" charset="-120"/>
              </a:rPr>
              <a:t>6-MONTH SALES TARGET</a:t>
            </a:r>
            <a:endParaRPr lang="en-US" sz="800" dirty="0"/>
          </a:p>
        </p:txBody>
      </p:sp>
      <p:sp>
        <p:nvSpPr>
          <p:cNvPr id="37" name="Text 35"/>
          <p:cNvSpPr/>
          <p:nvPr/>
        </p:nvSpPr>
        <p:spPr>
          <a:xfrm>
            <a:off x="5915025" y="3143250"/>
            <a:ext cx="2714625" cy="612577"/>
          </a:xfrm>
          <a:prstGeom prst="roundRect">
            <a:avLst>
              <a:gd name="adj" fmla="val 15549"/>
            </a:avLst>
          </a:prstGeom>
          <a:solidFill>
            <a:srgbClr val="F3EEE2"/>
          </a:solidFill>
          <a:ln/>
        </p:spPr>
        <p:txBody>
          <a:bodyPr wrap="square" rtlCol="0" anchor="ctr"/>
          <a:lstStyle/>
          <a:p>
            <a:pPr indent="0" marL="0">
              <a:buNone/>
            </a:pPr>
            <a:endParaRPr lang="en-US" dirty="0"/>
          </a:p>
        </p:txBody>
      </p:sp>
      <p:sp>
        <p:nvSpPr>
          <p:cNvPr id="38" name="Shape 36"/>
          <p:cNvSpPr/>
          <p:nvPr/>
        </p:nvSpPr>
        <p:spPr>
          <a:xfrm>
            <a:off x="5915025" y="3146822"/>
            <a:ext cx="2714625" cy="0"/>
          </a:xfrm>
          <a:prstGeom prst="line">
            <a:avLst/>
          </a:prstGeom>
          <a:noFill/>
          <a:ln w="7144">
            <a:solidFill>
              <a:srgbClr val="E2DCCB"/>
            </a:solidFill>
            <a:prstDash val="solid"/>
          </a:ln>
        </p:spPr>
      </p:sp>
      <p:sp>
        <p:nvSpPr>
          <p:cNvPr id="39" name="Shape 37"/>
          <p:cNvSpPr/>
          <p:nvPr/>
        </p:nvSpPr>
        <p:spPr>
          <a:xfrm>
            <a:off x="8626078" y="3143250"/>
            <a:ext cx="0" cy="612577"/>
          </a:xfrm>
          <a:prstGeom prst="line">
            <a:avLst/>
          </a:prstGeom>
          <a:noFill/>
          <a:ln w="7144">
            <a:solidFill>
              <a:srgbClr val="E2DCCB"/>
            </a:solidFill>
            <a:prstDash val="solid"/>
          </a:ln>
        </p:spPr>
      </p:sp>
      <p:sp>
        <p:nvSpPr>
          <p:cNvPr id="40" name="Shape 38"/>
          <p:cNvSpPr/>
          <p:nvPr/>
        </p:nvSpPr>
        <p:spPr>
          <a:xfrm>
            <a:off x="5915025" y="3752255"/>
            <a:ext cx="2714625" cy="0"/>
          </a:xfrm>
          <a:prstGeom prst="line">
            <a:avLst/>
          </a:prstGeom>
          <a:noFill/>
          <a:ln w="7144">
            <a:solidFill>
              <a:srgbClr val="E2DCCB"/>
            </a:solidFill>
            <a:prstDash val="solid"/>
          </a:ln>
        </p:spPr>
      </p:sp>
      <p:sp>
        <p:nvSpPr>
          <p:cNvPr id="41" name="Shape 39"/>
          <p:cNvSpPr/>
          <p:nvPr/>
        </p:nvSpPr>
        <p:spPr>
          <a:xfrm>
            <a:off x="5929313" y="3143250"/>
            <a:ext cx="0" cy="612577"/>
          </a:xfrm>
          <a:prstGeom prst="line">
            <a:avLst/>
          </a:prstGeom>
          <a:noFill/>
          <a:ln w="28575">
            <a:solidFill>
              <a:srgbClr val="E8A33D"/>
            </a:solidFill>
            <a:prstDash val="solid"/>
          </a:ln>
        </p:spPr>
      </p:sp>
      <p:sp>
        <p:nvSpPr>
          <p:cNvPr id="42" name="Text 40"/>
          <p:cNvSpPr/>
          <p:nvPr/>
        </p:nvSpPr>
        <p:spPr>
          <a:xfrm>
            <a:off x="6072188" y="3250406"/>
            <a:ext cx="2421731" cy="258318"/>
          </a:xfrm>
          <a:prstGeom prst="rect">
            <a:avLst/>
          </a:prstGeom>
          <a:noFill/>
          <a:ln/>
        </p:spPr>
        <p:txBody>
          <a:bodyPr wrap="none" lIns="0" tIns="0" rIns="0" bIns="0" rtlCol="0" anchor="t">
            <a:normAutofit/>
          </a:bodyPr>
          <a:lstStyle/>
          <a:p>
            <a:pPr algn="l" indent="0" marL="0">
              <a:lnSpc>
                <a:spcPts val="1913"/>
              </a:lnSpc>
              <a:buNone/>
            </a:pPr>
            <a:r>
              <a:rPr lang="en-US" sz="1913" b="1" spc="-19" kern="0" dirty="0">
                <a:solidFill>
                  <a:srgbClr val="1F4D3A"/>
                </a:solidFill>
                <a:latin typeface="Liberation Sans Narrow" pitchFamily="34" charset="0"/>
                <a:ea typeface="Liberation Sans Narrow" pitchFamily="34" charset="-122"/>
                <a:cs typeface="Liberation Sans Narrow" pitchFamily="34" charset="-120"/>
              </a:rPr>
              <a:t>500</a:t>
            </a:r>
            <a:endParaRPr lang="en-US" sz="1913" dirty="0"/>
          </a:p>
        </p:txBody>
      </p:sp>
      <p:sp>
        <p:nvSpPr>
          <p:cNvPr id="43" name="Text 41"/>
          <p:cNvSpPr/>
          <p:nvPr/>
        </p:nvSpPr>
        <p:spPr>
          <a:xfrm>
            <a:off x="6072188" y="3536156"/>
            <a:ext cx="2421731" cy="112514"/>
          </a:xfrm>
          <a:prstGeom prst="rect">
            <a:avLst/>
          </a:prstGeom>
          <a:noFill/>
          <a:ln/>
        </p:spPr>
        <p:txBody>
          <a:bodyPr wrap="none" lIns="0" tIns="0" rIns="0" bIns="0" rtlCol="0" anchor="t"/>
          <a:lstStyle/>
          <a:p>
            <a:pPr algn="l" indent="0" marL="0">
              <a:lnSpc>
                <a:spcPts val="886"/>
              </a:lnSpc>
              <a:buNone/>
            </a:pPr>
            <a:r>
              <a:rPr lang="en-US" sz="800" spc="83" kern="0" dirty="0">
                <a:solidFill>
                  <a:srgbClr val="7A7A7A"/>
                </a:solidFill>
                <a:latin typeface="Liberation Sans Narrow" pitchFamily="34" charset="0"/>
                <a:ea typeface="Liberation Sans Narrow" pitchFamily="34" charset="-122"/>
                <a:cs typeface="Liberation Sans Narrow" pitchFamily="34" charset="-120"/>
              </a:rPr>
              <a:t>YEAR-5 HEADCOUNT GOAL</a:t>
            </a:r>
            <a:endParaRPr lang="en-US" sz="800" dirty="0"/>
          </a:p>
        </p:txBody>
      </p:sp>
      <p:sp>
        <p:nvSpPr>
          <p:cNvPr id="44" name="Shape 42"/>
          <p:cNvSpPr/>
          <p:nvPr/>
        </p:nvSpPr>
        <p:spPr>
          <a:xfrm>
            <a:off x="514350" y="4764881"/>
            <a:ext cx="8115300" cy="0"/>
          </a:xfrm>
          <a:prstGeom prst="line">
            <a:avLst/>
          </a:prstGeom>
          <a:noFill/>
          <a:ln w="7144">
            <a:solidFill>
              <a:srgbClr val="E2DCCB"/>
            </a:solidFill>
            <a:prstDash val="solid"/>
          </a:ln>
        </p:spPr>
      </p:sp>
      <p:sp>
        <p:nvSpPr>
          <p:cNvPr id="45" name="Text 43"/>
          <p:cNvSpPr/>
          <p:nvPr/>
        </p:nvSpPr>
        <p:spPr>
          <a:xfrm>
            <a:off x="514350" y="4854178"/>
            <a:ext cx="7464437"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46" name="Text 44"/>
          <p:cNvSpPr/>
          <p:nvPr/>
        </p:nvSpPr>
        <p:spPr>
          <a:xfrm>
            <a:off x="7993075" y="4854178"/>
            <a:ext cx="636575" cy="117872"/>
          </a:xfrm>
          <a:prstGeom prst="rect">
            <a:avLst/>
          </a:prstGeom>
          <a:noFill/>
          <a:ln/>
        </p:spPr>
        <p:txBody>
          <a:bodyPr wrap="non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TWV-DOC-REG-001</a:t>
            </a:r>
            <a:endParaRPr lang="en-US" sz="61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860822" y="4634508"/>
            <a:ext cx="1559458" cy="219670"/>
          </a:xfrm>
          <a:prstGeom prst="roundRect">
            <a:avLst>
              <a:gd name="adj" fmla="val 4331713"/>
            </a:avLst>
          </a:prstGeom>
          <a:noFill/>
          <a:ln w="7144">
            <a:solidFill>
              <a:srgbClr val="E8A33D"/>
            </a:solidFill>
            <a:prstDash val="solid"/>
          </a:ln>
        </p:spPr>
        <p:txBody>
          <a:bodyPr wrap="square" rtlCol="0" anchor="ctr"/>
          <a:lstStyle/>
          <a:p>
            <a:pPr indent="0" marL="0">
              <a:buNone/>
            </a:pPr>
            <a:endParaRPr lang="en-US" dirty="0"/>
          </a:p>
        </p:txBody>
      </p:sp>
      <p:sp>
        <p:nvSpPr>
          <p:cNvPr id="3" name="Text 1"/>
          <p:cNvSpPr/>
          <p:nvPr/>
        </p:nvSpPr>
        <p:spPr>
          <a:xfrm>
            <a:off x="857250" y="4630936"/>
            <a:ext cx="1602321" cy="331797"/>
          </a:xfrm>
          <a:prstGeom prst="rect">
            <a:avLst/>
          </a:prstGeom>
          <a:noFill/>
          <a:ln/>
        </p:spPr>
        <p:txBody>
          <a:bodyPr wrap="none" lIns="100013" tIns="50006" rIns="100013" bIns="50006" rtlCol="0" anchor="t"/>
          <a:lstStyle/>
          <a:p>
            <a:pPr algn="l" indent="0" marL="0">
              <a:lnSpc>
                <a:spcPts val="886"/>
              </a:lnSpc>
              <a:buNone/>
            </a:pPr>
            <a:r>
              <a:rPr lang="en-US" sz="800" spc="83" kern="0" dirty="0">
                <a:solidFill>
                  <a:srgbClr val="FAF7F0"/>
                </a:solidFill>
                <a:latin typeface="Liberation Sans Narrow" pitchFamily="34" charset="0"/>
                <a:ea typeface="Liberation Sans Narrow" pitchFamily="34" charset="-122"/>
                <a:cs typeface="Liberation Sans Narrow" pitchFamily="34" charset="-120"/>
              </a:rPr>
              <a:t>DELIVERABLE 02 — OFFICE SOP</a:t>
            </a:r>
            <a:endParaRPr lang="en-US" sz="800" dirty="0"/>
          </a:p>
        </p:txBody>
      </p:sp>
      <p:sp>
        <p:nvSpPr>
          <p:cNvPr id="4" name="Text 2"/>
          <p:cNvSpPr/>
          <p:nvPr/>
        </p:nvSpPr>
        <p:spPr>
          <a:xfrm>
            <a:off x="2498861" y="4634508"/>
            <a:ext cx="1475631" cy="219670"/>
          </a:xfrm>
          <a:prstGeom prst="roundRect">
            <a:avLst>
              <a:gd name="adj" fmla="val 4331713"/>
            </a:avLst>
          </a:prstGeom>
          <a:noFill/>
          <a:ln w="7144">
            <a:solidFill>
              <a:srgbClr val="E8A33D"/>
            </a:solidFill>
            <a:prstDash val="solid"/>
          </a:ln>
        </p:spPr>
        <p:txBody>
          <a:bodyPr wrap="square" rtlCol="0" anchor="ctr"/>
          <a:lstStyle/>
          <a:p>
            <a:pPr indent="0" marL="0">
              <a:buNone/>
            </a:pPr>
            <a:endParaRPr lang="en-US" dirty="0"/>
          </a:p>
        </p:txBody>
      </p:sp>
      <p:sp>
        <p:nvSpPr>
          <p:cNvPr id="5" name="Text 3"/>
          <p:cNvSpPr/>
          <p:nvPr/>
        </p:nvSpPr>
        <p:spPr>
          <a:xfrm>
            <a:off x="2495290" y="4630936"/>
            <a:ext cx="1518493" cy="331797"/>
          </a:xfrm>
          <a:prstGeom prst="rect">
            <a:avLst/>
          </a:prstGeom>
          <a:noFill/>
          <a:ln/>
        </p:spPr>
        <p:txBody>
          <a:bodyPr wrap="none" lIns="100013" tIns="50006" rIns="100013" bIns="50006" rtlCol="0" anchor="t"/>
          <a:lstStyle/>
          <a:p>
            <a:pPr algn="l" indent="0" marL="0">
              <a:lnSpc>
                <a:spcPts val="886"/>
              </a:lnSpc>
              <a:buNone/>
            </a:pPr>
            <a:r>
              <a:rPr lang="en-US" sz="800" spc="83" kern="0" dirty="0">
                <a:solidFill>
                  <a:srgbClr val="FAF7F0"/>
                </a:solidFill>
                <a:latin typeface="Liberation Sans Narrow" pitchFamily="34" charset="0"/>
                <a:ea typeface="Liberation Sans Narrow" pitchFamily="34" charset="-122"/>
                <a:cs typeface="Liberation Sans Narrow" pitchFamily="34" charset="-120"/>
              </a:rPr>
              <a:t>DELIVERABLE 03 — IT POLICY</a:t>
            </a:r>
            <a:endParaRPr lang="en-US" sz="800" dirty="0"/>
          </a:p>
        </p:txBody>
      </p:sp>
      <p:sp>
        <p:nvSpPr>
          <p:cNvPr id="6" name="Text 4"/>
          <p:cNvSpPr/>
          <p:nvPr/>
        </p:nvSpPr>
        <p:spPr>
          <a:xfrm>
            <a:off x="4053074" y="4634508"/>
            <a:ext cx="1679451" cy="219670"/>
          </a:xfrm>
          <a:prstGeom prst="roundRect">
            <a:avLst>
              <a:gd name="adj" fmla="val 4331713"/>
            </a:avLst>
          </a:prstGeom>
          <a:noFill/>
          <a:ln w="7144">
            <a:solidFill>
              <a:srgbClr val="E8A33D"/>
            </a:solidFill>
            <a:prstDash val="solid"/>
          </a:ln>
        </p:spPr>
        <p:txBody>
          <a:bodyPr wrap="square" rtlCol="0" anchor="ctr"/>
          <a:lstStyle/>
          <a:p>
            <a:pPr indent="0" marL="0">
              <a:buNone/>
            </a:pPr>
            <a:endParaRPr lang="en-US" dirty="0"/>
          </a:p>
        </p:txBody>
      </p:sp>
      <p:sp>
        <p:nvSpPr>
          <p:cNvPr id="7" name="Text 5"/>
          <p:cNvSpPr/>
          <p:nvPr/>
        </p:nvSpPr>
        <p:spPr>
          <a:xfrm>
            <a:off x="4049502" y="4630936"/>
            <a:ext cx="1686595" cy="331797"/>
          </a:xfrm>
          <a:prstGeom prst="rect">
            <a:avLst/>
          </a:prstGeom>
          <a:noFill/>
          <a:ln/>
        </p:spPr>
        <p:txBody>
          <a:bodyPr wrap="none" lIns="100013" tIns="50006" rIns="100013" bIns="50006" rtlCol="0" anchor="t"/>
          <a:lstStyle/>
          <a:p>
            <a:pPr algn="l" indent="0" marL="0">
              <a:lnSpc>
                <a:spcPts val="886"/>
              </a:lnSpc>
              <a:buNone/>
            </a:pPr>
            <a:r>
              <a:rPr lang="en-US" sz="800" spc="83" kern="0" dirty="0">
                <a:solidFill>
                  <a:srgbClr val="FAF7F0"/>
                </a:solidFill>
                <a:latin typeface="Liberation Sans Narrow" pitchFamily="34" charset="0"/>
                <a:ea typeface="Liberation Sans Narrow" pitchFamily="34" charset="-122"/>
                <a:cs typeface="Liberation Sans Narrow" pitchFamily="34" charset="-120"/>
              </a:rPr>
              <a:t>DELIVERABLE 04 — SECURITY SOP</a:t>
            </a:r>
            <a:endParaRPr lang="en-US" sz="800" dirty="0"/>
          </a:p>
        </p:txBody>
      </p:sp>
      <p:sp>
        <p:nvSpPr>
          <p:cNvPr id="8" name="Text 6"/>
          <p:cNvSpPr/>
          <p:nvPr/>
        </p:nvSpPr>
        <p:spPr>
          <a:xfrm>
            <a:off x="857250" y="1656680"/>
            <a:ext cx="8286750" cy="617220"/>
          </a:xfrm>
          <a:prstGeom prst="rect">
            <a:avLst/>
          </a:prstGeom>
          <a:noFill/>
          <a:ln/>
        </p:spPr>
        <p:txBody>
          <a:bodyPr wrap="none" lIns="0" tIns="0" rIns="0" bIns="0" rtlCol="0" anchor="t"/>
          <a:lstStyle/>
          <a:p>
            <a:pPr algn="l" indent="0" marL="0">
              <a:lnSpc>
                <a:spcPts val="4500"/>
              </a:lnSpc>
              <a:buNone/>
            </a:pPr>
            <a:r>
              <a:rPr lang="en-US" sz="4500" b="1" spc="-90" kern="0" dirty="0">
                <a:solidFill>
                  <a:srgbClr val="E8A33D"/>
                </a:solidFill>
                <a:latin typeface="Liberation Sans Narrow" pitchFamily="34" charset="0"/>
                <a:ea typeface="Liberation Sans Narrow" pitchFamily="34" charset="-122"/>
                <a:cs typeface="Liberation Sans Narrow" pitchFamily="34" charset="-120"/>
              </a:rPr>
              <a:t>01 </a:t>
            </a:r>
            <a:pPr algn="l" indent="0" marL="0">
              <a:lnSpc>
                <a:spcPts val="4500"/>
              </a:lnSpc>
              <a:buNone/>
            </a:pPr>
            <a:r>
              <a:rPr lang="en-US" sz="2138" b="1" spc="-90" kern="0" dirty="0">
                <a:solidFill>
                  <a:srgbClr val="E8A33D">
                    <a:alpha val="55000"/>
                  </a:srgbClr>
                </a:solidFill>
                <a:latin typeface="Liberation Sans Narrow" pitchFamily="34" charset="0"/>
                <a:ea typeface="Liberation Sans Narrow" pitchFamily="34" charset="-122"/>
                <a:cs typeface="Liberation Sans Narrow" pitchFamily="34" charset="-120"/>
              </a:rPr>
              <a:t>/ 05</a:t>
            </a:r>
            <a:endParaRPr lang="en-US" sz="4500" dirty="0"/>
          </a:p>
        </p:txBody>
      </p:sp>
      <p:sp>
        <p:nvSpPr>
          <p:cNvPr id="9" name="Text 7"/>
          <p:cNvSpPr/>
          <p:nvPr/>
        </p:nvSpPr>
        <p:spPr>
          <a:xfrm>
            <a:off x="857250" y="2328193"/>
            <a:ext cx="8572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0" name="Text 8"/>
          <p:cNvSpPr/>
          <p:nvPr/>
        </p:nvSpPr>
        <p:spPr>
          <a:xfrm>
            <a:off x="857250" y="2513930"/>
            <a:ext cx="7800975" cy="518368"/>
          </a:xfrm>
          <a:prstGeom prst="rect">
            <a:avLst/>
          </a:prstGeom>
          <a:noFill/>
          <a:ln/>
        </p:spPr>
        <p:txBody>
          <a:bodyPr wrap="none" lIns="0" tIns="0" rIns="0" bIns="0" rtlCol="0" anchor="t"/>
          <a:lstStyle/>
          <a:p>
            <a:pPr algn="l" indent="0" marL="0">
              <a:lnSpc>
                <a:spcPts val="3780"/>
              </a:lnSpc>
              <a:buNone/>
            </a:pPr>
            <a:r>
              <a:rPr lang="en-US" sz="3600" b="1" spc="-54" kern="0" dirty="0">
                <a:solidFill>
                  <a:srgbClr val="FFFFFF"/>
                </a:solidFill>
                <a:latin typeface="Tinos" pitchFamily="34" charset="0"/>
                <a:ea typeface="Tinos" pitchFamily="34" charset="-122"/>
                <a:cs typeface="Tinos" pitchFamily="34" charset="-120"/>
              </a:rPr>
              <a:t>Operational Foundations</a:t>
            </a:r>
            <a:endParaRPr lang="en-US" sz="3600" dirty="0"/>
          </a:p>
        </p:txBody>
      </p:sp>
      <p:sp>
        <p:nvSpPr>
          <p:cNvPr id="11" name="Text 9"/>
          <p:cNvSpPr/>
          <p:nvPr/>
        </p:nvSpPr>
        <p:spPr>
          <a:xfrm>
            <a:off x="857250" y="3122488"/>
            <a:ext cx="5143500" cy="208312"/>
          </a:xfrm>
          <a:prstGeom prst="rect">
            <a:avLst/>
          </a:prstGeom>
          <a:noFill/>
          <a:ln/>
        </p:spPr>
        <p:txBody>
          <a:bodyPr wrap="square" lIns="0" tIns="0" rIns="0" bIns="0" rtlCol="0" anchor="t"/>
          <a:lstStyle/>
          <a:p>
            <a:pPr algn="l" indent="0" marL="0">
              <a:lnSpc>
                <a:spcPts val="1519"/>
              </a:lnSpc>
              <a:buNone/>
            </a:pPr>
            <a:r>
              <a:rPr lang="en-US" sz="1013" i="1" dirty="0">
                <a:solidFill>
                  <a:srgbClr val="FFFFFF">
                    <a:alpha val="82000"/>
                  </a:srgbClr>
                </a:solidFill>
                <a:latin typeface="Carlito" pitchFamily="34" charset="0"/>
                <a:ea typeface="Carlito" pitchFamily="34" charset="-122"/>
                <a:cs typeface="Carlito" pitchFamily="34" charset="-120"/>
              </a:rPr>
              <a:t>The rules that govern the workplace, the floor, and the systems people touch every day.</a:t>
            </a:r>
            <a:endParaRPr lang="en-US" sz="1013" dirty="0"/>
          </a:p>
        </p:txBody>
      </p:sp>
      <p:sp>
        <p:nvSpPr>
          <p:cNvPr id="12" name="Text 10"/>
          <p:cNvSpPr/>
          <p:nvPr/>
        </p:nvSpPr>
        <p:spPr>
          <a:xfrm>
            <a:off x="857250" y="3472532"/>
            <a:ext cx="1428750" cy="14288"/>
          </a:xfrm>
          <a:prstGeom prst="rect">
            <a:avLst/>
          </a:prstGeom>
          <a:solidFill>
            <a:srgbClr val="E8A33D"/>
          </a:solidFill>
          <a:ln/>
        </p:spPr>
        <p:txBody>
          <a:bodyPr wrap="square" rtlCol="0" anchor="ctr"/>
          <a:lstStyle/>
          <a:p>
            <a:pPr indent="0" marL="0">
              <a:buNone/>
            </a:pPr>
            <a:endParaRPr lang="en-US" dirty="0"/>
          </a:p>
        </p:txBody>
      </p:sp>
      <p:sp>
        <p:nvSpPr>
          <p:cNvPr id="13" name="Text 11"/>
          <p:cNvSpPr/>
          <p:nvPr/>
        </p:nvSpPr>
        <p:spPr>
          <a:xfrm>
            <a:off x="8082707" y="258961"/>
            <a:ext cx="57150" cy="57150"/>
          </a:xfrm>
          <a:prstGeom prst="ellipse">
            <a:avLst/>
          </a:prstGeom>
          <a:solidFill>
            <a:srgbClr val="E8A33D"/>
          </a:solidFill>
          <a:ln/>
        </p:spPr>
        <p:txBody>
          <a:bodyPr wrap="square" rtlCol="0" anchor="ctr"/>
          <a:lstStyle/>
          <a:p>
            <a:pPr indent="0" marL="0">
              <a:buNone/>
            </a:pPr>
            <a:endParaRPr lang="en-US" dirty="0"/>
          </a:p>
        </p:txBody>
      </p:sp>
      <p:sp>
        <p:nvSpPr>
          <p:cNvPr id="14" name="Text 12"/>
          <p:cNvSpPr/>
          <p:nvPr/>
        </p:nvSpPr>
        <p:spPr>
          <a:xfrm>
            <a:off x="8197007" y="228600"/>
            <a:ext cx="674860" cy="164592"/>
          </a:xfrm>
          <a:prstGeom prst="rect">
            <a:avLst/>
          </a:prstGeom>
          <a:noFill/>
          <a:ln/>
        </p:spPr>
        <p:txBody>
          <a:bodyPr wrap="none" lIns="0" tIns="0" rIns="0" bIns="0" rtlCol="0" anchor="t"/>
          <a:lstStyle/>
          <a:p>
            <a:pPr algn="l" indent="0" marL="0">
              <a:lnSpc>
                <a:spcPts val="928"/>
              </a:lnSpc>
              <a:buNone/>
            </a:pPr>
            <a:r>
              <a:rPr lang="en-US" sz="619" spc="50" kern="0" dirty="0">
                <a:solidFill>
                  <a:srgbClr val="FFFFFF">
                    <a:alpha val="50000"/>
                  </a:srgbClr>
                </a:solidFill>
                <a:latin typeface="Liberation Sans Narrow" pitchFamily="34" charset="0"/>
                <a:ea typeface="Liberation Sans Narrow" pitchFamily="34" charset="-122"/>
                <a:cs typeface="Liberation Sans Narrow" pitchFamily="34" charset="-120"/>
              </a:rPr>
              <a:t>PAGE 04 / 15</a:t>
            </a:r>
            <a:endParaRPr lang="en-US" sz="619" dirty="0"/>
          </a:p>
        </p:txBody>
      </p:sp>
      <p:sp>
        <p:nvSpPr>
          <p:cNvPr id="15" name="Text 13"/>
          <p:cNvSpPr/>
          <p:nvPr/>
        </p:nvSpPr>
        <p:spPr>
          <a:xfrm>
            <a:off x="7962826" y="4793456"/>
            <a:ext cx="1171687" cy="164592"/>
          </a:xfrm>
          <a:prstGeom prst="rect">
            <a:avLst/>
          </a:prstGeom>
          <a:noFill/>
          <a:ln/>
        </p:spPr>
        <p:txBody>
          <a:bodyPr wrap="none" lIns="0" tIns="0" rIns="0" bIns="0" rtlCol="0" anchor="t"/>
          <a:lstStyle/>
          <a:p>
            <a:pPr algn="l" indent="0" marL="0">
              <a:lnSpc>
                <a:spcPts val="1181"/>
              </a:lnSpc>
              <a:buNone/>
            </a:pPr>
            <a:r>
              <a:rPr lang="en-US" sz="800" b="1" spc="236" kern="0" dirty="0">
                <a:solidFill>
                  <a:srgbClr val="FFFFFF">
                    <a:alpha val="30000"/>
                  </a:srgbClr>
                </a:solidFill>
                <a:latin typeface="Tinos" pitchFamily="34" charset="0"/>
                <a:ea typeface="Tinos" pitchFamily="34" charset="-122"/>
                <a:cs typeface="Tinos" pitchFamily="34" charset="-120"/>
              </a:rPr>
              <a:t>TOWATIVE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75999" y="433983"/>
            <a:ext cx="579222" cy="151805"/>
          </a:xfrm>
          <a:prstGeom prst="rect">
            <a:avLst/>
          </a:prstGeom>
          <a:noFill/>
          <a:ln/>
        </p:spPr>
        <p:txBody>
          <a:bodyPr wrap="none" lIns="0" tIns="0" rIns="0" bIns="0" rtlCol="0" anchor="t"/>
          <a:lstStyle/>
          <a:p>
            <a:pPr algn="l" indent="0" marL="0">
              <a:lnSpc>
                <a:spcPts val="928"/>
              </a:lnSpc>
              <a:buNone/>
            </a:pPr>
            <a:r>
              <a:rPr lang="en-US" sz="619" spc="37" kern="0" dirty="0">
                <a:solidFill>
                  <a:srgbClr val="7A7A7A"/>
                </a:solidFill>
                <a:latin typeface="Liberation Sans Narrow" pitchFamily="34" charset="0"/>
                <a:ea typeface="Liberation Sans Narrow" pitchFamily="34" charset="-122"/>
                <a:cs typeface="Liberation Sans Narrow" pitchFamily="34" charset="-120"/>
              </a:rPr>
              <a:t>Page 05 / 15</a:t>
            </a:r>
            <a:endParaRPr lang="en-US" sz="619" dirty="0"/>
          </a:p>
        </p:txBody>
      </p:sp>
      <p:sp>
        <p:nvSpPr>
          <p:cNvPr id="9" name="Text 7"/>
          <p:cNvSpPr/>
          <p:nvPr/>
        </p:nvSpPr>
        <p:spPr>
          <a:xfrm>
            <a:off x="514350" y="921544"/>
            <a:ext cx="7606019"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 02</a:t>
            </a:r>
            <a:endParaRPr lang="en-US" sz="800" dirty="0"/>
          </a:p>
        </p:txBody>
      </p:sp>
      <p:sp>
        <p:nvSpPr>
          <p:cNvPr id="10" name="Text 8"/>
          <p:cNvSpPr/>
          <p:nvPr/>
        </p:nvSpPr>
        <p:spPr>
          <a:xfrm>
            <a:off x="514350" y="1082278"/>
            <a:ext cx="6090761" cy="254603"/>
          </a:xfrm>
          <a:prstGeom prst="rect">
            <a:avLst/>
          </a:prstGeom>
          <a:noFill/>
          <a:ln/>
        </p:spPr>
        <p:txBody>
          <a:bodyPr wrap="none" lIns="0" tIns="0" rIns="0" bIns="0" rtlCol="0" anchor="t"/>
          <a:lstStyle/>
          <a:p>
            <a:pPr algn="l" indent="0" marL="0">
              <a:lnSpc>
                <a:spcPts val="1856"/>
              </a:lnSpc>
              <a:buNone/>
            </a:pPr>
            <a:r>
              <a:rPr lang="en-US" sz="1688" b="1" spc="-8" kern="0" dirty="0">
                <a:solidFill>
                  <a:srgbClr val="1F4D3A"/>
                </a:solidFill>
                <a:latin typeface="Tinos" pitchFamily="34" charset="0"/>
                <a:ea typeface="Tinos" pitchFamily="34" charset="-122"/>
                <a:cs typeface="Tinos" pitchFamily="34" charset="-120"/>
              </a:rPr>
              <a:t>General Office SOP</a:t>
            </a:r>
            <a:endParaRPr lang="en-US" sz="1688" dirty="0"/>
          </a:p>
        </p:txBody>
      </p:sp>
      <p:sp>
        <p:nvSpPr>
          <p:cNvPr id="11" name="Text 9"/>
          <p:cNvSpPr/>
          <p:nvPr/>
        </p:nvSpPr>
        <p:spPr>
          <a:xfrm>
            <a:off x="514350" y="1375172"/>
            <a:ext cx="765760"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TWV-OPS-SOP-001</a:t>
            </a:r>
            <a:endParaRPr lang="en-US" sz="619" dirty="0"/>
          </a:p>
        </p:txBody>
      </p:sp>
      <p:sp>
        <p:nvSpPr>
          <p:cNvPr id="12" name="Text 10"/>
          <p:cNvSpPr/>
          <p:nvPr/>
        </p:nvSpPr>
        <p:spPr>
          <a:xfrm>
            <a:off x="1193788" y="1375172"/>
            <a:ext cx="9144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D6CFBA"/>
                </a:solidFill>
                <a:latin typeface="Courier New" pitchFamily="34" charset="0"/>
                <a:ea typeface="Courier New" pitchFamily="34" charset="-122"/>
                <a:cs typeface="Courier New" pitchFamily="34" charset="-120"/>
              </a:rPr>
              <a:t>•</a:t>
            </a:r>
            <a:endParaRPr lang="en-US" sz="800" dirty="0"/>
          </a:p>
        </p:txBody>
      </p:sp>
      <p:sp>
        <p:nvSpPr>
          <p:cNvPr id="13" name="Text 11"/>
          <p:cNvSpPr/>
          <p:nvPr/>
        </p:nvSpPr>
        <p:spPr>
          <a:xfrm>
            <a:off x="1252910" y="1375172"/>
            <a:ext cx="300512"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Liberation Sans Narrow" pitchFamily="34" charset="0"/>
                <a:ea typeface="Liberation Sans Narrow" pitchFamily="34" charset="-122"/>
                <a:cs typeface="Liberation Sans Narrow" pitchFamily="34" charset="-120"/>
              </a:rPr>
              <a:t>v1.0</a:t>
            </a:r>
            <a:endParaRPr lang="en-US" sz="800" dirty="0"/>
          </a:p>
        </p:txBody>
      </p:sp>
      <p:sp>
        <p:nvSpPr>
          <p:cNvPr id="14" name="Text 12"/>
          <p:cNvSpPr/>
          <p:nvPr/>
        </p:nvSpPr>
        <p:spPr>
          <a:xfrm>
            <a:off x="1479984" y="1375172"/>
            <a:ext cx="9144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D6CFBA"/>
                </a:solidFill>
                <a:latin typeface="Courier New" pitchFamily="34" charset="0"/>
                <a:ea typeface="Courier New" pitchFamily="34" charset="-122"/>
                <a:cs typeface="Courier New" pitchFamily="34" charset="-120"/>
              </a:rPr>
              <a:t>•</a:t>
            </a:r>
            <a:endParaRPr lang="en-US" sz="800" dirty="0"/>
          </a:p>
        </p:txBody>
      </p:sp>
      <p:sp>
        <p:nvSpPr>
          <p:cNvPr id="15" name="Text 13"/>
          <p:cNvSpPr/>
          <p:nvPr/>
        </p:nvSpPr>
        <p:spPr>
          <a:xfrm>
            <a:off x="1553542" y="1375172"/>
            <a:ext cx="1145715" cy="164592"/>
          </a:xfrm>
          <a:prstGeom prst="rect">
            <a:avLst/>
          </a:prstGeom>
          <a:noFill/>
          <a:ln/>
        </p:spPr>
        <p:txBody>
          <a:bodyPr wrap="square" lIns="0" tIns="0" rIns="0" bIns="0" rtlCol="0" anchor="t"/>
          <a:lstStyle/>
          <a:p>
            <a:pPr algn="l" indent="0" marL="0">
              <a:lnSpc>
                <a:spcPts val="928"/>
              </a:lnSpc>
              <a:buNone/>
            </a:pPr>
            <a:r>
              <a:rPr lang="en-US" sz="619" spc="25" kern="0" dirty="0">
                <a:solidFill>
                  <a:srgbClr val="7A7A7A"/>
                </a:solidFill>
                <a:latin typeface="Courier New" pitchFamily="34" charset="0"/>
                <a:ea typeface="Courier New" pitchFamily="34" charset="-122"/>
                <a:cs typeface="Courier New" pitchFamily="34" charset="-120"/>
              </a:rPr>
              <a:t>Owner: Operations Officer</a:t>
            </a:r>
            <a:endParaRPr lang="en-US" sz="619" dirty="0"/>
          </a:p>
        </p:txBody>
      </p:sp>
      <p:sp>
        <p:nvSpPr>
          <p:cNvPr id="16" name="Text 14"/>
          <p:cNvSpPr/>
          <p:nvPr/>
        </p:nvSpPr>
        <p:spPr>
          <a:xfrm>
            <a:off x="2657252" y="1375172"/>
            <a:ext cx="9144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D6CFBA"/>
                </a:solidFill>
                <a:latin typeface="Courier New" pitchFamily="34" charset="0"/>
                <a:ea typeface="Courier New" pitchFamily="34" charset="-122"/>
                <a:cs typeface="Courier New" pitchFamily="34" charset="-120"/>
              </a:rPr>
              <a:t>•</a:t>
            </a:r>
            <a:endParaRPr lang="en-US" sz="800" dirty="0"/>
          </a:p>
        </p:txBody>
      </p:sp>
      <p:sp>
        <p:nvSpPr>
          <p:cNvPr id="17" name="Text 15"/>
          <p:cNvSpPr/>
          <p:nvPr/>
        </p:nvSpPr>
        <p:spPr>
          <a:xfrm>
            <a:off x="2730810" y="1375172"/>
            <a:ext cx="3584265"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Liberation Sans Narrow" pitchFamily="34" charset="0"/>
                <a:ea typeface="Liberation Sans Narrow" pitchFamily="34" charset="-122"/>
                <a:cs typeface="Liberation Sans Narrow" pitchFamily="34" charset="-120"/>
              </a:rPr>
              <a:t>Effective 01 Nov 2026</a:t>
            </a:r>
            <a:endParaRPr lang="en-US" sz="800" dirty="0"/>
          </a:p>
        </p:txBody>
      </p:sp>
      <p:sp>
        <p:nvSpPr>
          <p:cNvPr id="18" name="Text 16"/>
          <p:cNvSpPr/>
          <p:nvPr/>
        </p:nvSpPr>
        <p:spPr>
          <a:xfrm>
            <a:off x="6486525" y="921544"/>
            <a:ext cx="2143125" cy="800100"/>
          </a:xfrm>
          <a:prstGeom prst="roundRect">
            <a:avLst>
              <a:gd name="adj" fmla="val 14286"/>
            </a:avLst>
          </a:prstGeom>
          <a:solidFill>
            <a:srgbClr val="1F4D3A"/>
          </a:solidFill>
          <a:ln/>
        </p:spPr>
        <p:txBody>
          <a:bodyPr wrap="square" rtlCol="0" anchor="ctr"/>
          <a:lstStyle/>
          <a:p>
            <a:pPr indent="0" marL="0">
              <a:buNone/>
            </a:pPr>
            <a:endParaRPr lang="en-US" dirty="0"/>
          </a:p>
        </p:txBody>
      </p:sp>
      <p:sp>
        <p:nvSpPr>
          <p:cNvPr id="19" name="Text 17"/>
          <p:cNvSpPr/>
          <p:nvPr/>
        </p:nvSpPr>
        <p:spPr>
          <a:xfrm>
            <a:off x="6757988" y="1042988"/>
            <a:ext cx="619673" cy="135088"/>
          </a:xfrm>
          <a:prstGeom prst="rect">
            <a:avLst/>
          </a:prstGeom>
          <a:noFill/>
          <a:ln/>
        </p:spPr>
        <p:txBody>
          <a:bodyPr wrap="none" lIns="0" tIns="0" rIns="0" bIns="0" rtlCol="0" anchor="t"/>
          <a:lstStyle/>
          <a:p>
            <a:pPr algn="l" indent="0" marL="0">
              <a:lnSpc>
                <a:spcPts val="886"/>
              </a:lnSpc>
              <a:buNone/>
            </a:pPr>
            <a:r>
              <a:rPr lang="en-US" sz="800" spc="95" kern="0" dirty="0">
                <a:solidFill>
                  <a:srgbClr val="E8A33D"/>
                </a:solidFill>
                <a:latin typeface="Carlito" pitchFamily="34" charset="0"/>
                <a:ea typeface="Carlito" pitchFamily="34" charset="-122"/>
                <a:cs typeface="Carlito" pitchFamily="34" charset="-120"/>
              </a:rPr>
              <a:t>PURPOSE</a:t>
            </a:r>
            <a:endParaRPr lang="en-US" sz="800" dirty="0"/>
          </a:p>
        </p:txBody>
      </p:sp>
      <p:sp>
        <p:nvSpPr>
          <p:cNvPr id="20" name="Text 18"/>
          <p:cNvSpPr/>
          <p:nvPr/>
        </p:nvSpPr>
        <p:spPr>
          <a:xfrm>
            <a:off x="6615113" y="1042095"/>
            <a:ext cx="100013" cy="100013"/>
          </a:xfrm>
          <a:prstGeom prst="rect">
            <a:avLst/>
          </a:prstGeom>
          <a:noFill/>
          <a:ln/>
        </p:spPr>
        <p:txBody>
          <a:bodyPr wrap="none" lIns="0" tIns="0" rIns="0" bIns="0" rtlCol="0" anchor="ctr"/>
          <a:lstStyle/>
          <a:p>
            <a:pPr algn="ctr" indent="0" marL="0">
              <a:buNone/>
            </a:pPr>
            <a:r>
              <a:rPr lang="en-US" sz="984" dirty="0">
                <a:solidFill>
                  <a:srgbClr val="E8A33D"/>
                </a:solidFill>
                <a:latin typeface="Segoe UI Symbol" pitchFamily="34" charset="0"/>
                <a:ea typeface="Segoe UI Symbol" pitchFamily="34" charset="-122"/>
                <a:cs typeface="Segoe UI Symbol" pitchFamily="34" charset="-120"/>
              </a:rPr>
              <a:t>⚑</a:t>
            </a:r>
            <a:endParaRPr lang="en-US" sz="984" dirty="0"/>
          </a:p>
        </p:txBody>
      </p:sp>
      <p:sp>
        <p:nvSpPr>
          <p:cNvPr id="21" name="Text 19"/>
          <p:cNvSpPr/>
          <p:nvPr/>
        </p:nvSpPr>
        <p:spPr>
          <a:xfrm>
            <a:off x="6615113" y="1205508"/>
            <a:ext cx="1885950" cy="401836"/>
          </a:xfrm>
          <a:prstGeom prst="rect">
            <a:avLst/>
          </a:prstGeom>
          <a:noFill/>
          <a:ln/>
        </p:spPr>
        <p:txBody>
          <a:bodyPr wrap="square" lIns="0" tIns="0" rIns="0" bIns="0" rtlCol="0" anchor="t"/>
          <a:lstStyle/>
          <a:p>
            <a:pPr algn="l" indent="0" marL="0">
              <a:lnSpc>
                <a:spcPts val="1055"/>
              </a:lnSpc>
              <a:buNone/>
            </a:pPr>
            <a:r>
              <a:rPr lang="en-US" sz="800" dirty="0">
                <a:solidFill>
                  <a:srgbClr val="F5F2E8">
                    <a:alpha val="92000"/>
                  </a:srgbClr>
                </a:solidFill>
                <a:latin typeface="Carlito" pitchFamily="34" charset="0"/>
                <a:ea typeface="Carlito" pitchFamily="34" charset="-122"/>
                <a:cs typeface="Carlito" pitchFamily="34" charset="-120"/>
              </a:rPr>
              <a:t>To define consistent rules for workplace conduct, attendance and daily office procedures so every employee knows what is expected.</a:t>
            </a:r>
            <a:endParaRPr lang="en-US" sz="800" dirty="0"/>
          </a:p>
        </p:txBody>
      </p:sp>
      <p:sp>
        <p:nvSpPr>
          <p:cNvPr id="22" name="Text 20"/>
          <p:cNvSpPr/>
          <p:nvPr/>
        </p:nvSpPr>
        <p:spPr>
          <a:xfrm>
            <a:off x="517922" y="1853803"/>
            <a:ext cx="2621756" cy="288607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3" name="Shape 21"/>
          <p:cNvSpPr/>
          <p:nvPr/>
        </p:nvSpPr>
        <p:spPr>
          <a:xfrm>
            <a:off x="650081" y="2182416"/>
            <a:ext cx="2357438" cy="0"/>
          </a:xfrm>
          <a:prstGeom prst="line">
            <a:avLst/>
          </a:prstGeom>
          <a:noFill/>
          <a:ln w="7144">
            <a:solidFill>
              <a:srgbClr val="E2DCCB"/>
            </a:solidFill>
            <a:prstDash val="solid"/>
          </a:ln>
        </p:spPr>
      </p:sp>
      <p:sp>
        <p:nvSpPr>
          <p:cNvPr id="24" name="Text 22"/>
          <p:cNvSpPr/>
          <p:nvPr/>
        </p:nvSpPr>
        <p:spPr>
          <a:xfrm>
            <a:off x="650081" y="1982391"/>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835819" y="1971675"/>
            <a:ext cx="2171700" cy="150019"/>
          </a:xfrm>
          <a:prstGeom prst="rect">
            <a:avLst/>
          </a:prstGeom>
          <a:noFill/>
          <a:ln/>
        </p:spPr>
        <p:txBody>
          <a:bodyPr wrap="none" lIns="0" tIns="0" rIns="0" bIns="0" rtlCol="0" anchor="t"/>
          <a:lstStyle/>
          <a:p>
            <a:pPr algn="l" indent="0" marL="0">
              <a:lnSpc>
                <a:spcPts val="1181"/>
              </a:lnSpc>
              <a:buNone/>
            </a:pPr>
            <a:r>
              <a:rPr lang="en-US" sz="800" spc="-4" kern="0" dirty="0">
                <a:solidFill>
                  <a:srgbClr val="1F4D3A"/>
                </a:solidFill>
                <a:latin typeface="Carlito" pitchFamily="34" charset="0"/>
                <a:ea typeface="Carlito" pitchFamily="34" charset="-122"/>
                <a:cs typeface="Carlito" pitchFamily="34" charset="-120"/>
              </a:rPr>
              <a:t>Office Timings &amp; Attendance</a:t>
            </a:r>
            <a:endParaRPr lang="en-US" sz="800" dirty="0"/>
          </a:p>
        </p:txBody>
      </p:sp>
      <p:sp>
        <p:nvSpPr>
          <p:cNvPr id="26" name="Text 24"/>
          <p:cNvSpPr/>
          <p:nvPr/>
        </p:nvSpPr>
        <p:spPr>
          <a:xfrm>
            <a:off x="650081" y="2257425"/>
            <a:ext cx="2467166" cy="199705"/>
          </a:xfrm>
          <a:prstGeom prst="rect">
            <a:avLst/>
          </a:prstGeom>
          <a:noFill/>
          <a:ln/>
        </p:spPr>
        <p:txBody>
          <a:bodyPr wrap="none" lIns="0" tIns="14288" rIns="0" bIns="14288" rtlCol="0" anchor="t"/>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Working days: Monday to Friday</a:t>
            </a:r>
            <a:endParaRPr lang="en-US" sz="800" dirty="0"/>
          </a:p>
        </p:txBody>
      </p:sp>
      <p:sp>
        <p:nvSpPr>
          <p:cNvPr id="27" name="Text 25"/>
          <p:cNvSpPr/>
          <p:nvPr/>
        </p:nvSpPr>
        <p:spPr>
          <a:xfrm>
            <a:off x="650081" y="2491383"/>
            <a:ext cx="2467166" cy="199705"/>
          </a:xfrm>
          <a:prstGeom prst="rect">
            <a:avLst/>
          </a:prstGeom>
          <a:noFill/>
          <a:ln/>
        </p:spPr>
        <p:txBody>
          <a:bodyPr wrap="square" lIns="0" tIns="14288" rIns="0" bIns="14288" rtlCol="0" anchor="t"/>
          <a:lstStyle/>
          <a:p>
            <a:pPr algn="l" indent="0" marL="0">
              <a:lnSpc>
                <a:spcPts val="1055"/>
              </a:lnSpc>
              <a:buNone/>
            </a:pPr>
            <a:r>
              <a:rPr lang="en-US" sz="800" dirty="0">
                <a:solidFill>
                  <a:srgbClr val="1A1A1A"/>
                </a:solidFill>
                <a:latin typeface="Liberation Sans Narrow" pitchFamily="34" charset="0"/>
                <a:ea typeface="Liberation Sans Narrow" pitchFamily="34" charset="-122"/>
                <a:cs typeface="Liberation Sans Narrow" pitchFamily="34" charset="-120"/>
              </a:rPr>
              <a:t>Core hours 09:00–17:30, 60-min break</a:t>
            </a:r>
            <a:endParaRPr lang="en-US" sz="800" dirty="0"/>
          </a:p>
        </p:txBody>
      </p:sp>
      <p:sp>
        <p:nvSpPr>
          <p:cNvPr id="28" name="Text 26"/>
          <p:cNvSpPr/>
          <p:nvPr/>
        </p:nvSpPr>
        <p:spPr>
          <a:xfrm>
            <a:off x="650081" y="2725341"/>
            <a:ext cx="2357438" cy="340471"/>
          </a:xfrm>
          <a:prstGeom prst="rect">
            <a:avLst/>
          </a:prstGeom>
          <a:noFill/>
          <a:ln/>
        </p:spPr>
        <p:txBody>
          <a:bodyPr wrap="square" lIns="0" tIns="14288" rIns="0" bIns="14288" rtlCol="0" anchor="t">
            <a:normAutofit/>
          </a:bodyPr>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Arrival after 09:15 = late; 3 lates/month = 1 unapproved half-day</a:t>
            </a:r>
            <a:endParaRPr lang="en-US" sz="800" dirty="0"/>
          </a:p>
        </p:txBody>
      </p:sp>
      <p:sp>
        <p:nvSpPr>
          <p:cNvPr id="29" name="Text 27"/>
          <p:cNvSpPr/>
          <p:nvPr/>
        </p:nvSpPr>
        <p:spPr>
          <a:xfrm>
            <a:off x="650081" y="3093244"/>
            <a:ext cx="2467166" cy="199705"/>
          </a:xfrm>
          <a:prstGeom prst="rect">
            <a:avLst/>
          </a:prstGeom>
          <a:noFill/>
          <a:ln/>
        </p:spPr>
        <p:txBody>
          <a:bodyPr wrap="square" lIns="0" tIns="14288" rIns="0" bIns="14288" rtlCol="0" anchor="t"/>
          <a:lstStyle/>
          <a:p>
            <a:pPr algn="l" indent="0" marL="0">
              <a:lnSpc>
                <a:spcPts val="1055"/>
              </a:lnSpc>
              <a:buNone/>
            </a:pPr>
            <a:r>
              <a:rPr lang="en-US" sz="703" dirty="0">
                <a:solidFill>
                  <a:srgbClr val="1A1A1A"/>
                </a:solidFill>
                <a:latin typeface="Carlito" pitchFamily="34" charset="0"/>
                <a:ea typeface="Carlito" pitchFamily="34" charset="-122"/>
                <a:cs typeface="Carlito" pitchFamily="34" charset="-120"/>
              </a:rPr>
              <a:t>Daily attendance marked at arrival &amp; departure</a:t>
            </a:r>
            <a:endParaRPr lang="en-US" sz="703" dirty="0"/>
          </a:p>
        </p:txBody>
      </p:sp>
      <p:sp>
        <p:nvSpPr>
          <p:cNvPr id="30" name="Text 28"/>
          <p:cNvSpPr/>
          <p:nvPr/>
        </p:nvSpPr>
        <p:spPr>
          <a:xfrm>
            <a:off x="650081" y="3327202"/>
            <a:ext cx="2467166" cy="199705"/>
          </a:xfrm>
          <a:prstGeom prst="rect">
            <a:avLst/>
          </a:prstGeom>
          <a:noFill/>
          <a:ln/>
        </p:spPr>
        <p:txBody>
          <a:bodyPr wrap="square" lIns="0" tIns="14288" rIns="0" bIns="14288" rtlCol="0" anchor="t"/>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Production floor: weekly shift roster</a:t>
            </a:r>
            <a:endParaRPr lang="en-US" sz="800" dirty="0"/>
          </a:p>
        </p:txBody>
      </p:sp>
      <p:sp>
        <p:nvSpPr>
          <p:cNvPr id="31" name="Text 29"/>
          <p:cNvSpPr/>
          <p:nvPr/>
        </p:nvSpPr>
        <p:spPr>
          <a:xfrm>
            <a:off x="3261122" y="1853803"/>
            <a:ext cx="2621756" cy="288607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32" name="Shape 30"/>
          <p:cNvSpPr/>
          <p:nvPr/>
        </p:nvSpPr>
        <p:spPr>
          <a:xfrm>
            <a:off x="3393281" y="2182416"/>
            <a:ext cx="2357438" cy="0"/>
          </a:xfrm>
          <a:prstGeom prst="line">
            <a:avLst/>
          </a:prstGeom>
          <a:noFill/>
          <a:ln w="7144">
            <a:solidFill>
              <a:srgbClr val="E2DCCB"/>
            </a:solidFill>
            <a:prstDash val="solid"/>
          </a:ln>
        </p:spPr>
      </p:sp>
      <p:sp>
        <p:nvSpPr>
          <p:cNvPr id="33" name="Text 31"/>
          <p:cNvSpPr/>
          <p:nvPr/>
        </p:nvSpPr>
        <p:spPr>
          <a:xfrm>
            <a:off x="3393281" y="1982391"/>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34" name="Text 32"/>
          <p:cNvSpPr/>
          <p:nvPr/>
        </p:nvSpPr>
        <p:spPr>
          <a:xfrm>
            <a:off x="3579019" y="1971675"/>
            <a:ext cx="2171700" cy="150019"/>
          </a:xfrm>
          <a:prstGeom prst="rect">
            <a:avLst/>
          </a:prstGeom>
          <a:noFill/>
          <a:ln/>
        </p:spPr>
        <p:txBody>
          <a:bodyPr wrap="none" lIns="0" tIns="0" rIns="0" bIns="0" rtlCol="0" anchor="t"/>
          <a:lstStyle/>
          <a:p>
            <a:pPr algn="l" indent="0" marL="0">
              <a:lnSpc>
                <a:spcPts val="1181"/>
              </a:lnSpc>
              <a:buNone/>
            </a:pPr>
            <a:r>
              <a:rPr lang="en-US" sz="800" spc="-4" kern="0" dirty="0">
                <a:solidFill>
                  <a:srgbClr val="1F4D3A"/>
                </a:solidFill>
                <a:latin typeface="Carlito" pitchFamily="34" charset="0"/>
                <a:ea typeface="Carlito" pitchFamily="34" charset="-122"/>
                <a:cs typeface="Carlito" pitchFamily="34" charset="-120"/>
              </a:rPr>
              <a:t>Leave Procedure</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393281" y="2257425"/>
          <a:ext cx="2357438" cy="914400"/>
        </p:xfrm>
        <a:graphic>
          <a:graphicData uri="http://schemas.openxmlformats.org/drawingml/2006/table">
            <a:tbl>
              <a:tblPr/>
              <a:tblGrid>
                <a:gridCol w="990079"/>
                <a:gridCol w="424272"/>
                <a:gridCol w="943087"/>
              </a:tblGrid>
              <a:tr h="0">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35719" marR="42863" marT="42863" marB="35719"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Days</a:t>
                      </a:r>
                      <a:endParaRPr lang="en-US" sz="800" dirty="0">
                        <a:latin typeface="Carlito" charset="0"/>
                        <a:ea typeface="Carlito" charset="0"/>
                        <a:cs typeface="Carlito" charset="0"/>
                      </a:endParaRPr>
                    </a:p>
                  </a:txBody>
                  <a:tcPr marL="35719" marR="42863" marT="42863" marB="35719"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Notice</a:t>
                      </a:r>
                      <a:endParaRPr lang="en-US" sz="800" dirty="0">
                        <a:latin typeface="Carlito" charset="0"/>
                        <a:ea typeface="Carlito" charset="0"/>
                        <a:cs typeface="Carlito" charset="0"/>
                      </a:endParaRPr>
                    </a:p>
                  </a:txBody>
                  <a:tcPr marL="35719" marR="42863" marT="42863" marB="35719"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Annual</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F4D3A"/>
                          </a:solidFill>
                          <a:latin typeface="Courier New" pitchFamily="34" charset="0"/>
                          <a:ea typeface="Courier New" pitchFamily="34" charset="-122"/>
                          <a:cs typeface="Courier New" pitchFamily="34" charset="-120"/>
                        </a:rPr>
                        <a:t>14</a:t>
                      </a:r>
                      <a:endParaRPr lang="en-US" sz="800" dirty="0">
                        <a:latin typeface="Courier New" charset="0"/>
                        <a:ea typeface="Courier New" charset="0"/>
                        <a:cs typeface="Courier New"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7 days notice</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Casual</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F4D3A"/>
                          </a:solidFill>
                          <a:latin typeface="Courier New" pitchFamily="34" charset="0"/>
                          <a:ea typeface="Courier New" pitchFamily="34" charset="-122"/>
                          <a:cs typeface="Courier New" pitchFamily="34" charset="-120"/>
                        </a:rPr>
                        <a:t>10</a:t>
                      </a:r>
                      <a:endParaRPr lang="en-US" sz="800" dirty="0">
                        <a:latin typeface="Courier New" charset="0"/>
                        <a:ea typeface="Courier New" charset="0"/>
                        <a:cs typeface="Courier New"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same day</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Sick</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F4D3A"/>
                          </a:solidFill>
                          <a:latin typeface="Courier New" pitchFamily="34" charset="0"/>
                          <a:ea typeface="Courier New" pitchFamily="34" charset="-122"/>
                          <a:cs typeface="Courier New" pitchFamily="34" charset="-120"/>
                        </a:rPr>
                        <a:t>8</a:t>
                      </a:r>
                      <a:endParaRPr lang="en-US" sz="800" dirty="0">
                        <a:latin typeface="Courier New" charset="0"/>
                        <a:ea typeface="Courier New" charset="0"/>
                        <a:cs typeface="Courier New"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med cert ≥2 days</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Maternity / paternity</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F4D3A"/>
                          </a:solidFill>
                          <a:latin typeface="Courier New" pitchFamily="34" charset="0"/>
                          <a:ea typeface="Courier New" pitchFamily="34" charset="-122"/>
                          <a:cs typeface="Courier New" pitchFamily="34" charset="-120"/>
                        </a:rPr>
                        <a:t>per law</a:t>
                      </a:r>
                      <a:endParaRPr lang="en-US" sz="800" dirty="0">
                        <a:latin typeface="Courier New" charset="0"/>
                        <a:ea typeface="Courier New" charset="0"/>
                        <a:cs typeface="Courier New"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per statute</a:t>
                      </a:r>
                      <a:endParaRPr lang="en-US" sz="800" dirty="0">
                        <a:latin typeface="Carlito" charset="0"/>
                        <a:ea typeface="Carlito" charset="0"/>
                        <a:cs typeface="Carlito" charset="0"/>
                      </a:endParaRPr>
                    </a:p>
                  </a:txBody>
                  <a:tcPr marL="42863" marR="42863" marT="42863" marB="42863" anchor="t">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bl>
          </a:graphicData>
        </a:graphic>
      </p:graphicFrame>
      <p:sp>
        <p:nvSpPr>
          <p:cNvPr id="36" name="Text 33"/>
          <p:cNvSpPr/>
          <p:nvPr/>
        </p:nvSpPr>
        <p:spPr>
          <a:xfrm>
            <a:off x="3514725" y="3430786"/>
            <a:ext cx="1162712" cy="139654"/>
          </a:xfrm>
          <a:prstGeom prst="rect">
            <a:avLst/>
          </a:prstGeom>
          <a:noFill/>
          <a:ln/>
        </p:spPr>
        <p:txBody>
          <a:bodyPr wrap="none" lIns="0" tIns="0" rIns="0" bIns="0" rtlCol="0" anchor="t"/>
          <a:lstStyle/>
          <a:p>
            <a:pPr algn="l" indent="0" marL="0">
              <a:lnSpc>
                <a:spcPts val="928"/>
              </a:lnSpc>
              <a:buNone/>
            </a:pPr>
            <a:r>
              <a:rPr lang="en-US" sz="619" i="1" dirty="0">
                <a:solidFill>
                  <a:srgbClr val="7A7A7A"/>
                </a:solidFill>
                <a:latin typeface="Carlito" pitchFamily="34" charset="0"/>
                <a:ea typeface="Carlito" pitchFamily="34" charset="-122"/>
                <a:cs typeface="Carlito" pitchFamily="34" charset="-120"/>
              </a:rPr>
              <a:t>Verify against Sindh labour law.</a:t>
            </a:r>
            <a:endParaRPr lang="en-US" sz="619" dirty="0"/>
          </a:p>
        </p:txBody>
      </p:sp>
      <p:sp>
        <p:nvSpPr>
          <p:cNvPr id="37" name="Text 34"/>
          <p:cNvSpPr/>
          <p:nvPr/>
        </p:nvSpPr>
        <p:spPr>
          <a:xfrm>
            <a:off x="3393281" y="3439716"/>
            <a:ext cx="91440" cy="91440"/>
          </a:xfrm>
          <a:prstGeom prst="rect">
            <a:avLst/>
          </a:prstGeom>
          <a:noFill/>
          <a:ln/>
        </p:spPr>
        <p:txBody>
          <a:bodyPr wrap="none" lIns="0" tIns="0" rIns="0" bIns="0" rtlCol="0" anchor="ctr"/>
          <a:lstStyle/>
          <a:p>
            <a:pPr algn="ctr" indent="0" marL="0">
              <a:buNone/>
            </a:pPr>
            <a:r>
              <a:rPr lang="en-US" sz="844" dirty="0">
                <a:solidFill>
                  <a:srgbClr val="B57820"/>
                </a:solidFill>
                <a:latin typeface="Segoe UI Symbol" pitchFamily="34" charset="0"/>
                <a:ea typeface="Segoe UI Symbol" pitchFamily="34" charset="-122"/>
                <a:cs typeface="Segoe UI Symbol" pitchFamily="34" charset="-120"/>
              </a:rPr>
              <a:t>ⓘ</a:t>
            </a:r>
            <a:endParaRPr lang="en-US" sz="844" dirty="0"/>
          </a:p>
        </p:txBody>
      </p:sp>
      <p:sp>
        <p:nvSpPr>
          <p:cNvPr id="38" name="Text 35"/>
          <p:cNvSpPr/>
          <p:nvPr/>
        </p:nvSpPr>
        <p:spPr>
          <a:xfrm>
            <a:off x="6004322" y="1853803"/>
            <a:ext cx="2621756" cy="288607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39" name="Shape 36"/>
          <p:cNvSpPr/>
          <p:nvPr/>
        </p:nvSpPr>
        <p:spPr>
          <a:xfrm>
            <a:off x="6136481" y="2182416"/>
            <a:ext cx="2357438" cy="0"/>
          </a:xfrm>
          <a:prstGeom prst="line">
            <a:avLst/>
          </a:prstGeom>
          <a:noFill/>
          <a:ln w="7144">
            <a:solidFill>
              <a:srgbClr val="E2DCCB"/>
            </a:solidFill>
            <a:prstDash val="solid"/>
          </a:ln>
        </p:spPr>
      </p:sp>
      <p:sp>
        <p:nvSpPr>
          <p:cNvPr id="40" name="Text 37"/>
          <p:cNvSpPr/>
          <p:nvPr/>
        </p:nvSpPr>
        <p:spPr>
          <a:xfrm>
            <a:off x="6136481" y="1982391"/>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41" name="Text 38"/>
          <p:cNvSpPr/>
          <p:nvPr/>
        </p:nvSpPr>
        <p:spPr>
          <a:xfrm>
            <a:off x="6322219" y="1971675"/>
            <a:ext cx="2171700" cy="150019"/>
          </a:xfrm>
          <a:prstGeom prst="rect">
            <a:avLst/>
          </a:prstGeom>
          <a:noFill/>
          <a:ln/>
        </p:spPr>
        <p:txBody>
          <a:bodyPr wrap="none" lIns="0" tIns="0" rIns="0" bIns="0" rtlCol="0" anchor="t"/>
          <a:lstStyle/>
          <a:p>
            <a:pPr algn="l" indent="0" marL="0">
              <a:lnSpc>
                <a:spcPts val="1181"/>
              </a:lnSpc>
              <a:buNone/>
            </a:pPr>
            <a:r>
              <a:rPr lang="en-US" sz="800" spc="-4" kern="0" dirty="0">
                <a:solidFill>
                  <a:srgbClr val="1F4D3A"/>
                </a:solidFill>
                <a:latin typeface="Carlito" pitchFamily="34" charset="0"/>
                <a:ea typeface="Carlito" pitchFamily="34" charset="-122"/>
                <a:cs typeface="Carlito" pitchFamily="34" charset="-120"/>
              </a:rPr>
              <a:t>Dress, Behaviour &amp; Discipline</a:t>
            </a:r>
            <a:endParaRPr lang="en-US" sz="800" dirty="0"/>
          </a:p>
        </p:txBody>
      </p:sp>
      <p:sp>
        <p:nvSpPr>
          <p:cNvPr id="42" name="Text 39"/>
          <p:cNvSpPr/>
          <p:nvPr/>
        </p:nvSpPr>
        <p:spPr>
          <a:xfrm>
            <a:off x="6136481" y="2257425"/>
            <a:ext cx="2357438" cy="199705"/>
          </a:xfrm>
          <a:prstGeom prst="rect">
            <a:avLst/>
          </a:prstGeom>
          <a:noFill/>
          <a:ln/>
        </p:spPr>
        <p:txBody>
          <a:bodyPr wrap="square" lIns="0" tIns="14288" rIns="0" bIns="14288" rtlCol="0" anchor="t"/>
          <a:lstStyle/>
          <a:p>
            <a:pPr algn="l" indent="0" marL="0">
              <a:lnSpc>
                <a:spcPts val="1055"/>
              </a:lnSpc>
              <a:buNone/>
            </a:pPr>
            <a:r>
              <a:rPr lang="en-US" sz="703" dirty="0">
                <a:solidFill>
                  <a:srgbClr val="1A1A1A"/>
                </a:solidFill>
                <a:latin typeface="Carlito" pitchFamily="34" charset="0"/>
                <a:ea typeface="Carlito" pitchFamily="34" charset="-122"/>
                <a:cs typeface="Carlito" pitchFamily="34" charset="-120"/>
              </a:rPr>
              <a:t>Smart casual in office; uniform on production floor</a:t>
            </a:r>
            <a:endParaRPr lang="en-US" sz="703" dirty="0"/>
          </a:p>
        </p:txBody>
      </p:sp>
      <p:sp>
        <p:nvSpPr>
          <p:cNvPr id="43" name="Text 40"/>
          <p:cNvSpPr/>
          <p:nvPr/>
        </p:nvSpPr>
        <p:spPr>
          <a:xfrm>
            <a:off x="6136481" y="2491383"/>
            <a:ext cx="2357438" cy="340471"/>
          </a:xfrm>
          <a:prstGeom prst="rect">
            <a:avLst/>
          </a:prstGeom>
          <a:noFill/>
          <a:ln/>
        </p:spPr>
        <p:txBody>
          <a:bodyPr wrap="square" lIns="0" tIns="14288" rIns="0" bIns="14288" rtlCol="0" anchor="t">
            <a:normAutofit/>
          </a:bodyPr>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Respect mandatory; harassment/discrimination not tolerated</a:t>
            </a:r>
            <a:endParaRPr lang="en-US" sz="800" dirty="0"/>
          </a:p>
        </p:txBody>
      </p:sp>
      <p:sp>
        <p:nvSpPr>
          <p:cNvPr id="44" name="Text 41"/>
          <p:cNvSpPr/>
          <p:nvPr/>
        </p:nvSpPr>
        <p:spPr>
          <a:xfrm>
            <a:off x="6136481" y="2859286"/>
            <a:ext cx="2467165" cy="199705"/>
          </a:xfrm>
          <a:prstGeom prst="rect">
            <a:avLst/>
          </a:prstGeom>
          <a:noFill/>
          <a:ln/>
        </p:spPr>
        <p:txBody>
          <a:bodyPr wrap="square" lIns="0" tIns="14288" rIns="0" bIns="14288" rtlCol="0" anchor="t"/>
          <a:lstStyle/>
          <a:p>
            <a:pPr algn="l" indent="0" marL="0">
              <a:lnSpc>
                <a:spcPts val="1055"/>
              </a:lnSpc>
              <a:buNone/>
            </a:pPr>
            <a:r>
              <a:rPr lang="en-US" sz="703" dirty="0">
                <a:solidFill>
                  <a:srgbClr val="1A1A1A"/>
                </a:solidFill>
                <a:latin typeface="Carlito" pitchFamily="34" charset="0"/>
                <a:ea typeface="Carlito" pitchFamily="34" charset="-122"/>
                <a:cs typeface="Carlito" pitchFamily="34" charset="-120"/>
              </a:rPr>
              <a:t>Clear desk at close of day; food away from servers</a:t>
            </a:r>
            <a:endParaRPr lang="en-US" sz="703" dirty="0"/>
          </a:p>
        </p:txBody>
      </p:sp>
      <p:sp>
        <p:nvSpPr>
          <p:cNvPr id="45" name="Text 42"/>
          <p:cNvSpPr/>
          <p:nvPr/>
        </p:nvSpPr>
        <p:spPr>
          <a:xfrm>
            <a:off x="6136481" y="3093244"/>
            <a:ext cx="2357438" cy="340471"/>
          </a:xfrm>
          <a:prstGeom prst="rect">
            <a:avLst/>
          </a:prstGeom>
          <a:noFill/>
          <a:ln/>
        </p:spPr>
        <p:txBody>
          <a:bodyPr wrap="square" lIns="0" tIns="14288" rIns="0" bIns="14288" rtlCol="0" anchor="t">
            <a:normAutofit/>
          </a:bodyPr>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4-step disciplinary process: verbal → written → final → suspension/termination</a:t>
            </a:r>
            <a:endParaRPr lang="en-US" sz="800" dirty="0"/>
          </a:p>
        </p:txBody>
      </p:sp>
      <p:sp>
        <p:nvSpPr>
          <p:cNvPr id="46" name="Text 43"/>
          <p:cNvSpPr/>
          <p:nvPr/>
        </p:nvSpPr>
        <p:spPr>
          <a:xfrm>
            <a:off x="6136481" y="3461147"/>
            <a:ext cx="2357438" cy="364297"/>
          </a:xfrm>
          <a:prstGeom prst="rect">
            <a:avLst/>
          </a:prstGeom>
          <a:noFill/>
          <a:ln/>
        </p:spPr>
        <p:txBody>
          <a:bodyPr wrap="square" lIns="0" tIns="14288" rIns="0" bIns="14288" rtlCol="0" anchor="t"/>
          <a:lstStyle/>
          <a:p>
            <a:pPr algn="l" indent="0" marL="0">
              <a:lnSpc>
                <a:spcPts val="1055"/>
              </a:lnSpc>
              <a:buNone/>
            </a:pPr>
            <a:r>
              <a:rPr lang="en-US" sz="800" dirty="0">
                <a:solidFill>
                  <a:srgbClr val="1A1A1A"/>
                </a:solidFill>
                <a:latin typeface="Carlito" pitchFamily="34" charset="0"/>
                <a:ea typeface="Carlito" pitchFamily="34" charset="-122"/>
                <a:cs typeface="Carlito" pitchFamily="34" charset="-120"/>
              </a:rPr>
              <a:t>Reporting ladder: Supervisor → Function Head → CEO → Owner</a:t>
            </a:r>
            <a:endParaRPr lang="en-US" sz="800" dirty="0"/>
          </a:p>
        </p:txBody>
      </p:sp>
      <p:sp>
        <p:nvSpPr>
          <p:cNvPr id="47" name="Shape 44"/>
          <p:cNvSpPr/>
          <p:nvPr/>
        </p:nvSpPr>
        <p:spPr>
          <a:xfrm>
            <a:off x="514350" y="4764881"/>
            <a:ext cx="8115300" cy="0"/>
          </a:xfrm>
          <a:prstGeom prst="line">
            <a:avLst/>
          </a:prstGeom>
          <a:noFill/>
          <a:ln w="7144">
            <a:solidFill>
              <a:srgbClr val="E2DCCB"/>
            </a:solidFill>
            <a:prstDash val="solid"/>
          </a:ln>
        </p:spPr>
      </p:sp>
      <p:sp>
        <p:nvSpPr>
          <p:cNvPr id="48" name="Text 45"/>
          <p:cNvSpPr/>
          <p:nvPr/>
        </p:nvSpPr>
        <p:spPr>
          <a:xfrm>
            <a:off x="514350" y="4854178"/>
            <a:ext cx="7464437"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49" name="Text 46"/>
          <p:cNvSpPr/>
          <p:nvPr/>
        </p:nvSpPr>
        <p:spPr>
          <a:xfrm>
            <a:off x="7993075" y="4854178"/>
            <a:ext cx="636575" cy="117872"/>
          </a:xfrm>
          <a:prstGeom prst="rect">
            <a:avLst/>
          </a:prstGeom>
          <a:noFill/>
          <a:ln/>
        </p:spPr>
        <p:txBody>
          <a:bodyPr wrap="non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TWV-OPS-SOP-001</a:t>
            </a:r>
            <a:endParaRPr lang="en-US" sz="61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66567" y="433983"/>
            <a:ext cx="579222" cy="151805"/>
          </a:xfrm>
          <a:prstGeom prst="rect">
            <a:avLst/>
          </a:prstGeom>
          <a:noFill/>
          <a:ln/>
        </p:spPr>
        <p:txBody>
          <a:bodyPr wrap="none" lIns="0" tIns="0" rIns="0" bIns="0" rtlCol="0" anchor="t"/>
          <a:lstStyle/>
          <a:p>
            <a:pPr algn="l" indent="0" marL="0">
              <a:lnSpc>
                <a:spcPts val="928"/>
              </a:lnSpc>
              <a:buNone/>
            </a:pPr>
            <a:r>
              <a:rPr lang="en-US" sz="619" spc="50" kern="0" dirty="0">
                <a:solidFill>
                  <a:srgbClr val="7A7A7A"/>
                </a:solidFill>
                <a:latin typeface="Liberation Sans Narrow" pitchFamily="34" charset="0"/>
                <a:ea typeface="Liberation Sans Narrow" pitchFamily="34" charset="-122"/>
                <a:cs typeface="Liberation Sans Narrow" pitchFamily="34" charset="-120"/>
              </a:rPr>
              <a:t>Page 06 / 15</a:t>
            </a:r>
            <a:endParaRPr lang="en-US" sz="619" dirty="0"/>
          </a:p>
        </p:txBody>
      </p:sp>
      <p:sp>
        <p:nvSpPr>
          <p:cNvPr id="9" name="Text 7"/>
          <p:cNvSpPr/>
          <p:nvPr/>
        </p:nvSpPr>
        <p:spPr>
          <a:xfrm>
            <a:off x="514350" y="921544"/>
            <a:ext cx="862965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DELIVERABLES 03 + 04</a:t>
            </a:r>
            <a:endParaRPr lang="en-US" sz="800" dirty="0"/>
          </a:p>
        </p:txBody>
      </p:sp>
      <p:sp>
        <p:nvSpPr>
          <p:cNvPr id="10" name="Text 8"/>
          <p:cNvSpPr/>
          <p:nvPr/>
        </p:nvSpPr>
        <p:spPr>
          <a:xfrm>
            <a:off x="514350" y="1082278"/>
            <a:ext cx="8455343" cy="26680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F4D3A"/>
                </a:solidFill>
                <a:latin typeface="Tinos" pitchFamily="34" charset="0"/>
                <a:ea typeface="Tinos" pitchFamily="34" charset="-122"/>
                <a:cs typeface="Tinos" pitchFamily="34" charset="-120"/>
              </a:rPr>
              <a:t>IT Rules &amp; Security Posture</a:t>
            </a:r>
            <a:endParaRPr lang="en-US" sz="1800" dirty="0"/>
          </a:p>
        </p:txBody>
      </p:sp>
      <p:sp>
        <p:nvSpPr>
          <p:cNvPr id="11" name="Text 9"/>
          <p:cNvSpPr/>
          <p:nvPr/>
        </p:nvSpPr>
        <p:spPr>
          <a:xfrm>
            <a:off x="514350" y="1376511"/>
            <a:ext cx="7686675"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TWV-IT-POL-001 + TWV-SEC-SOP-001 • Owners: IT Manager &amp; Security Manager</a:t>
            </a:r>
            <a:endParaRPr lang="en-US" sz="800" dirty="0"/>
          </a:p>
        </p:txBody>
      </p:sp>
      <p:sp>
        <p:nvSpPr>
          <p:cNvPr id="12" name="Text 10"/>
          <p:cNvSpPr/>
          <p:nvPr/>
        </p:nvSpPr>
        <p:spPr>
          <a:xfrm>
            <a:off x="8201025" y="1078706"/>
            <a:ext cx="428625"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3" name="Text 11"/>
          <p:cNvSpPr/>
          <p:nvPr/>
        </p:nvSpPr>
        <p:spPr>
          <a:xfrm>
            <a:off x="700088" y="1622971"/>
            <a:ext cx="1486994" cy="138875"/>
          </a:xfrm>
          <a:prstGeom prst="rect">
            <a:avLst/>
          </a:prstGeom>
          <a:noFill/>
          <a:ln/>
        </p:spPr>
        <p:txBody>
          <a:bodyPr wrap="none" lIns="0" tIns="0" rIns="0" bIns="0" rtlCol="0" anchor="t"/>
          <a:lstStyle/>
          <a:p>
            <a:pPr algn="l" indent="0" marL="0">
              <a:lnSpc>
                <a:spcPts val="1266"/>
              </a:lnSpc>
              <a:buNone/>
            </a:pPr>
            <a:r>
              <a:rPr lang="en-US" sz="844" spc="4" kern="0" dirty="0">
                <a:solidFill>
                  <a:srgbClr val="1F4D3A"/>
                </a:solidFill>
                <a:latin typeface="Carlito" pitchFamily="34" charset="0"/>
                <a:ea typeface="Carlito" pitchFamily="34" charset="-122"/>
                <a:cs typeface="Carlito" pitchFamily="34" charset="-120"/>
              </a:rPr>
              <a:t>IT Rules &amp; Regulations Policy</a:t>
            </a:r>
            <a:endParaRPr lang="en-US" sz="844" dirty="0"/>
          </a:p>
        </p:txBody>
      </p:sp>
      <p:sp>
        <p:nvSpPr>
          <p:cNvPr id="14" name="Text 12"/>
          <p:cNvSpPr/>
          <p:nvPr/>
        </p:nvSpPr>
        <p:spPr>
          <a:xfrm>
            <a:off x="514350" y="1624757"/>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514350" y="1855143"/>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ACCEPTABLE USE</a:t>
            </a:r>
            <a:endParaRPr lang="en-US" sz="800" dirty="0"/>
          </a:p>
        </p:txBody>
      </p:sp>
      <p:sp>
        <p:nvSpPr>
          <p:cNvPr id="16" name="Text 14"/>
          <p:cNvSpPr/>
          <p:nvPr/>
        </p:nvSpPr>
        <p:spPr>
          <a:xfrm>
            <a:off x="514350" y="2005161"/>
            <a:ext cx="3854053" cy="123480"/>
          </a:xfrm>
          <a:prstGeom prst="rect">
            <a:avLst/>
          </a:prstGeom>
          <a:noFill/>
          <a:ln/>
        </p:spPr>
        <p:txBody>
          <a:bodyPr wrap="square" lIns="100013"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Company devices for business use; light personal use allowed if it doesn’t compromise security</a:t>
            </a:r>
            <a:endParaRPr lang="en-US" sz="703" dirty="0"/>
          </a:p>
        </p:txBody>
      </p:sp>
      <p:sp>
        <p:nvSpPr>
          <p:cNvPr id="17" name="Text 15"/>
          <p:cNvSpPr/>
          <p:nvPr/>
        </p:nvSpPr>
        <p:spPr>
          <a:xfrm>
            <a:off x="514350" y="2156073"/>
            <a:ext cx="3854053" cy="123480"/>
          </a:xfrm>
          <a:prstGeom prst="rect">
            <a:avLst/>
          </a:prstGeom>
          <a:noFill/>
          <a:ln/>
        </p:spPr>
        <p:txBody>
          <a:bodyPr wrap="square" lIns="100013"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Approved email + business messaging app are the only channels for client matters</a:t>
            </a:r>
            <a:endParaRPr lang="en-US" sz="703" dirty="0"/>
          </a:p>
        </p:txBody>
      </p:sp>
      <p:sp>
        <p:nvSpPr>
          <p:cNvPr id="18" name="Text 16"/>
          <p:cNvSpPr/>
          <p:nvPr/>
        </p:nvSpPr>
        <p:spPr>
          <a:xfrm>
            <a:off x="514350" y="2306985"/>
            <a:ext cx="3854053" cy="123480"/>
          </a:xfrm>
          <a:prstGeom prst="rect">
            <a:avLst/>
          </a:prstGeom>
          <a:noFill/>
          <a:ln/>
        </p:spPr>
        <p:txBody>
          <a:bodyPr wrap="square" lIns="100013"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Passwords ≥12 chars, unique per system, MFA mandatory on email/cloud/finance/social</a:t>
            </a:r>
            <a:endParaRPr lang="en-US" sz="703" dirty="0"/>
          </a:p>
        </p:txBody>
      </p:sp>
      <p:sp>
        <p:nvSpPr>
          <p:cNvPr id="19" name="Text 17"/>
          <p:cNvSpPr/>
          <p:nvPr/>
        </p:nvSpPr>
        <p:spPr>
          <a:xfrm>
            <a:off x="514350" y="2457896"/>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Only IT Manager installs software; every licence logged</a:t>
            </a:r>
            <a:endParaRPr lang="en-US" sz="800" dirty="0"/>
          </a:p>
        </p:txBody>
      </p:sp>
      <p:sp>
        <p:nvSpPr>
          <p:cNvPr id="20" name="Text 18"/>
          <p:cNvSpPr/>
          <p:nvPr/>
        </p:nvSpPr>
        <p:spPr>
          <a:xfrm>
            <a:off x="514350" y="2673102"/>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DATA CLASSES &amp; RETENTION</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14350" y="2823121"/>
          <a:ext cx="3854053" cy="914400"/>
        </p:xfrm>
        <a:graphic>
          <a:graphicData uri="http://schemas.openxmlformats.org/drawingml/2006/table">
            <a:tbl>
              <a:tblPr/>
              <a:tblGrid>
                <a:gridCol w="1079041"/>
                <a:gridCol w="1464469"/>
                <a:gridCol w="1310543"/>
              </a:tblGrid>
              <a:tr h="0">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Class</a:t>
                      </a:r>
                      <a:endParaRPr lang="en-US" sz="800" dirty="0">
                        <a:latin typeface="Carlito" charset="0"/>
                        <a:ea typeface="Carlito" charset="0"/>
                        <a:cs typeface="Carlito" charset="0"/>
                      </a:endParaRPr>
                    </a:p>
                  </a:txBody>
                  <a:tcPr marL="28575" marR="42863" marT="42863"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Access</a:t>
                      </a:r>
                      <a:endParaRPr lang="en-US" sz="800" dirty="0">
                        <a:latin typeface="Carlito" charset="0"/>
                        <a:ea typeface="Carlito" charset="0"/>
                        <a:cs typeface="Carlito" charset="0"/>
                      </a:endParaRPr>
                    </a:p>
                  </a:txBody>
                  <a:tcPr marL="28575" marR="42863" marT="42863"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Retention</a:t>
                      </a:r>
                      <a:endParaRPr lang="en-US" sz="800" dirty="0">
                        <a:latin typeface="Carlito" charset="0"/>
                        <a:ea typeface="Carlito" charset="0"/>
                        <a:cs typeface="Carlito" charset="0"/>
                      </a:endParaRPr>
                    </a:p>
                  </a:txBody>
                  <a:tcPr marL="28575" marR="42863" marT="42863"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Restricted</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Named staff + MFA</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Clients 5y / Employees 7y</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Internal</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All staff by role</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5y</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Public</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Anyone</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4A4A4A"/>
                          </a:solidFill>
                          <a:latin typeface="Carlito" pitchFamily="34" charset="0"/>
                          <a:ea typeface="Carlito" pitchFamily="34" charset="-122"/>
                          <a:cs typeface="Carlito" pitchFamily="34" charset="-120"/>
                        </a:rPr>
                        <a:t>Until withdrawn</a:t>
                      </a:r>
                      <a:endParaRPr lang="en-US" sz="800" dirty="0">
                        <a:latin typeface="Carlito" charset="0"/>
                        <a:ea typeface="Carlito" charset="0"/>
                        <a:cs typeface="Carlito" charset="0"/>
                      </a:endParaRPr>
                    </a:p>
                  </a:txBody>
                  <a:tcPr marL="35719" marR="42863" marT="42863"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22" name="Text 19"/>
          <p:cNvSpPr/>
          <p:nvPr/>
        </p:nvSpPr>
        <p:spPr>
          <a:xfrm>
            <a:off x="514350" y="3675013"/>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AI USE — HUMAN IN THE LOOP</a:t>
            </a:r>
            <a:endParaRPr lang="en-US" sz="800" dirty="0"/>
          </a:p>
        </p:txBody>
      </p:sp>
      <p:sp>
        <p:nvSpPr>
          <p:cNvPr id="23" name="Text 20"/>
          <p:cNvSpPr/>
          <p:nvPr/>
        </p:nvSpPr>
        <p:spPr>
          <a:xfrm>
            <a:off x="514350" y="3825032"/>
            <a:ext cx="3854053" cy="318211"/>
          </a:xfrm>
          <a:prstGeom prst="rect">
            <a:avLst/>
          </a:prstGeom>
          <a:noFill/>
          <a:ln/>
        </p:spPr>
        <p:txBody>
          <a:bodyPr wrap="square" lIns="0" tIns="0" rIns="0" bIns="0" rtlCol="0" anchor="t"/>
          <a:lstStyle/>
          <a:p>
            <a:pPr algn="l" indent="0" marL="0">
              <a:lnSpc>
                <a:spcPts val="1020"/>
              </a:lnSpc>
              <a:buNone/>
            </a:pPr>
            <a:r>
              <a:rPr lang="en-US" sz="800" i="1" dirty="0">
                <a:solidFill>
                  <a:srgbClr val="4A4A4A"/>
                </a:solidFill>
                <a:latin typeface="Carlito" pitchFamily="34" charset="0"/>
                <a:ea typeface="Carlito" pitchFamily="34" charset="-122"/>
                <a:cs typeface="Carlito" pitchFamily="34" charset="-120"/>
              </a:rPr>
              <a:t>AI may draft, summarise, suggest. A qualified human reviews and signs off before anything is published, sent to a client, or used in a diet plan.</a:t>
            </a:r>
            <a:endParaRPr lang="en-US" sz="800" dirty="0"/>
          </a:p>
        </p:txBody>
      </p:sp>
      <p:sp>
        <p:nvSpPr>
          <p:cNvPr id="24" name="Text 21"/>
          <p:cNvSpPr/>
          <p:nvPr/>
        </p:nvSpPr>
        <p:spPr>
          <a:xfrm>
            <a:off x="4568428" y="1608683"/>
            <a:ext cx="7144" cy="3134767"/>
          </a:xfrm>
          <a:prstGeom prst="rect">
            <a:avLst/>
          </a:prstGeom>
          <a:solidFill>
            <a:srgbClr val="F4C77B"/>
          </a:solidFill>
          <a:ln/>
        </p:spPr>
        <p:txBody>
          <a:bodyPr wrap="square" rtlCol="0" anchor="ctr"/>
          <a:lstStyle/>
          <a:p>
            <a:pPr indent="0" marL="0">
              <a:buNone/>
            </a:pPr>
            <a:endParaRPr lang="en-US" dirty="0"/>
          </a:p>
        </p:txBody>
      </p:sp>
      <p:sp>
        <p:nvSpPr>
          <p:cNvPr id="25" name="Text 22"/>
          <p:cNvSpPr/>
          <p:nvPr/>
        </p:nvSpPr>
        <p:spPr>
          <a:xfrm>
            <a:off x="4961334" y="1622971"/>
            <a:ext cx="1386613" cy="138875"/>
          </a:xfrm>
          <a:prstGeom prst="rect">
            <a:avLst/>
          </a:prstGeom>
          <a:noFill/>
          <a:ln/>
        </p:spPr>
        <p:txBody>
          <a:bodyPr wrap="none" lIns="0" tIns="0" rIns="0" bIns="0" rtlCol="0" anchor="t"/>
          <a:lstStyle/>
          <a:p>
            <a:pPr algn="l" indent="0" marL="0">
              <a:lnSpc>
                <a:spcPts val="1266"/>
              </a:lnSpc>
              <a:buNone/>
            </a:pPr>
            <a:r>
              <a:rPr lang="en-US" sz="844" spc="4" kern="0" dirty="0">
                <a:solidFill>
                  <a:srgbClr val="1F4D3A"/>
                </a:solidFill>
                <a:latin typeface="Carlito" pitchFamily="34" charset="0"/>
                <a:ea typeface="Carlito" pitchFamily="34" charset="-122"/>
                <a:cs typeface="Carlito" pitchFamily="34" charset="-120"/>
              </a:rPr>
              <a:t>Security Measures SOP</a:t>
            </a:r>
            <a:endParaRPr lang="en-US" sz="844" dirty="0"/>
          </a:p>
        </p:txBody>
      </p:sp>
      <p:sp>
        <p:nvSpPr>
          <p:cNvPr id="26" name="Text 23"/>
          <p:cNvSpPr/>
          <p:nvPr/>
        </p:nvSpPr>
        <p:spPr>
          <a:xfrm>
            <a:off x="4775597" y="1624757"/>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27" name="Text 24"/>
          <p:cNvSpPr/>
          <p:nvPr/>
        </p:nvSpPr>
        <p:spPr>
          <a:xfrm>
            <a:off x="4775597" y="1855143"/>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PHYSICAL &amp; ACCESS CONTROL</a:t>
            </a:r>
            <a:endParaRPr lang="en-US" sz="800" dirty="0"/>
          </a:p>
        </p:txBody>
      </p:sp>
      <p:sp>
        <p:nvSpPr>
          <p:cNvPr id="28" name="Text 25"/>
          <p:cNvSpPr/>
          <p:nvPr/>
        </p:nvSpPr>
        <p:spPr>
          <a:xfrm>
            <a:off x="4775597" y="2005161"/>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Access control: ID badges, visitor log, escort policy</a:t>
            </a:r>
            <a:endParaRPr lang="en-US" sz="800" dirty="0"/>
          </a:p>
        </p:txBody>
      </p:sp>
      <p:sp>
        <p:nvSpPr>
          <p:cNvPr id="29" name="Text 26"/>
          <p:cNvSpPr/>
          <p:nvPr/>
        </p:nvSpPr>
        <p:spPr>
          <a:xfrm>
            <a:off x="4775597" y="2156073"/>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CCTV at entry, production, storage; footage retained 30 days</a:t>
            </a:r>
            <a:endParaRPr lang="en-US" sz="800" dirty="0"/>
          </a:p>
        </p:txBody>
      </p:sp>
      <p:sp>
        <p:nvSpPr>
          <p:cNvPr id="30" name="Text 27"/>
          <p:cNvSpPr/>
          <p:nvPr/>
        </p:nvSpPr>
        <p:spPr>
          <a:xfrm>
            <a:off x="4775597" y="2306985"/>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Production &amp; storage restricted to authorised staff</a:t>
            </a:r>
            <a:endParaRPr lang="en-US" sz="800" dirty="0"/>
          </a:p>
        </p:txBody>
      </p:sp>
      <p:sp>
        <p:nvSpPr>
          <p:cNvPr id="31" name="Text 28"/>
          <p:cNvSpPr/>
          <p:nvPr/>
        </p:nvSpPr>
        <p:spPr>
          <a:xfrm>
            <a:off x="4775597" y="2457896"/>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Daily opening/closing checks by Supervisor</a:t>
            </a:r>
            <a:endParaRPr lang="en-US" sz="800" dirty="0"/>
          </a:p>
        </p:txBody>
      </p:sp>
      <p:sp>
        <p:nvSpPr>
          <p:cNvPr id="32" name="Text 29"/>
          <p:cNvSpPr/>
          <p:nvPr/>
        </p:nvSpPr>
        <p:spPr>
          <a:xfrm>
            <a:off x="4775597" y="2673102"/>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INCIDENT RESPONSE</a:t>
            </a:r>
            <a:endParaRPr lang="en-US" sz="800" dirty="0"/>
          </a:p>
        </p:txBody>
      </p:sp>
      <p:sp>
        <p:nvSpPr>
          <p:cNvPr id="33" name="Text 30"/>
          <p:cNvSpPr/>
          <p:nvPr/>
        </p:nvSpPr>
        <p:spPr>
          <a:xfrm>
            <a:off x="4947047" y="2830264"/>
            <a:ext cx="1852910"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Report loss/breach to IT Manager within 1 hour</a:t>
            </a:r>
            <a:endParaRPr lang="en-US" sz="703" dirty="0"/>
          </a:p>
        </p:txBody>
      </p:sp>
      <p:sp>
        <p:nvSpPr>
          <p:cNvPr id="34" name="Text 31"/>
          <p:cNvSpPr/>
          <p:nvPr/>
        </p:nvSpPr>
        <p:spPr>
          <a:xfrm>
            <a:off x="4762257" y="2823121"/>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1.</a:t>
            </a:r>
            <a:endParaRPr lang="en-US" sz="800" dirty="0"/>
          </a:p>
        </p:txBody>
      </p:sp>
      <p:sp>
        <p:nvSpPr>
          <p:cNvPr id="35" name="Text 32"/>
          <p:cNvSpPr/>
          <p:nvPr/>
        </p:nvSpPr>
        <p:spPr>
          <a:xfrm>
            <a:off x="4947047" y="2981176"/>
            <a:ext cx="2122475"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IT Manager contains, logs, informs CEO within 4 hours</a:t>
            </a:r>
            <a:endParaRPr lang="en-US" sz="703" dirty="0"/>
          </a:p>
        </p:txBody>
      </p:sp>
      <p:sp>
        <p:nvSpPr>
          <p:cNvPr id="36" name="Text 33"/>
          <p:cNvSpPr/>
          <p:nvPr/>
        </p:nvSpPr>
        <p:spPr>
          <a:xfrm>
            <a:off x="4762257" y="2974032"/>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2.</a:t>
            </a:r>
            <a:endParaRPr lang="en-US" sz="800" dirty="0"/>
          </a:p>
        </p:txBody>
      </p:sp>
      <p:sp>
        <p:nvSpPr>
          <p:cNvPr id="37" name="Text 34"/>
          <p:cNvSpPr/>
          <p:nvPr/>
        </p:nvSpPr>
        <p:spPr>
          <a:xfrm>
            <a:off x="4947047" y="3132088"/>
            <a:ext cx="2837185"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Serious breaches: notify affected clients &amp; authorities as required by law</a:t>
            </a:r>
            <a:endParaRPr lang="en-US" sz="703" dirty="0"/>
          </a:p>
        </p:txBody>
      </p:sp>
      <p:sp>
        <p:nvSpPr>
          <p:cNvPr id="38" name="Text 35"/>
          <p:cNvSpPr/>
          <p:nvPr/>
        </p:nvSpPr>
        <p:spPr>
          <a:xfrm>
            <a:off x="4762257" y="3124944"/>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3.</a:t>
            </a:r>
            <a:endParaRPr lang="en-US" sz="800" dirty="0"/>
          </a:p>
        </p:txBody>
      </p:sp>
      <p:sp>
        <p:nvSpPr>
          <p:cNvPr id="39" name="Text 36"/>
          <p:cNvSpPr/>
          <p:nvPr/>
        </p:nvSpPr>
        <p:spPr>
          <a:xfrm>
            <a:off x="4947047" y="3283000"/>
            <a:ext cx="2575210" cy="140452"/>
          </a:xfrm>
          <a:prstGeom prst="rect">
            <a:avLst/>
          </a:prstGeom>
          <a:noFill/>
          <a:ln/>
        </p:spPr>
        <p:txBody>
          <a:bodyPr wrap="square" lIns="171450" tIns="0" rIns="0" bIns="0" rtlCol="0" anchor="t"/>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On exit, all accounts/keys/devices disabled or returned same day</a:t>
            </a:r>
            <a:endParaRPr lang="en-US" sz="703" dirty="0"/>
          </a:p>
        </p:txBody>
      </p:sp>
      <p:sp>
        <p:nvSpPr>
          <p:cNvPr id="40" name="Text 37"/>
          <p:cNvSpPr/>
          <p:nvPr/>
        </p:nvSpPr>
        <p:spPr>
          <a:xfrm>
            <a:off x="4762257" y="3275856"/>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4.</a:t>
            </a:r>
            <a:endParaRPr lang="en-US" sz="800" dirty="0"/>
          </a:p>
        </p:txBody>
      </p:sp>
      <p:sp>
        <p:nvSpPr>
          <p:cNvPr id="41" name="Text 38"/>
          <p:cNvSpPr/>
          <p:nvPr/>
        </p:nvSpPr>
        <p:spPr>
          <a:xfrm>
            <a:off x="4775597" y="3491061"/>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SAFETY &amp; DRILLS</a:t>
            </a:r>
            <a:endParaRPr lang="en-US" sz="800" dirty="0"/>
          </a:p>
        </p:txBody>
      </p:sp>
      <p:sp>
        <p:nvSpPr>
          <p:cNvPr id="42" name="Text 39"/>
          <p:cNvSpPr/>
          <p:nvPr/>
        </p:nvSpPr>
        <p:spPr>
          <a:xfrm>
            <a:off x="4775597" y="3641080"/>
            <a:ext cx="3854053" cy="159106"/>
          </a:xfrm>
          <a:prstGeom prst="rect">
            <a:avLst/>
          </a:prstGeom>
          <a:noFill/>
          <a:ln/>
        </p:spPr>
        <p:txBody>
          <a:bodyPr wrap="square" lIns="0" tIns="0" rIns="0" bIns="0" rtlCol="0" anchor="t"/>
          <a:lstStyle/>
          <a:p>
            <a:pPr algn="l" indent="0" marL="0">
              <a:lnSpc>
                <a:spcPts val="1020"/>
              </a:lnSpc>
              <a:buNone/>
            </a:pPr>
            <a:r>
              <a:rPr lang="en-US" sz="703" i="1" dirty="0">
                <a:solidFill>
                  <a:srgbClr val="4A4A4A"/>
                </a:solidFill>
                <a:latin typeface="Carlito" pitchFamily="34" charset="0"/>
                <a:ea typeface="Carlito" pitchFamily="34" charset="-122"/>
                <a:cs typeface="Carlito" pitchFamily="34" charset="-120"/>
              </a:rPr>
              <a:t>Quarterly evacuation, fire, and first-aid drills; emergency contacts maintained by Security Manager.</a:t>
            </a:r>
            <a:endParaRPr lang="en-US" sz="703" dirty="0"/>
          </a:p>
        </p:txBody>
      </p:sp>
      <p:sp>
        <p:nvSpPr>
          <p:cNvPr id="43" name="Shape 40"/>
          <p:cNvSpPr/>
          <p:nvPr/>
        </p:nvSpPr>
        <p:spPr>
          <a:xfrm>
            <a:off x="514350" y="4764881"/>
            <a:ext cx="8115300" cy="0"/>
          </a:xfrm>
          <a:prstGeom prst="line">
            <a:avLst/>
          </a:prstGeom>
          <a:noFill/>
          <a:ln w="7144">
            <a:solidFill>
              <a:srgbClr val="E2DCCB"/>
            </a:solidFill>
            <a:prstDash val="solid"/>
          </a:ln>
        </p:spPr>
      </p:sp>
      <p:sp>
        <p:nvSpPr>
          <p:cNvPr id="44" name="Text 41"/>
          <p:cNvSpPr/>
          <p:nvPr/>
        </p:nvSpPr>
        <p:spPr>
          <a:xfrm>
            <a:off x="514350" y="4854178"/>
            <a:ext cx="6743030"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45" name="Text 42"/>
          <p:cNvSpPr/>
          <p:nvPr/>
        </p:nvSpPr>
        <p:spPr>
          <a:xfrm>
            <a:off x="7271668" y="4854178"/>
            <a:ext cx="1439461" cy="117872"/>
          </a:xfrm>
          <a:prstGeom prst="rect">
            <a:avLst/>
          </a:prstGeom>
          <a:noFill/>
          <a:ln/>
        </p:spPr>
        <p:txBody>
          <a:bodyPr wrap="squar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TWV-IT-POL-001 + TWV-SEC-SOP-001</a:t>
            </a:r>
            <a:endParaRPr lang="en-US" sz="61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4480903" y="-285750"/>
            <a:ext cx="4663097" cy="2777490"/>
          </a:xfrm>
          <a:prstGeom prst="rect">
            <a:avLst/>
          </a:prstGeom>
          <a:noFill/>
          <a:ln/>
        </p:spPr>
        <p:txBody>
          <a:bodyPr wrap="square" lIns="0" tIns="0" rIns="0" bIns="0" rtlCol="0" anchor="t"/>
          <a:lstStyle/>
          <a:p>
            <a:pPr algn="l" indent="0" marL="0">
              <a:lnSpc>
                <a:spcPts val="20250"/>
              </a:lnSpc>
              <a:buNone/>
            </a:pPr>
            <a:r>
              <a:rPr lang="en-US" sz="20250" b="1" spc="-810" kern="0" dirty="0">
                <a:solidFill>
                  <a:srgbClr val="E8A33D">
                    <a:alpha val="5000"/>
                  </a:srgbClr>
                </a:solidFill>
                <a:latin typeface="Liberation Sans Narrow" pitchFamily="34" charset="0"/>
                <a:ea typeface="Liberation Sans Narrow" pitchFamily="34" charset="-122"/>
                <a:cs typeface="Liberation Sans Narrow" pitchFamily="34" charset="-120"/>
              </a:rPr>
              <a:t>02</a:t>
            </a:r>
            <a:endParaRPr lang="en-US" sz="20250" dirty="0"/>
          </a:p>
        </p:txBody>
      </p:sp>
      <p:sp>
        <p:nvSpPr>
          <p:cNvPr id="3" name="Text 1"/>
          <p:cNvSpPr/>
          <p:nvPr/>
        </p:nvSpPr>
        <p:spPr>
          <a:xfrm>
            <a:off x="8082707" y="287536"/>
            <a:ext cx="57150" cy="57150"/>
          </a:xfrm>
          <a:prstGeom prst="ellipse">
            <a:avLst/>
          </a:prstGeom>
          <a:solidFill>
            <a:srgbClr val="E8A33D"/>
          </a:solidFill>
          <a:ln/>
        </p:spPr>
        <p:txBody>
          <a:bodyPr wrap="square" rtlCol="0" anchor="ctr"/>
          <a:lstStyle/>
          <a:p>
            <a:pPr indent="0" marL="0">
              <a:buNone/>
            </a:pPr>
            <a:endParaRPr lang="en-US" dirty="0"/>
          </a:p>
        </p:txBody>
      </p:sp>
      <p:sp>
        <p:nvSpPr>
          <p:cNvPr id="4" name="Text 2"/>
          <p:cNvSpPr/>
          <p:nvPr/>
        </p:nvSpPr>
        <p:spPr>
          <a:xfrm>
            <a:off x="8197007" y="257175"/>
            <a:ext cx="674860" cy="164592"/>
          </a:xfrm>
          <a:prstGeom prst="rect">
            <a:avLst/>
          </a:prstGeom>
          <a:noFill/>
          <a:ln/>
        </p:spPr>
        <p:txBody>
          <a:bodyPr wrap="none" lIns="0" tIns="0" rIns="0" bIns="0" rtlCol="0" anchor="t"/>
          <a:lstStyle/>
          <a:p>
            <a:pPr algn="l" indent="0" marL="0">
              <a:lnSpc>
                <a:spcPts val="928"/>
              </a:lnSpc>
              <a:buNone/>
            </a:pPr>
            <a:r>
              <a:rPr lang="en-US" sz="619" spc="50" kern="0" dirty="0">
                <a:solidFill>
                  <a:srgbClr val="FFFFFF">
                    <a:alpha val="55000"/>
                  </a:srgbClr>
                </a:solidFill>
                <a:latin typeface="Liberation Sans Narrow" pitchFamily="34" charset="0"/>
                <a:ea typeface="Liberation Sans Narrow" pitchFamily="34" charset="-122"/>
                <a:cs typeface="Liberation Sans Narrow" pitchFamily="34" charset="-120"/>
              </a:rPr>
              <a:t>PAGE 07 / 15</a:t>
            </a:r>
            <a:endParaRPr lang="en-US" sz="619" dirty="0"/>
          </a:p>
        </p:txBody>
      </p:sp>
      <p:sp>
        <p:nvSpPr>
          <p:cNvPr id="5" name="Text 3"/>
          <p:cNvSpPr/>
          <p:nvPr/>
        </p:nvSpPr>
        <p:spPr>
          <a:xfrm>
            <a:off x="857250" y="1549524"/>
            <a:ext cx="8286750" cy="617220"/>
          </a:xfrm>
          <a:prstGeom prst="rect">
            <a:avLst/>
          </a:prstGeom>
          <a:noFill/>
          <a:ln/>
        </p:spPr>
        <p:txBody>
          <a:bodyPr wrap="none" lIns="0" tIns="0" rIns="0" bIns="0" rtlCol="0" anchor="t"/>
          <a:lstStyle/>
          <a:p>
            <a:pPr algn="l" indent="0" marL="0">
              <a:lnSpc>
                <a:spcPts val="4500"/>
              </a:lnSpc>
              <a:buNone/>
            </a:pPr>
            <a:r>
              <a:rPr lang="en-US" sz="4500" b="1" spc="-45" kern="0" dirty="0">
                <a:solidFill>
                  <a:srgbClr val="E8A33D"/>
                </a:solidFill>
                <a:latin typeface="Liberation Sans Narrow" pitchFamily="34" charset="0"/>
                <a:ea typeface="Liberation Sans Narrow" pitchFamily="34" charset="-122"/>
                <a:cs typeface="Liberation Sans Narrow" pitchFamily="34" charset="-120"/>
              </a:rPr>
              <a:t>02 / 05</a:t>
            </a:r>
            <a:endParaRPr lang="en-US" sz="4500" dirty="0"/>
          </a:p>
        </p:txBody>
      </p:sp>
      <p:sp>
        <p:nvSpPr>
          <p:cNvPr id="6" name="Text 4"/>
          <p:cNvSpPr/>
          <p:nvPr/>
        </p:nvSpPr>
        <p:spPr>
          <a:xfrm>
            <a:off x="857250" y="2249612"/>
            <a:ext cx="8572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7" name="Text 5"/>
          <p:cNvSpPr/>
          <p:nvPr/>
        </p:nvSpPr>
        <p:spPr>
          <a:xfrm>
            <a:off x="857250" y="2506787"/>
            <a:ext cx="7800975" cy="518368"/>
          </a:xfrm>
          <a:prstGeom prst="rect">
            <a:avLst/>
          </a:prstGeom>
          <a:noFill/>
          <a:ln/>
        </p:spPr>
        <p:txBody>
          <a:bodyPr wrap="none" lIns="0" tIns="0" rIns="0" bIns="0" rtlCol="0" anchor="t"/>
          <a:lstStyle/>
          <a:p>
            <a:pPr algn="l" indent="0" marL="0">
              <a:lnSpc>
                <a:spcPts val="3780"/>
              </a:lnSpc>
              <a:buNone/>
            </a:pPr>
            <a:r>
              <a:rPr lang="en-US" sz="3600" b="1" spc="-43" kern="0" dirty="0">
                <a:solidFill>
                  <a:srgbClr val="FFFFFF"/>
                </a:solidFill>
                <a:latin typeface="Tinos" pitchFamily="34" charset="0"/>
                <a:ea typeface="Tinos" pitchFamily="34" charset="-122"/>
                <a:cs typeface="Tinos" pitchFamily="34" charset="-120"/>
              </a:rPr>
              <a:t>Growth &amp; Revenue</a:t>
            </a:r>
            <a:endParaRPr lang="en-US" sz="3600" dirty="0"/>
          </a:p>
        </p:txBody>
      </p:sp>
      <p:sp>
        <p:nvSpPr>
          <p:cNvPr id="8" name="Text 6"/>
          <p:cNvSpPr/>
          <p:nvPr/>
        </p:nvSpPr>
        <p:spPr>
          <a:xfrm>
            <a:off x="857250" y="3158207"/>
            <a:ext cx="5429250" cy="208312"/>
          </a:xfrm>
          <a:prstGeom prst="rect">
            <a:avLst/>
          </a:prstGeom>
          <a:noFill/>
          <a:ln/>
        </p:spPr>
        <p:txBody>
          <a:bodyPr wrap="square" lIns="0" tIns="0" rIns="0" bIns="0" rtlCol="0" anchor="t"/>
          <a:lstStyle/>
          <a:p>
            <a:pPr algn="l" indent="0" marL="0">
              <a:lnSpc>
                <a:spcPts val="1519"/>
              </a:lnSpc>
              <a:buNone/>
            </a:pPr>
            <a:r>
              <a:rPr lang="en-US" sz="1013" i="1" dirty="0">
                <a:solidFill>
                  <a:srgbClr val="FFFFFF">
                    <a:alpha val="82000"/>
                  </a:srgbClr>
                </a:solidFill>
                <a:latin typeface="Carlito" pitchFamily="34" charset="0"/>
                <a:ea typeface="Carlito" pitchFamily="34" charset="-122"/>
                <a:cs typeface="Carlito" pitchFamily="34" charset="-120"/>
              </a:rPr>
              <a:t>How Towative finds, converts, and keeps customers in the first six months.</a:t>
            </a:r>
            <a:endParaRPr lang="en-US" sz="1013" dirty="0"/>
          </a:p>
        </p:txBody>
      </p:sp>
      <p:sp>
        <p:nvSpPr>
          <p:cNvPr id="9" name="Text 7"/>
          <p:cNvSpPr/>
          <p:nvPr/>
        </p:nvSpPr>
        <p:spPr>
          <a:xfrm>
            <a:off x="857250" y="3579688"/>
            <a:ext cx="1428750" cy="14288"/>
          </a:xfrm>
          <a:prstGeom prst="roundRect">
            <a:avLst>
              <a:gd name="adj" fmla="val 66664"/>
            </a:avLst>
          </a:prstGeom>
          <a:solidFill>
            <a:srgbClr val="E8A33D"/>
          </a:solidFill>
          <a:ln/>
        </p:spPr>
        <p:txBody>
          <a:bodyPr wrap="square" rtlCol="0" anchor="ctr"/>
          <a:lstStyle/>
          <a:p>
            <a:pPr indent="0" marL="0">
              <a:buNone/>
            </a:pPr>
            <a:endParaRPr lang="en-US" dirty="0"/>
          </a:p>
        </p:txBody>
      </p:sp>
      <p:sp>
        <p:nvSpPr>
          <p:cNvPr id="10" name="Text 8"/>
          <p:cNvSpPr/>
          <p:nvPr/>
        </p:nvSpPr>
        <p:spPr>
          <a:xfrm>
            <a:off x="860822" y="4500563"/>
            <a:ext cx="1600423" cy="239316"/>
          </a:xfrm>
          <a:prstGeom prst="roundRect">
            <a:avLst>
              <a:gd name="adj" fmla="val 79602"/>
            </a:avLst>
          </a:prstGeom>
          <a:noFill/>
          <a:ln w="7144">
            <a:solidFill>
              <a:srgbClr val="F4C77B"/>
            </a:solidFill>
            <a:prstDash val="solid"/>
          </a:ln>
        </p:spPr>
        <p:txBody>
          <a:bodyPr wrap="square" rtlCol="0" anchor="ctr"/>
          <a:lstStyle/>
          <a:p>
            <a:pPr indent="0" marL="0">
              <a:buNone/>
            </a:pPr>
            <a:endParaRPr lang="en-US" dirty="0"/>
          </a:p>
        </p:txBody>
      </p:sp>
      <p:sp>
        <p:nvSpPr>
          <p:cNvPr id="11" name="Text 9"/>
          <p:cNvSpPr/>
          <p:nvPr/>
        </p:nvSpPr>
        <p:spPr>
          <a:xfrm>
            <a:off x="857250" y="4496991"/>
            <a:ext cx="1650429" cy="344147"/>
          </a:xfrm>
          <a:prstGeom prst="rect">
            <a:avLst/>
          </a:prstGeom>
          <a:noFill/>
          <a:ln/>
        </p:spPr>
        <p:txBody>
          <a:bodyPr wrap="none" lIns="100013" tIns="57150" rIns="100013" bIns="57150" rtlCol="0" anchor="t"/>
          <a:lstStyle/>
          <a:p>
            <a:pPr algn="l" indent="0" marL="0">
              <a:lnSpc>
                <a:spcPts val="928"/>
              </a:lnSpc>
              <a:buNone/>
            </a:pPr>
            <a:r>
              <a:rPr lang="en-US" sz="800" spc="74" kern="0" dirty="0">
                <a:solidFill>
                  <a:srgbClr val="F5F2E8"/>
                </a:solidFill>
                <a:latin typeface="Liberation Sans Narrow" pitchFamily="34" charset="0"/>
                <a:ea typeface="Liberation Sans Narrow" pitchFamily="34" charset="-122"/>
                <a:cs typeface="Liberation Sans Narrow" pitchFamily="34" charset="-120"/>
              </a:rPr>
              <a:t>DELIVERABLE 05 — SALES PLAN</a:t>
            </a:r>
            <a:endParaRPr lang="en-US" sz="800" dirty="0"/>
          </a:p>
        </p:txBody>
      </p:sp>
      <p:sp>
        <p:nvSpPr>
          <p:cNvPr id="12" name="Text 10"/>
          <p:cNvSpPr/>
          <p:nvPr/>
        </p:nvSpPr>
        <p:spPr>
          <a:xfrm>
            <a:off x="2554114" y="4500563"/>
            <a:ext cx="1746312" cy="239316"/>
          </a:xfrm>
          <a:prstGeom prst="roundRect">
            <a:avLst>
              <a:gd name="adj" fmla="val 79602"/>
            </a:avLst>
          </a:prstGeom>
          <a:noFill/>
          <a:ln w="7144">
            <a:solidFill>
              <a:srgbClr val="F4C77B"/>
            </a:solidFill>
            <a:prstDash val="solid"/>
          </a:ln>
        </p:spPr>
        <p:txBody>
          <a:bodyPr wrap="square" rtlCol="0" anchor="ctr"/>
          <a:lstStyle/>
          <a:p>
            <a:pPr indent="0" marL="0">
              <a:buNone/>
            </a:pPr>
            <a:endParaRPr lang="en-US" dirty="0"/>
          </a:p>
        </p:txBody>
      </p:sp>
      <p:sp>
        <p:nvSpPr>
          <p:cNvPr id="13" name="Text 11"/>
          <p:cNvSpPr/>
          <p:nvPr/>
        </p:nvSpPr>
        <p:spPr>
          <a:xfrm>
            <a:off x="2550542" y="4496991"/>
            <a:ext cx="1796318" cy="344147"/>
          </a:xfrm>
          <a:prstGeom prst="rect">
            <a:avLst/>
          </a:prstGeom>
          <a:noFill/>
          <a:ln/>
        </p:spPr>
        <p:txBody>
          <a:bodyPr wrap="none" lIns="100013" tIns="57150" rIns="100013" bIns="57150" rtlCol="0" anchor="t"/>
          <a:lstStyle/>
          <a:p>
            <a:pPr algn="l" indent="0" marL="0">
              <a:lnSpc>
                <a:spcPts val="928"/>
              </a:lnSpc>
              <a:buNone/>
            </a:pPr>
            <a:r>
              <a:rPr lang="en-US" sz="800" spc="74" kern="0" dirty="0">
                <a:solidFill>
                  <a:srgbClr val="F5F2E8"/>
                </a:solidFill>
                <a:latin typeface="Liberation Sans Narrow" pitchFamily="34" charset="0"/>
                <a:ea typeface="Liberation Sans Narrow" pitchFamily="34" charset="-122"/>
                <a:cs typeface="Liberation Sans Narrow" pitchFamily="34" charset="-120"/>
              </a:rPr>
              <a:t>DELIVERABLE 06 — COMMS ETHICS</a:t>
            </a:r>
            <a:endParaRPr lang="en-US" sz="800" dirty="0"/>
          </a:p>
        </p:txBody>
      </p:sp>
      <p:sp>
        <p:nvSpPr>
          <p:cNvPr id="14" name="Text 12"/>
          <p:cNvSpPr/>
          <p:nvPr/>
        </p:nvSpPr>
        <p:spPr>
          <a:xfrm>
            <a:off x="4393295" y="4500563"/>
            <a:ext cx="1721309" cy="239316"/>
          </a:xfrm>
          <a:prstGeom prst="roundRect">
            <a:avLst>
              <a:gd name="adj" fmla="val 79602"/>
            </a:avLst>
          </a:prstGeom>
          <a:noFill/>
          <a:ln w="7144">
            <a:solidFill>
              <a:srgbClr val="F4C77B"/>
            </a:solidFill>
            <a:prstDash val="solid"/>
          </a:ln>
        </p:spPr>
        <p:txBody>
          <a:bodyPr wrap="square" rtlCol="0" anchor="ctr"/>
          <a:lstStyle/>
          <a:p>
            <a:pPr indent="0" marL="0">
              <a:buNone/>
            </a:pPr>
            <a:endParaRPr lang="en-US" dirty="0"/>
          </a:p>
        </p:txBody>
      </p:sp>
      <p:sp>
        <p:nvSpPr>
          <p:cNvPr id="15" name="Text 13"/>
          <p:cNvSpPr/>
          <p:nvPr/>
        </p:nvSpPr>
        <p:spPr>
          <a:xfrm>
            <a:off x="4389723" y="4496991"/>
            <a:ext cx="1728453" cy="344147"/>
          </a:xfrm>
          <a:prstGeom prst="rect">
            <a:avLst/>
          </a:prstGeom>
          <a:noFill/>
          <a:ln/>
        </p:spPr>
        <p:txBody>
          <a:bodyPr wrap="square" lIns="100013" tIns="57150" rIns="100013" bIns="57150" rtlCol="0" anchor="t"/>
          <a:lstStyle/>
          <a:p>
            <a:pPr algn="l" indent="0" marL="0">
              <a:lnSpc>
                <a:spcPts val="928"/>
              </a:lnSpc>
              <a:buNone/>
            </a:pPr>
            <a:r>
              <a:rPr lang="en-US" sz="800" spc="74" kern="0" dirty="0">
                <a:solidFill>
                  <a:srgbClr val="F5F2E8"/>
                </a:solidFill>
                <a:latin typeface="Liberation Sans Narrow" pitchFamily="34" charset="0"/>
                <a:ea typeface="Liberation Sans Narrow" pitchFamily="34" charset="-122"/>
                <a:cs typeface="Liberation Sans Narrow" pitchFamily="34" charset="-120"/>
              </a:rPr>
              <a:t>DELIVERABLE 07 — CLIENT ETHICS</a:t>
            </a:r>
            <a:endParaRPr lang="en-US" sz="800" dirty="0"/>
          </a:p>
        </p:txBody>
      </p:sp>
      <p:sp>
        <p:nvSpPr>
          <p:cNvPr id="16" name="Text 14"/>
          <p:cNvSpPr/>
          <p:nvPr/>
        </p:nvSpPr>
        <p:spPr>
          <a:xfrm>
            <a:off x="7962826" y="4707731"/>
            <a:ext cx="1171687" cy="164592"/>
          </a:xfrm>
          <a:prstGeom prst="rect">
            <a:avLst/>
          </a:prstGeom>
          <a:noFill/>
          <a:ln/>
        </p:spPr>
        <p:txBody>
          <a:bodyPr wrap="none" lIns="0" tIns="0" rIns="0" bIns="0" rtlCol="0" anchor="t"/>
          <a:lstStyle/>
          <a:p>
            <a:pPr algn="l" indent="0" marL="0">
              <a:lnSpc>
                <a:spcPts val="1181"/>
              </a:lnSpc>
              <a:buNone/>
            </a:pPr>
            <a:r>
              <a:rPr lang="en-US" sz="800" spc="236" kern="0" dirty="0">
                <a:solidFill>
                  <a:srgbClr val="FFFFFF">
                    <a:alpha val="32000"/>
                  </a:srgbClr>
                </a:solidFill>
                <a:latin typeface="Tinos" pitchFamily="34" charset="0"/>
                <a:ea typeface="Tinos" pitchFamily="34" charset="-122"/>
                <a:cs typeface="Tinos" pitchFamily="34" charset="-120"/>
              </a:rPr>
              <a:t>TOWATIVE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66567" y="433983"/>
            <a:ext cx="579222" cy="151805"/>
          </a:xfrm>
          <a:prstGeom prst="rect">
            <a:avLst/>
          </a:prstGeom>
          <a:noFill/>
          <a:ln/>
        </p:spPr>
        <p:txBody>
          <a:bodyPr wrap="none" lIns="0" tIns="0" rIns="0" bIns="0" rtlCol="0" anchor="t"/>
          <a:lstStyle/>
          <a:p>
            <a:pPr algn="l" indent="0" marL="0">
              <a:lnSpc>
                <a:spcPts val="928"/>
              </a:lnSpc>
              <a:buNone/>
            </a:pPr>
            <a:r>
              <a:rPr lang="en-US" sz="619" spc="50" kern="0" dirty="0">
                <a:solidFill>
                  <a:srgbClr val="7A7A7A"/>
                </a:solidFill>
                <a:latin typeface="Liberation Sans Narrow" pitchFamily="34" charset="0"/>
                <a:ea typeface="Liberation Sans Narrow" pitchFamily="34" charset="-122"/>
                <a:cs typeface="Liberation Sans Narrow" pitchFamily="34" charset="-120"/>
              </a:rPr>
              <a:t>Page 08 / 15</a:t>
            </a:r>
            <a:endParaRPr lang="en-US" sz="619" dirty="0"/>
          </a:p>
        </p:txBody>
      </p:sp>
      <p:sp>
        <p:nvSpPr>
          <p:cNvPr id="9" name="Text 7"/>
          <p:cNvSpPr/>
          <p:nvPr/>
        </p:nvSpPr>
        <p:spPr>
          <a:xfrm>
            <a:off x="514350" y="921544"/>
            <a:ext cx="862965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 05</a:t>
            </a:r>
            <a:endParaRPr lang="en-US" sz="800" dirty="0"/>
          </a:p>
        </p:txBody>
      </p:sp>
      <p:sp>
        <p:nvSpPr>
          <p:cNvPr id="10" name="Text 8"/>
          <p:cNvSpPr/>
          <p:nvPr/>
        </p:nvSpPr>
        <p:spPr>
          <a:xfrm>
            <a:off x="514350" y="1082278"/>
            <a:ext cx="8455343" cy="26680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F4D3A"/>
                </a:solidFill>
                <a:latin typeface="Tinos" pitchFamily="34" charset="0"/>
                <a:ea typeface="Tinos" pitchFamily="34" charset="-122"/>
                <a:cs typeface="Tinos" pitchFamily="34" charset="-120"/>
              </a:rPr>
              <a:t>Sales Targets &amp; Performance Plan</a:t>
            </a:r>
            <a:endParaRPr lang="en-US" sz="1800" dirty="0"/>
          </a:p>
        </p:txBody>
      </p:sp>
      <p:sp>
        <p:nvSpPr>
          <p:cNvPr id="11" name="Text 9"/>
          <p:cNvSpPr/>
          <p:nvPr/>
        </p:nvSpPr>
        <p:spPr>
          <a:xfrm>
            <a:off x="514350" y="1376511"/>
            <a:ext cx="7686675"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TWV-SAL-PLN-001 • Owner: HR / Sales / Marketing Manager</a:t>
            </a:r>
            <a:endParaRPr lang="en-US" sz="800" dirty="0"/>
          </a:p>
        </p:txBody>
      </p:sp>
      <p:sp>
        <p:nvSpPr>
          <p:cNvPr id="12" name="Text 10"/>
          <p:cNvSpPr/>
          <p:nvPr/>
        </p:nvSpPr>
        <p:spPr>
          <a:xfrm>
            <a:off x="8201025" y="1078706"/>
            <a:ext cx="428625"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3" name="Text 11"/>
          <p:cNvSpPr/>
          <p:nvPr/>
        </p:nvSpPr>
        <p:spPr>
          <a:xfrm>
            <a:off x="514350" y="1622971"/>
            <a:ext cx="1581385" cy="164592"/>
          </a:xfrm>
          <a:prstGeom prst="rect">
            <a:avLst/>
          </a:prstGeom>
          <a:noFill/>
          <a:ln/>
        </p:spPr>
        <p:txBody>
          <a:bodyPr wrap="none" lIns="0" tIns="0" rIns="0" bIns="0" rtlCol="0" anchor="t"/>
          <a:lstStyle/>
          <a:p>
            <a:pPr algn="l" indent="0" marL="0">
              <a:lnSpc>
                <a:spcPts val="1181"/>
              </a:lnSpc>
              <a:buNone/>
            </a:pPr>
            <a:r>
              <a:rPr lang="en-US" sz="788" dirty="0">
                <a:solidFill>
                  <a:srgbClr val="1F4D3A"/>
                </a:solidFill>
                <a:latin typeface="Carlito" pitchFamily="34" charset="0"/>
                <a:ea typeface="Carlito" pitchFamily="34" charset="-122"/>
                <a:cs typeface="Carlito" pitchFamily="34" charset="-120"/>
              </a:rPr>
              <a:t>Six-Month Revenue Targets (PKR)</a:t>
            </a:r>
            <a:endParaRPr lang="en-US" sz="788" dirty="0"/>
          </a:p>
        </p:txBody>
      </p:sp>
      <p:sp>
        <p:nvSpPr>
          <p:cNvPr id="14" name="Text 12"/>
          <p:cNvSpPr/>
          <p:nvPr/>
        </p:nvSpPr>
        <p:spPr>
          <a:xfrm>
            <a:off x="2064321" y="1690836"/>
            <a:ext cx="2803364" cy="14288"/>
          </a:xfrm>
          <a:prstGeom prst="rect">
            <a:avLst/>
          </a:prstGeom>
          <a:solidFill>
            <a:srgbClr val="E8A33D"/>
          </a:solidFill>
          <a:ln/>
        </p:spPr>
        <p:txBody>
          <a:bodyPr wrap="square" rtlCol="0" anchor="ctr"/>
          <a:lstStyle/>
          <a:p>
            <a:pPr indent="0" marL="0">
              <a:buNone/>
            </a:pPr>
            <a:endParaRPr lang="en-US"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14350" y="1844427"/>
          <a:ext cx="4353334" cy="914400"/>
        </p:xfrm>
        <a:graphic>
          <a:graphicData uri="http://schemas.openxmlformats.org/drawingml/2006/table">
            <a:tbl>
              <a:tblPr/>
              <a:tblGrid>
                <a:gridCol w="957709"/>
                <a:gridCol w="1218902"/>
                <a:gridCol w="957709"/>
                <a:gridCol w="1219014"/>
              </a:tblGrid>
              <a:tr h="0">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Month</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7A7A7A"/>
                          </a:solidFill>
                          <a:latin typeface="Carlito" pitchFamily="34" charset="0"/>
                          <a:ea typeface="Carlito" pitchFamily="34" charset="-122"/>
                          <a:cs typeface="Carlito" pitchFamily="34" charset="-120"/>
                        </a:rPr>
                        <a:t>Revenue</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7A7A7A"/>
                          </a:solidFill>
                          <a:latin typeface="Carlito" pitchFamily="34" charset="0"/>
                          <a:ea typeface="Carlito" pitchFamily="34" charset="-122"/>
                          <a:cs typeface="Carlito" pitchFamily="34" charset="-120"/>
                        </a:rPr>
                        <a:t>Orders</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7A7A7A"/>
                          </a:solidFill>
                          <a:latin typeface="Carlito" pitchFamily="34" charset="0"/>
                          <a:ea typeface="Carlito" pitchFamily="34" charset="-122"/>
                          <a:cs typeface="Carlito" pitchFamily="34" charset="-120"/>
                        </a:rPr>
                        <a:t>Qualified Leads</a:t>
                      </a:r>
                      <a:endParaRPr lang="en-US" sz="800" dirty="0">
                        <a:latin typeface="Carlito" charset="0"/>
                        <a:ea typeface="Carlito" charset="0"/>
                        <a:cs typeface="Carlito"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1</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300,000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120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800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2</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500,000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200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1,333</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3</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750,000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300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2,000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4</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1,000,000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400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2,667</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5</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1,300,000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520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3,467</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Month 6</a:t>
                      </a:r>
                      <a:endParaRPr lang="en-US" sz="800" dirty="0">
                        <a:latin typeface="Carlito" charset="0"/>
                        <a:ea typeface="Carlito" charset="0"/>
                        <a:cs typeface="Carlito"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1,600,000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640</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4,267</a:t>
                      </a:r>
                      <a:endParaRPr lang="en-US" sz="800" dirty="0">
                        <a:latin typeface="Courier New" charset="0"/>
                        <a:ea typeface="Courier New" charset="0"/>
                        <a:cs typeface="Courier New" charset="0"/>
                      </a:endParaRPr>
                    </a:p>
                  </a:txBody>
                  <a:tcPr marL="64294" marR="71438" marT="71438" marB="64294"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1F4D3A"/>
                          </a:solidFill>
                          <a:latin typeface="Carlito" pitchFamily="34" charset="0"/>
                          <a:ea typeface="Carlito" pitchFamily="34" charset="-122"/>
                          <a:cs typeface="Carlito" pitchFamily="34" charset="-120"/>
                        </a:rPr>
                        <a:t>6-mo total</a:t>
                      </a:r>
                      <a:endParaRPr lang="en-US" sz="800" dirty="0">
                        <a:latin typeface="Carlito" charset="0"/>
                        <a:ea typeface="Carlito" charset="0"/>
                        <a:cs typeface="Carlito" charset="0"/>
                      </a:endParaRPr>
                    </a:p>
                  </a:txBody>
                  <a:tcPr marL="78581" marR="71438" marT="71438" marB="78581"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A33D">
                        <a:alpha val="18000"/>
                      </a:srgbClr>
                    </a:solidFill>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5,450,000</a:t>
                      </a:r>
                      <a:endParaRPr lang="en-US" sz="800" dirty="0">
                        <a:latin typeface="Courier New" charset="0"/>
                        <a:ea typeface="Courier New" charset="0"/>
                        <a:cs typeface="Courier New" charset="0"/>
                      </a:endParaRPr>
                    </a:p>
                  </a:txBody>
                  <a:tcPr marL="78581" marR="71438" marT="71438" marB="78581"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A33D">
                        <a:alpha val="18000"/>
                      </a:srgbClr>
                    </a:solidFill>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2,180</a:t>
                      </a:r>
                      <a:endParaRPr lang="en-US" sz="800" dirty="0">
                        <a:latin typeface="Courier New" charset="0"/>
                        <a:ea typeface="Courier New" charset="0"/>
                        <a:cs typeface="Courier New" charset="0"/>
                      </a:endParaRPr>
                    </a:p>
                  </a:txBody>
                  <a:tcPr marL="78581" marR="71438" marT="71438" marB="78581"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A33D">
                        <a:alpha val="18000"/>
                      </a:srgbClr>
                    </a:solidFill>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14,534</a:t>
                      </a:r>
                      <a:endParaRPr lang="en-US" sz="800" dirty="0">
                        <a:latin typeface="Courier New" charset="0"/>
                        <a:ea typeface="Courier New" charset="0"/>
                        <a:cs typeface="Courier New" charset="0"/>
                      </a:endParaRPr>
                    </a:p>
                  </a:txBody>
                  <a:tcPr marL="78581" marR="71438" marT="71438" marB="78581"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A33D">
                        <a:alpha val="18000"/>
                      </a:srgbClr>
                    </a:solidFill>
                  </a:tcPr>
                </a:tc>
              </a:tr>
            </a:tbl>
          </a:graphicData>
        </a:graphic>
      </p:graphicFrame>
      <p:sp>
        <p:nvSpPr>
          <p:cNvPr id="16" name="Text 13"/>
          <p:cNvSpPr/>
          <p:nvPr/>
        </p:nvSpPr>
        <p:spPr>
          <a:xfrm>
            <a:off x="514350" y="4131913"/>
            <a:ext cx="1258081" cy="252417"/>
          </a:xfrm>
          <a:prstGeom prst="roundRect">
            <a:avLst>
              <a:gd name="adj" fmla="val 75470"/>
            </a:avLst>
          </a:prstGeom>
          <a:solidFill>
            <a:srgbClr val="FAF7F0"/>
          </a:solidFill>
          <a:ln w="7144">
            <a:solidFill>
              <a:srgbClr val="1F4D3A"/>
            </a:solidFill>
            <a:prstDash val="solid"/>
          </a:ln>
        </p:spPr>
        <p:txBody>
          <a:bodyPr wrap="square" rtlCol="0" anchor="ctr"/>
          <a:lstStyle/>
          <a:p>
            <a:pPr indent="0" marL="0">
              <a:buNone/>
            </a:pPr>
            <a:endParaRPr lang="en-US" dirty="0"/>
          </a:p>
        </p:txBody>
      </p:sp>
      <p:sp>
        <p:nvSpPr>
          <p:cNvPr id="17" name="Text 14"/>
          <p:cNvSpPr/>
          <p:nvPr/>
        </p:nvSpPr>
        <p:spPr>
          <a:xfrm>
            <a:off x="621506" y="4201864"/>
            <a:ext cx="1043769" cy="112514"/>
          </a:xfrm>
          <a:prstGeom prst="rect">
            <a:avLst/>
          </a:prstGeom>
          <a:noFill/>
          <a:ln/>
        </p:spPr>
        <p:txBody>
          <a:bodyPr wrap="none" lIns="0" tIns="0" rIns="0" bIns="0" rtlCol="0" anchor="t"/>
          <a:lstStyle/>
          <a:p>
            <a:pPr algn="l" indent="0" marL="0">
              <a:lnSpc>
                <a:spcPts val="886"/>
              </a:lnSpc>
              <a:buNone/>
            </a:pPr>
            <a:r>
              <a:rPr lang="en-US" sz="600" spc="59" kern="0" dirty="0">
                <a:solidFill>
                  <a:srgbClr val="1F4D3A"/>
                </a:solidFill>
                <a:latin typeface="Liberation Sans Narrow" pitchFamily="34" charset="0"/>
                <a:ea typeface="Liberation Sans Narrow" pitchFamily="34" charset="-122"/>
                <a:cs typeface="Liberation Sans Narrow" pitchFamily="34" charset="-120"/>
              </a:rPr>
              <a:t>Q1 LAUNCH &amp; PILOT</a:t>
            </a:r>
            <a:endParaRPr lang="en-US" sz="600" dirty="0"/>
          </a:p>
        </p:txBody>
      </p:sp>
      <p:sp>
        <p:nvSpPr>
          <p:cNvPr id="18" name="Text 15"/>
          <p:cNvSpPr/>
          <p:nvPr/>
        </p:nvSpPr>
        <p:spPr>
          <a:xfrm>
            <a:off x="1426451" y="4201864"/>
            <a:ext cx="290124" cy="112514"/>
          </a:xfrm>
          <a:prstGeom prst="rect">
            <a:avLst/>
          </a:prstGeom>
          <a:noFill/>
          <a:ln/>
        </p:spPr>
        <p:txBody>
          <a:bodyPr wrap="square" lIns="0" tIns="0" rIns="0" bIns="0" rtlCol="0" anchor="t"/>
          <a:lstStyle/>
          <a:p>
            <a:pPr algn="l" indent="0" marL="0">
              <a:lnSpc>
                <a:spcPts val="886"/>
              </a:lnSpc>
              <a:buNone/>
            </a:pPr>
            <a:r>
              <a:rPr lang="en-US" sz="600" dirty="0">
                <a:solidFill>
                  <a:srgbClr val="B57820"/>
                </a:solidFill>
                <a:latin typeface="Liberation Sans Narrow" pitchFamily="34" charset="0"/>
                <a:ea typeface="Liberation Sans Narrow" pitchFamily="34" charset="-122"/>
                <a:cs typeface="Liberation Sans Narrow" pitchFamily="34" charset="-120"/>
              </a:rPr>
              <a:t>1.55M</a:t>
            </a:r>
            <a:endParaRPr lang="en-US" sz="600" dirty="0"/>
          </a:p>
        </p:txBody>
      </p:sp>
      <p:sp>
        <p:nvSpPr>
          <p:cNvPr id="19" name="Text 16"/>
          <p:cNvSpPr/>
          <p:nvPr/>
        </p:nvSpPr>
        <p:spPr>
          <a:xfrm>
            <a:off x="1847441" y="4148286"/>
            <a:ext cx="1430759" cy="219670"/>
          </a:xfrm>
          <a:prstGeom prst="roundRect">
            <a:avLst>
              <a:gd name="adj" fmla="val 86721"/>
            </a:avLst>
          </a:prstGeom>
          <a:solidFill>
            <a:srgbClr val="FAF7F0"/>
          </a:solidFill>
          <a:ln w="7144">
            <a:solidFill>
              <a:srgbClr val="1F4D3A"/>
            </a:solidFill>
            <a:prstDash val="solid"/>
          </a:ln>
        </p:spPr>
        <p:txBody>
          <a:bodyPr wrap="square" rtlCol="0" anchor="ctr"/>
          <a:lstStyle/>
          <a:p>
            <a:pPr indent="0" marL="0">
              <a:buNone/>
            </a:pPr>
            <a:endParaRPr lang="en-US" dirty="0"/>
          </a:p>
        </p:txBody>
      </p:sp>
      <p:sp>
        <p:nvSpPr>
          <p:cNvPr id="20" name="Text 17"/>
          <p:cNvSpPr/>
          <p:nvPr/>
        </p:nvSpPr>
        <p:spPr>
          <a:xfrm>
            <a:off x="1951025" y="4201864"/>
            <a:ext cx="1223590" cy="112514"/>
          </a:xfrm>
          <a:prstGeom prst="rect">
            <a:avLst/>
          </a:prstGeom>
          <a:noFill/>
          <a:ln/>
        </p:spPr>
        <p:txBody>
          <a:bodyPr wrap="none" lIns="0" tIns="0" rIns="0" bIns="0" rtlCol="0" anchor="t"/>
          <a:lstStyle/>
          <a:p>
            <a:pPr algn="l" indent="0" marL="0">
              <a:lnSpc>
                <a:spcPts val="886"/>
              </a:lnSpc>
              <a:buNone/>
            </a:pPr>
            <a:r>
              <a:rPr lang="en-US" sz="600" spc="59" kern="0" dirty="0">
                <a:solidFill>
                  <a:srgbClr val="1F4D3A"/>
                </a:solidFill>
                <a:latin typeface="Liberation Sans Narrow" pitchFamily="34" charset="0"/>
                <a:ea typeface="Liberation Sans Narrow" pitchFamily="34" charset="-122"/>
                <a:cs typeface="Liberation Sans Narrow" pitchFamily="34" charset="-120"/>
              </a:rPr>
              <a:t>Q2 SCALE &amp; CORPORATE</a:t>
            </a:r>
            <a:endParaRPr lang="en-US" sz="600" dirty="0"/>
          </a:p>
        </p:txBody>
      </p:sp>
      <p:sp>
        <p:nvSpPr>
          <p:cNvPr id="21" name="Text 18"/>
          <p:cNvSpPr/>
          <p:nvPr/>
        </p:nvSpPr>
        <p:spPr>
          <a:xfrm>
            <a:off x="2935792" y="4201864"/>
            <a:ext cx="290124" cy="112514"/>
          </a:xfrm>
          <a:prstGeom prst="rect">
            <a:avLst/>
          </a:prstGeom>
          <a:noFill/>
          <a:ln/>
        </p:spPr>
        <p:txBody>
          <a:bodyPr wrap="square" lIns="0" tIns="0" rIns="0" bIns="0" rtlCol="0" anchor="t"/>
          <a:lstStyle/>
          <a:p>
            <a:pPr algn="l" indent="0" marL="0">
              <a:lnSpc>
                <a:spcPts val="886"/>
              </a:lnSpc>
              <a:buNone/>
            </a:pPr>
            <a:r>
              <a:rPr lang="en-US" sz="600" dirty="0">
                <a:solidFill>
                  <a:srgbClr val="B57820"/>
                </a:solidFill>
                <a:latin typeface="Liberation Sans Narrow" pitchFamily="34" charset="0"/>
                <a:ea typeface="Liberation Sans Narrow" pitchFamily="34" charset="-122"/>
                <a:cs typeface="Liberation Sans Narrow" pitchFamily="34" charset="-120"/>
              </a:rPr>
              <a:t>3.90M</a:t>
            </a:r>
            <a:endParaRPr lang="en-US" sz="600" dirty="0"/>
          </a:p>
        </p:txBody>
      </p:sp>
      <p:sp>
        <p:nvSpPr>
          <p:cNvPr id="22" name="Text 19"/>
          <p:cNvSpPr/>
          <p:nvPr/>
        </p:nvSpPr>
        <p:spPr>
          <a:xfrm>
            <a:off x="5071281" y="1626543"/>
            <a:ext cx="3554797" cy="719844"/>
          </a:xfrm>
          <a:prstGeom prst="roundRect">
            <a:avLst>
              <a:gd name="adj" fmla="val 13232"/>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3" name="Text 20"/>
          <p:cNvSpPr/>
          <p:nvPr/>
        </p:nvSpPr>
        <p:spPr>
          <a:xfrm>
            <a:off x="5346316" y="1708696"/>
            <a:ext cx="1071702" cy="135088"/>
          </a:xfrm>
          <a:prstGeom prst="rect">
            <a:avLst/>
          </a:prstGeom>
          <a:noFill/>
          <a:ln/>
        </p:spPr>
        <p:txBody>
          <a:bodyPr wrap="none" lIns="0" tIns="0" rIns="0" bIns="0" rtlCol="0" anchor="t">
            <a:normAutofit/>
          </a:bodyPr>
          <a:lstStyle/>
          <a:p>
            <a:pPr algn="l" indent="0" marL="0">
              <a:lnSpc>
                <a:spcPts val="1055"/>
              </a:lnSpc>
              <a:buNone/>
            </a:pPr>
            <a:r>
              <a:rPr lang="en-US" sz="703" spc="4" kern="0" dirty="0">
                <a:solidFill>
                  <a:srgbClr val="1F4D3A"/>
                </a:solidFill>
                <a:latin typeface="Carlito" pitchFamily="34" charset="0"/>
                <a:ea typeface="Carlito" pitchFamily="34" charset="-122"/>
                <a:cs typeface="Carlito" pitchFamily="34" charset="-120"/>
              </a:rPr>
              <a:t>Channel Assumptions</a:t>
            </a:r>
            <a:endParaRPr lang="en-US" sz="703" dirty="0"/>
          </a:p>
        </p:txBody>
      </p:sp>
      <p:sp>
        <p:nvSpPr>
          <p:cNvPr id="24" name="Text 21"/>
          <p:cNvSpPr/>
          <p:nvPr/>
        </p:nvSpPr>
        <p:spPr>
          <a:xfrm>
            <a:off x="5174866" y="1711375"/>
            <a:ext cx="114300" cy="114300"/>
          </a:xfrm>
          <a:prstGeom prst="rect">
            <a:avLst/>
          </a:prstGeom>
          <a:noFill/>
          <a:ln/>
        </p:spPr>
        <p:txBody>
          <a:bodyPr wrap="none" lIns="0" tIns="0" rIns="0" bIns="0" rtlCol="0" anchor="ctr"/>
          <a:lstStyle/>
          <a:p>
            <a:pPr algn="ctr" indent="0" marL="0">
              <a:buNone/>
            </a:pPr>
            <a:r>
              <a:rPr lang="en-US" sz="1125" dirty="0">
                <a:solidFill>
                  <a:srgbClr val="E8A33D"/>
                </a:solidFill>
                <a:latin typeface="Segoe UI Symbol" pitchFamily="34" charset="0"/>
                <a:ea typeface="Segoe UI Symbol" pitchFamily="34" charset="-122"/>
                <a:cs typeface="Segoe UI Symbol" pitchFamily="34" charset="-120"/>
              </a:rPr>
              <a:t>◆</a:t>
            </a:r>
            <a:endParaRPr lang="en-US" sz="1125" dirty="0"/>
          </a:p>
        </p:txBody>
      </p:sp>
      <p:sp>
        <p:nvSpPr>
          <p:cNvPr id="25" name="Text 22"/>
          <p:cNvSpPr/>
          <p:nvPr/>
        </p:nvSpPr>
        <p:spPr>
          <a:xfrm>
            <a:off x="5174866" y="1871216"/>
            <a:ext cx="3347628" cy="105955"/>
          </a:xfrm>
          <a:prstGeom prst="rect">
            <a:avLst/>
          </a:prstGeom>
          <a:noFill/>
          <a:ln/>
        </p:spPr>
        <p:txBody>
          <a:bodyPr wrap="square" lIns="85725" tIns="0" rIns="0" bIns="0" rtlCol="0" anchor="t">
            <a:normAutofit/>
          </a:bodyPr>
          <a:lstStyle/>
          <a:p>
            <a:pPr algn="l" indent="0" marL="0">
              <a:lnSpc>
                <a:spcPts val="938"/>
              </a:lnSpc>
              <a:buNone/>
            </a:pPr>
            <a:r>
              <a:rPr lang="en-US" sz="647" dirty="0">
                <a:solidFill>
                  <a:srgbClr val="4A4A4A"/>
                </a:solidFill>
                <a:latin typeface="Carlito" pitchFamily="34" charset="0"/>
                <a:ea typeface="Carlito" pitchFamily="34" charset="-122"/>
                <a:cs typeface="Carlito" pitchFamily="34" charset="-120"/>
              </a:rPr>
              <a:t>Avg order value PKR 2,500 (products 800–1,800; consultation 3,000)</a:t>
            </a:r>
            <a:endParaRPr lang="en-US" sz="647" dirty="0"/>
          </a:p>
        </p:txBody>
      </p:sp>
      <p:sp>
        <p:nvSpPr>
          <p:cNvPr id="26" name="Text 23"/>
          <p:cNvSpPr/>
          <p:nvPr/>
        </p:nvSpPr>
        <p:spPr>
          <a:xfrm>
            <a:off x="5174866" y="2004603"/>
            <a:ext cx="3347628" cy="105955"/>
          </a:xfrm>
          <a:prstGeom prst="rect">
            <a:avLst/>
          </a:prstGeom>
          <a:noFill/>
          <a:ln/>
        </p:spPr>
        <p:txBody>
          <a:bodyPr wrap="square" lIns="85725" tIns="0" rIns="0" bIns="0" rtlCol="0" anchor="t">
            <a:normAutofit/>
          </a:bodyPr>
          <a:lstStyle/>
          <a:p>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Lead-to-customer conversion 15% (consultation 30%)</a:t>
            </a:r>
            <a:endParaRPr lang="en-US" sz="800" dirty="0"/>
          </a:p>
        </p:txBody>
      </p:sp>
      <p:sp>
        <p:nvSpPr>
          <p:cNvPr id="27" name="Text 24"/>
          <p:cNvSpPr/>
          <p:nvPr/>
        </p:nvSpPr>
        <p:spPr>
          <a:xfrm>
            <a:off x="5174866" y="2137990"/>
            <a:ext cx="3347628" cy="133387"/>
          </a:xfrm>
          <a:prstGeom prst="rect">
            <a:avLst/>
          </a:prstGeom>
          <a:noFill/>
          <a:ln/>
        </p:spPr>
        <p:txBody>
          <a:bodyPr wrap="square" lIns="85725" tIns="0" rIns="0" bIns="0" rtlCol="0" anchor="t"/>
          <a:lstStyle/>
          <a:p>
            <a:pPr algn="l" indent="0" marL="0">
              <a:lnSpc>
                <a:spcPts val="938"/>
              </a:lnSpc>
              <a:buNone/>
            </a:pPr>
            <a:r>
              <a:rPr lang="en-US" sz="647" dirty="0">
                <a:solidFill>
                  <a:srgbClr val="4A4A4A"/>
                </a:solidFill>
                <a:latin typeface="Carlito" pitchFamily="34" charset="0"/>
                <a:ea typeface="Carlito" pitchFamily="34" charset="-122"/>
                <a:cs typeface="Carlito" pitchFamily="34" charset="-120"/>
              </a:rPr>
              <a:t>Lead sources: LinkedIn 16K+, Instagram, doctor referrals, pharmacies, corporate</a:t>
            </a:r>
            <a:endParaRPr lang="en-US" sz="647" dirty="0"/>
          </a:p>
        </p:txBody>
      </p:sp>
      <p:sp>
        <p:nvSpPr>
          <p:cNvPr id="28" name="Text 25"/>
          <p:cNvSpPr/>
          <p:nvPr/>
        </p:nvSpPr>
        <p:spPr>
          <a:xfrm>
            <a:off x="5071281" y="2410681"/>
            <a:ext cx="3554797" cy="734132"/>
          </a:xfrm>
          <a:prstGeom prst="roundRect">
            <a:avLst>
              <a:gd name="adj" fmla="val 12975"/>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9" name="Text 26"/>
          <p:cNvSpPr/>
          <p:nvPr/>
        </p:nvSpPr>
        <p:spPr>
          <a:xfrm>
            <a:off x="5327226" y="2492834"/>
            <a:ext cx="320893" cy="135088"/>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1F4D3A"/>
                </a:solidFill>
                <a:latin typeface="Carlito" pitchFamily="34" charset="0"/>
                <a:ea typeface="Carlito" pitchFamily="34" charset="-122"/>
                <a:cs typeface="Carlito" pitchFamily="34" charset="-120"/>
              </a:rPr>
              <a:t>KPIs</a:t>
            </a:r>
            <a:endParaRPr lang="en-US" sz="800" dirty="0"/>
          </a:p>
        </p:txBody>
      </p:sp>
      <p:sp>
        <p:nvSpPr>
          <p:cNvPr id="30" name="Text 27"/>
          <p:cNvSpPr/>
          <p:nvPr/>
        </p:nvSpPr>
        <p:spPr>
          <a:xfrm>
            <a:off x="5174866" y="2495513"/>
            <a:ext cx="114300" cy="114300"/>
          </a:xfrm>
          <a:prstGeom prst="rect">
            <a:avLst/>
          </a:prstGeom>
          <a:noFill/>
          <a:ln/>
        </p:spPr>
        <p:txBody>
          <a:bodyPr wrap="none" lIns="0" tIns="0" rIns="0" bIns="0" rtlCol="0" anchor="ctr"/>
          <a:lstStyle/>
          <a:p>
            <a:pPr algn="ctr" indent="0" marL="0">
              <a:buNone/>
            </a:pPr>
            <a:r>
              <a:rPr lang="en-US" sz="1125" dirty="0">
                <a:solidFill>
                  <a:srgbClr val="E8A33D"/>
                </a:solidFill>
                <a:latin typeface="Segoe UI Symbol" pitchFamily="34" charset="0"/>
                <a:ea typeface="Segoe UI Symbol" pitchFamily="34" charset="-122"/>
                <a:cs typeface="Segoe UI Symbol" pitchFamily="34" charset="-120"/>
              </a:rPr>
              <a:t>⚑</a:t>
            </a:r>
            <a:endParaRPr lang="en-US" sz="1125" dirty="0"/>
          </a:p>
        </p:txBody>
      </p:sp>
      <p:sp>
        <p:nvSpPr>
          <p:cNvPr id="31" name="Text 28"/>
          <p:cNvSpPr/>
          <p:nvPr/>
        </p:nvSpPr>
        <p:spPr>
          <a:xfrm>
            <a:off x="5174866" y="2655354"/>
            <a:ext cx="1474995" cy="159076"/>
          </a:xfrm>
          <a:prstGeom prst="rect">
            <a:avLst/>
          </a:prstGeom>
          <a:noFill/>
          <a:ln/>
        </p:spPr>
        <p:txBody>
          <a:bodyPr wrap="none" lIns="0" tIns="0" rIns="0" bIns="0" rtlCol="0" anchor="t"/>
          <a:lstStyle/>
          <a:p>
            <a:pPr algn="l" indent="0" marL="0">
              <a:lnSpc>
                <a:spcPts val="938"/>
              </a:lnSpc>
              <a:buNone/>
            </a:pPr>
            <a:r>
              <a:rPr lang="en-US" sz="800" dirty="0">
                <a:solidFill>
                  <a:srgbClr val="1F4D3A"/>
                </a:solidFill>
                <a:latin typeface="Carlito" pitchFamily="34" charset="0"/>
                <a:ea typeface="Carlito" pitchFamily="34" charset="-122"/>
                <a:cs typeface="Carlito" pitchFamily="34" charset="-120"/>
              </a:rPr>
              <a:t>Conversion</a:t>
            </a:r>
            <a:endParaRPr lang="en-US" sz="800" dirty="0"/>
          </a:p>
        </p:txBody>
      </p:sp>
      <p:sp>
        <p:nvSpPr>
          <p:cNvPr id="32" name="Text 29"/>
          <p:cNvSpPr/>
          <p:nvPr/>
        </p:nvSpPr>
        <p:spPr>
          <a:xfrm>
            <a:off x="6381601" y="2655354"/>
            <a:ext cx="328613" cy="159076"/>
          </a:xfrm>
          <a:prstGeom prst="rect">
            <a:avLst/>
          </a:prstGeom>
          <a:noFill/>
          <a:ln/>
        </p:spPr>
        <p:txBody>
          <a:bodyPr wrap="none" lIns="0" tIns="0" rIns="0" bIns="0" rtlCol="0" anchor="t"/>
          <a:lstStyle/>
          <a:p>
            <a:pPr algn="r" indent="0" marL="0">
              <a:lnSpc>
                <a:spcPts val="938"/>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15%</a:t>
            </a:r>
            <a:endParaRPr lang="en-US" sz="800" dirty="0"/>
          </a:p>
        </p:txBody>
      </p:sp>
      <p:sp>
        <p:nvSpPr>
          <p:cNvPr id="33" name="Text 30"/>
          <p:cNvSpPr/>
          <p:nvPr/>
        </p:nvSpPr>
        <p:spPr>
          <a:xfrm>
            <a:off x="6781651" y="2655354"/>
            <a:ext cx="1740843" cy="159076"/>
          </a:xfrm>
          <a:prstGeom prst="rect">
            <a:avLst/>
          </a:prstGeom>
          <a:noFill/>
          <a:ln/>
        </p:spPr>
        <p:txBody>
          <a:bodyPr wrap="none" lIns="0" tIns="0" rIns="0" bIns="0" rtlCol="0" anchor="t"/>
          <a:lstStyle/>
          <a:p>
            <a:pPr algn="l" indent="0" marL="0">
              <a:lnSpc>
                <a:spcPts val="938"/>
              </a:lnSpc>
              <a:buNone/>
            </a:pPr>
            <a:r>
              <a:rPr lang="en-US" sz="800" dirty="0">
                <a:solidFill>
                  <a:srgbClr val="1F4D3A"/>
                </a:solidFill>
                <a:latin typeface="Carlito" pitchFamily="34" charset="0"/>
                <a:ea typeface="Carlito" pitchFamily="34" charset="-122"/>
                <a:cs typeface="Carlito" pitchFamily="34" charset="-120"/>
              </a:rPr>
              <a:t>AOV</a:t>
            </a:r>
            <a:endParaRPr lang="en-US" sz="800" dirty="0"/>
          </a:p>
        </p:txBody>
      </p:sp>
      <p:sp>
        <p:nvSpPr>
          <p:cNvPr id="34" name="Text 31"/>
          <p:cNvSpPr/>
          <p:nvPr/>
        </p:nvSpPr>
        <p:spPr>
          <a:xfrm>
            <a:off x="7999852" y="2655354"/>
            <a:ext cx="563866" cy="159076"/>
          </a:xfrm>
          <a:prstGeom prst="rect">
            <a:avLst/>
          </a:prstGeom>
          <a:noFill/>
          <a:ln/>
        </p:spPr>
        <p:txBody>
          <a:bodyPr wrap="none" lIns="0" tIns="0" rIns="0" bIns="0" rtlCol="0" anchor="t"/>
          <a:lstStyle/>
          <a:p>
            <a:pPr algn="r" indent="0" marL="0">
              <a:lnSpc>
                <a:spcPts val="938"/>
              </a:lnSpc>
              <a:buNone/>
            </a:pPr>
            <a:r>
              <a:rPr lang="en-US" sz="647" dirty="0">
                <a:solidFill>
                  <a:srgbClr val="B57820"/>
                </a:solidFill>
                <a:latin typeface="Liberation Sans Narrow" pitchFamily="34" charset="0"/>
                <a:ea typeface="Liberation Sans Narrow" pitchFamily="34" charset="-122"/>
                <a:cs typeface="Liberation Sans Narrow" pitchFamily="34" charset="-120"/>
              </a:rPr>
              <a:t>PKR 2,500+</a:t>
            </a:r>
            <a:endParaRPr lang="en-US" sz="647" dirty="0"/>
          </a:p>
        </p:txBody>
      </p:sp>
      <p:sp>
        <p:nvSpPr>
          <p:cNvPr id="35" name="Text 32"/>
          <p:cNvSpPr/>
          <p:nvPr/>
        </p:nvSpPr>
        <p:spPr>
          <a:xfrm>
            <a:off x="5174866" y="2803029"/>
            <a:ext cx="1474995" cy="159076"/>
          </a:xfrm>
          <a:prstGeom prst="rect">
            <a:avLst/>
          </a:prstGeom>
          <a:noFill/>
          <a:ln/>
        </p:spPr>
        <p:txBody>
          <a:bodyPr wrap="none" lIns="0" tIns="0" rIns="0" bIns="0" rtlCol="0" anchor="t"/>
          <a:lstStyle/>
          <a:p>
            <a:pPr algn="l" indent="0" marL="0">
              <a:lnSpc>
                <a:spcPts val="938"/>
              </a:lnSpc>
              <a:buNone/>
            </a:pPr>
            <a:r>
              <a:rPr lang="en-US" sz="800" dirty="0">
                <a:solidFill>
                  <a:srgbClr val="1F4D3A"/>
                </a:solidFill>
                <a:latin typeface="Carlito" pitchFamily="34" charset="0"/>
                <a:ea typeface="Carlito" pitchFamily="34" charset="-122"/>
                <a:cs typeface="Carlito" pitchFamily="34" charset="-120"/>
              </a:rPr>
              <a:t>Response time</a:t>
            </a:r>
            <a:endParaRPr lang="en-US" sz="800" dirty="0"/>
          </a:p>
        </p:txBody>
      </p:sp>
      <p:sp>
        <p:nvSpPr>
          <p:cNvPr id="36" name="Text 33"/>
          <p:cNvSpPr/>
          <p:nvPr/>
        </p:nvSpPr>
        <p:spPr>
          <a:xfrm>
            <a:off x="6385709" y="2803029"/>
            <a:ext cx="324505" cy="159076"/>
          </a:xfrm>
          <a:prstGeom prst="rect">
            <a:avLst/>
          </a:prstGeom>
          <a:noFill/>
          <a:ln/>
        </p:spPr>
        <p:txBody>
          <a:bodyPr wrap="none" lIns="0" tIns="0" rIns="0" bIns="0" rtlCol="0" anchor="t"/>
          <a:lstStyle/>
          <a:p>
            <a:pPr algn="r" indent="0" marL="0">
              <a:lnSpc>
                <a:spcPts val="938"/>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&lt;2h</a:t>
            </a:r>
            <a:endParaRPr lang="en-US" sz="800" dirty="0"/>
          </a:p>
        </p:txBody>
      </p:sp>
      <p:sp>
        <p:nvSpPr>
          <p:cNvPr id="37" name="Text 34"/>
          <p:cNvSpPr/>
          <p:nvPr/>
        </p:nvSpPr>
        <p:spPr>
          <a:xfrm>
            <a:off x="6781651" y="2803029"/>
            <a:ext cx="1475125" cy="159076"/>
          </a:xfrm>
          <a:prstGeom prst="rect">
            <a:avLst/>
          </a:prstGeom>
          <a:noFill/>
          <a:ln/>
        </p:spPr>
        <p:txBody>
          <a:bodyPr wrap="none" lIns="0" tIns="0" rIns="0" bIns="0" rtlCol="0" anchor="t"/>
          <a:lstStyle/>
          <a:p>
            <a:pPr algn="l" indent="0" marL="0">
              <a:lnSpc>
                <a:spcPts val="938"/>
              </a:lnSpc>
              <a:buNone/>
            </a:pPr>
            <a:r>
              <a:rPr lang="en-US" sz="800" dirty="0">
                <a:solidFill>
                  <a:srgbClr val="1F4D3A"/>
                </a:solidFill>
                <a:latin typeface="Carlito" pitchFamily="34" charset="0"/>
                <a:ea typeface="Carlito" pitchFamily="34" charset="-122"/>
                <a:cs typeface="Carlito" pitchFamily="34" charset="-120"/>
              </a:rPr>
              <a:t>Repeat rate</a:t>
            </a:r>
            <a:endParaRPr lang="en-US" sz="800" dirty="0"/>
          </a:p>
        </p:txBody>
      </p:sp>
      <p:sp>
        <p:nvSpPr>
          <p:cNvPr id="38" name="Text 35"/>
          <p:cNvSpPr/>
          <p:nvPr/>
        </p:nvSpPr>
        <p:spPr>
          <a:xfrm>
            <a:off x="7970277" y="2803029"/>
            <a:ext cx="578653" cy="159076"/>
          </a:xfrm>
          <a:prstGeom prst="rect">
            <a:avLst/>
          </a:prstGeom>
          <a:noFill/>
          <a:ln/>
        </p:spPr>
        <p:txBody>
          <a:bodyPr wrap="none" lIns="0" tIns="0" rIns="0" bIns="0" rtlCol="0" anchor="t"/>
          <a:lstStyle/>
          <a:p>
            <a:pPr algn="r" indent="0" marL="0">
              <a:lnSpc>
                <a:spcPts val="938"/>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25% by M6</a:t>
            </a:r>
            <a:endParaRPr lang="en-US" sz="800" dirty="0"/>
          </a:p>
        </p:txBody>
      </p:sp>
      <p:sp>
        <p:nvSpPr>
          <p:cNvPr id="39" name="Text 36"/>
          <p:cNvSpPr/>
          <p:nvPr/>
        </p:nvSpPr>
        <p:spPr>
          <a:xfrm>
            <a:off x="5174866" y="2950704"/>
            <a:ext cx="1988474" cy="119100"/>
          </a:xfrm>
          <a:prstGeom prst="rect">
            <a:avLst/>
          </a:prstGeom>
          <a:noFill/>
          <a:ln/>
        </p:spPr>
        <p:txBody>
          <a:bodyPr wrap="none" lIns="0" tIns="0" rIns="0" bIns="0" rtlCol="0" anchor="t"/>
          <a:lstStyle/>
          <a:p>
            <a:pPr algn="l" indent="0" marL="0">
              <a:lnSpc>
                <a:spcPts val="938"/>
              </a:lnSpc>
              <a:buNone/>
            </a:pPr>
            <a:r>
              <a:rPr lang="en-US" sz="800" dirty="0">
                <a:solidFill>
                  <a:srgbClr val="1F4D3A"/>
                </a:solidFill>
                <a:latin typeface="Carlito" pitchFamily="34" charset="0"/>
                <a:ea typeface="Carlito" pitchFamily="34" charset="-122"/>
                <a:cs typeface="Carlito" pitchFamily="34" charset="-120"/>
              </a:rPr>
              <a:t>CSAT</a:t>
            </a:r>
            <a:endParaRPr lang="en-US" sz="800" dirty="0"/>
          </a:p>
        </p:txBody>
      </p:sp>
      <p:sp>
        <p:nvSpPr>
          <p:cNvPr id="40" name="Text 37"/>
          <p:cNvSpPr/>
          <p:nvPr/>
        </p:nvSpPr>
        <p:spPr>
          <a:xfrm>
            <a:off x="6362682" y="2950704"/>
            <a:ext cx="366451" cy="119100"/>
          </a:xfrm>
          <a:prstGeom prst="rect">
            <a:avLst/>
          </a:prstGeom>
          <a:noFill/>
          <a:ln/>
        </p:spPr>
        <p:txBody>
          <a:bodyPr wrap="square" lIns="0" tIns="0" rIns="0" bIns="0" rtlCol="0" anchor="t"/>
          <a:lstStyle/>
          <a:p>
            <a:pPr algn="r" indent="0" marL="0">
              <a:lnSpc>
                <a:spcPts val="938"/>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4.5/5</a:t>
            </a:r>
            <a:endParaRPr lang="en-US" sz="800" dirty="0"/>
          </a:p>
        </p:txBody>
      </p:sp>
      <p:sp>
        <p:nvSpPr>
          <p:cNvPr id="41" name="Text 38"/>
          <p:cNvSpPr/>
          <p:nvPr/>
        </p:nvSpPr>
        <p:spPr>
          <a:xfrm>
            <a:off x="5071281" y="3209106"/>
            <a:ext cx="3554797" cy="719844"/>
          </a:xfrm>
          <a:prstGeom prst="roundRect">
            <a:avLst>
              <a:gd name="adj" fmla="val 13232"/>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42" name="Text 39"/>
          <p:cNvSpPr/>
          <p:nvPr/>
        </p:nvSpPr>
        <p:spPr>
          <a:xfrm>
            <a:off x="5346316" y="3291260"/>
            <a:ext cx="921153" cy="135088"/>
          </a:xfrm>
          <a:prstGeom prst="rect">
            <a:avLst/>
          </a:prstGeom>
          <a:noFill/>
          <a:ln/>
        </p:spPr>
        <p:txBody>
          <a:bodyPr wrap="none" lIns="0" tIns="0" rIns="0" bIns="0" rtlCol="0" anchor="t">
            <a:normAutofit/>
          </a:bodyPr>
          <a:lstStyle/>
          <a:p>
            <a:pPr algn="l" indent="0" marL="0">
              <a:lnSpc>
                <a:spcPts val="1055"/>
              </a:lnSpc>
              <a:buNone/>
            </a:pPr>
            <a:r>
              <a:rPr lang="en-US" sz="703" spc="4" kern="0" dirty="0">
                <a:solidFill>
                  <a:srgbClr val="1F4D3A"/>
                </a:solidFill>
                <a:latin typeface="Carlito" pitchFamily="34" charset="0"/>
                <a:ea typeface="Carlito" pitchFamily="34" charset="-122"/>
                <a:cs typeface="Carlito" pitchFamily="34" charset="-120"/>
              </a:rPr>
              <a:t>Follow-up Cadence</a:t>
            </a:r>
            <a:endParaRPr lang="en-US" sz="703" dirty="0"/>
          </a:p>
        </p:txBody>
      </p:sp>
      <p:sp>
        <p:nvSpPr>
          <p:cNvPr id="43" name="Text 40"/>
          <p:cNvSpPr/>
          <p:nvPr/>
        </p:nvSpPr>
        <p:spPr>
          <a:xfrm>
            <a:off x="5174866" y="3293938"/>
            <a:ext cx="114300" cy="114300"/>
          </a:xfrm>
          <a:prstGeom prst="rect">
            <a:avLst/>
          </a:prstGeom>
          <a:noFill/>
          <a:ln/>
        </p:spPr>
        <p:txBody>
          <a:bodyPr wrap="none" lIns="0" tIns="0" rIns="0" bIns="0" rtlCol="0" anchor="ctr"/>
          <a:lstStyle/>
          <a:p>
            <a:pPr algn="ctr" indent="0" marL="0">
              <a:buNone/>
            </a:pPr>
            <a:r>
              <a:rPr lang="en-US" sz="1125" dirty="0">
                <a:solidFill>
                  <a:srgbClr val="E8A33D"/>
                </a:solidFill>
                <a:latin typeface="Segoe UI Symbol" pitchFamily="34" charset="0"/>
                <a:ea typeface="Segoe UI Symbol" pitchFamily="34" charset="-122"/>
                <a:cs typeface="Segoe UI Symbol" pitchFamily="34" charset="-120"/>
              </a:rPr>
              <a:t>◔</a:t>
            </a:r>
            <a:endParaRPr lang="en-US" sz="1125" dirty="0"/>
          </a:p>
        </p:txBody>
      </p:sp>
      <p:sp>
        <p:nvSpPr>
          <p:cNvPr id="44" name="Text 41"/>
          <p:cNvSpPr/>
          <p:nvPr/>
        </p:nvSpPr>
        <p:spPr>
          <a:xfrm>
            <a:off x="5174866" y="3453780"/>
            <a:ext cx="3347628" cy="105955"/>
          </a:xfrm>
          <a:prstGeom prst="rect">
            <a:avLst/>
          </a:prstGeom>
          <a:noFill/>
          <a:ln/>
        </p:spPr>
        <p:txBody>
          <a:bodyPr wrap="square" lIns="85725" tIns="0" rIns="0" bIns="0" rtlCol="0" anchor="t">
            <a:normAutofit/>
          </a:bodyPr>
          <a:lstStyle/>
          <a:p>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Day 1, Day 3, Day 7, then monthly nurture</a:t>
            </a:r>
            <a:endParaRPr lang="en-US" sz="800" dirty="0"/>
          </a:p>
        </p:txBody>
      </p:sp>
      <p:sp>
        <p:nvSpPr>
          <p:cNvPr id="45" name="Text 42"/>
          <p:cNvSpPr/>
          <p:nvPr/>
        </p:nvSpPr>
        <p:spPr>
          <a:xfrm>
            <a:off x="5174866" y="3587167"/>
            <a:ext cx="3347628" cy="105955"/>
          </a:xfrm>
          <a:prstGeom prst="rect">
            <a:avLst/>
          </a:prstGeom>
          <a:noFill/>
          <a:ln/>
        </p:spPr>
        <p:txBody>
          <a:bodyPr wrap="square" lIns="85725" tIns="0" rIns="0" bIns="0" rtlCol="0" anchor="t">
            <a:normAutofit/>
          </a:bodyPr>
          <a:lstStyle/>
          <a:p>
            <a:pPr algn="l" indent="0" marL="0">
              <a:lnSpc>
                <a:spcPts val="938"/>
              </a:lnSpc>
              <a:buNone/>
            </a:pPr>
            <a:r>
              <a:rPr lang="en-US" sz="647" dirty="0">
                <a:solidFill>
                  <a:srgbClr val="4A4A4A"/>
                </a:solidFill>
                <a:latin typeface="Carlito" pitchFamily="34" charset="0"/>
                <a:ea typeface="Carlito" pitchFamily="34" charset="-122"/>
                <a:cs typeface="Carlito" pitchFamily="34" charset="-120"/>
              </a:rPr>
              <a:t>Every lead logged in CRM with source/stage/value/next action</a:t>
            </a:r>
            <a:endParaRPr lang="en-US" sz="647" dirty="0"/>
          </a:p>
        </p:txBody>
      </p:sp>
      <p:sp>
        <p:nvSpPr>
          <p:cNvPr id="46" name="Text 43"/>
          <p:cNvSpPr/>
          <p:nvPr/>
        </p:nvSpPr>
        <p:spPr>
          <a:xfrm>
            <a:off x="5174866" y="3720554"/>
            <a:ext cx="3347628" cy="133387"/>
          </a:xfrm>
          <a:prstGeom prst="rect">
            <a:avLst/>
          </a:prstGeom>
          <a:noFill/>
          <a:ln/>
        </p:spPr>
        <p:txBody>
          <a:bodyPr wrap="square" lIns="85725" tIns="0" rIns="0" bIns="0" rtlCol="0" anchor="t"/>
          <a:lstStyle/>
          <a:p>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Stages: New → Contacted → Needs confirmed → Quote → Won/Lost</a:t>
            </a:r>
            <a:endParaRPr lang="en-US" sz="800" dirty="0"/>
          </a:p>
        </p:txBody>
      </p:sp>
      <p:sp>
        <p:nvSpPr>
          <p:cNvPr id="47" name="Text 44"/>
          <p:cNvSpPr/>
          <p:nvPr/>
        </p:nvSpPr>
        <p:spPr>
          <a:xfrm>
            <a:off x="5071281" y="3993245"/>
            <a:ext cx="3554797" cy="586457"/>
          </a:xfrm>
          <a:prstGeom prst="roundRect">
            <a:avLst>
              <a:gd name="adj" fmla="val 16242"/>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48" name="Text 45"/>
          <p:cNvSpPr/>
          <p:nvPr/>
        </p:nvSpPr>
        <p:spPr>
          <a:xfrm>
            <a:off x="5306163" y="4075398"/>
            <a:ext cx="589717" cy="135088"/>
          </a:xfrm>
          <a:prstGeom prst="rect">
            <a:avLst/>
          </a:prstGeom>
          <a:noFill/>
          <a:ln/>
        </p:spPr>
        <p:txBody>
          <a:bodyPr wrap="none" lIns="0" tIns="0" rIns="0" bIns="0" rtlCol="0" anchor="t">
            <a:normAutofit/>
          </a:bodyPr>
          <a:lstStyle/>
          <a:p>
            <a:pPr algn="l" indent="0" marL="0">
              <a:lnSpc>
                <a:spcPts val="1055"/>
              </a:lnSpc>
              <a:buNone/>
            </a:pPr>
            <a:r>
              <a:rPr lang="en-US" sz="703" spc="4" kern="0" dirty="0">
                <a:solidFill>
                  <a:srgbClr val="1F4D3A"/>
                </a:solidFill>
                <a:latin typeface="Carlito" pitchFamily="34" charset="0"/>
                <a:ea typeface="Carlito" pitchFamily="34" charset="-122"/>
                <a:cs typeface="Carlito" pitchFamily="34" charset="-120"/>
              </a:rPr>
              <a:t>Escalation</a:t>
            </a:r>
            <a:endParaRPr lang="en-US" sz="703" dirty="0"/>
          </a:p>
        </p:txBody>
      </p:sp>
      <p:sp>
        <p:nvSpPr>
          <p:cNvPr id="49" name="Text 46"/>
          <p:cNvSpPr/>
          <p:nvPr/>
        </p:nvSpPr>
        <p:spPr>
          <a:xfrm>
            <a:off x="5174866" y="4078077"/>
            <a:ext cx="114300" cy="114300"/>
          </a:xfrm>
          <a:prstGeom prst="rect">
            <a:avLst/>
          </a:prstGeom>
          <a:noFill/>
          <a:ln/>
        </p:spPr>
        <p:txBody>
          <a:bodyPr wrap="none" lIns="0" tIns="0" rIns="0" bIns="0" rtlCol="0" anchor="ctr"/>
          <a:lstStyle/>
          <a:p>
            <a:pPr algn="ctr" indent="0" marL="0">
              <a:buNone/>
            </a:pPr>
            <a:r>
              <a:rPr lang="en-US" sz="1125" dirty="0">
                <a:solidFill>
                  <a:srgbClr val="E8A33D"/>
                </a:solidFill>
                <a:latin typeface="Segoe UI Symbol" pitchFamily="34" charset="0"/>
                <a:ea typeface="Segoe UI Symbol" pitchFamily="34" charset="-122"/>
                <a:cs typeface="Segoe UI Symbol" pitchFamily="34" charset="-120"/>
              </a:rPr>
              <a:t>⚠</a:t>
            </a:r>
            <a:endParaRPr lang="en-US" sz="1125" dirty="0"/>
          </a:p>
        </p:txBody>
      </p:sp>
      <p:sp>
        <p:nvSpPr>
          <p:cNvPr id="50" name="Text 47"/>
          <p:cNvSpPr/>
          <p:nvPr/>
        </p:nvSpPr>
        <p:spPr>
          <a:xfrm>
            <a:off x="5174866" y="4237918"/>
            <a:ext cx="3347628" cy="105955"/>
          </a:xfrm>
          <a:prstGeom prst="rect">
            <a:avLst/>
          </a:prstGeom>
          <a:noFill/>
          <a:ln/>
        </p:spPr>
        <p:txBody>
          <a:bodyPr wrap="square" lIns="85725" tIns="0" rIns="0" bIns="0" rtlCol="0" anchor="t">
            <a:normAutofit/>
          </a:bodyPr>
          <a:lstStyle/>
          <a:p>
            <a:pPr algn="l" indent="0" marL="0">
              <a:lnSpc>
                <a:spcPts val="938"/>
              </a:lnSpc>
              <a:buNone/>
            </a:pPr>
            <a:r>
              <a:rPr lang="en-US" sz="647" dirty="0">
                <a:solidFill>
                  <a:srgbClr val="4A4A4A"/>
                </a:solidFill>
                <a:latin typeface="Carlito" pitchFamily="34" charset="0"/>
                <a:ea typeface="Carlito" pitchFamily="34" charset="-122"/>
                <a:cs typeface="Carlito" pitchFamily="34" charset="-120"/>
              </a:rPr>
              <a:t>Miss &gt;15% → root cause review in 3 days + 30-day improvement plan</a:t>
            </a:r>
            <a:endParaRPr lang="en-US" sz="647" dirty="0"/>
          </a:p>
        </p:txBody>
      </p:sp>
      <p:sp>
        <p:nvSpPr>
          <p:cNvPr id="51" name="Text 48"/>
          <p:cNvSpPr/>
          <p:nvPr/>
        </p:nvSpPr>
        <p:spPr>
          <a:xfrm>
            <a:off x="5174866" y="4371305"/>
            <a:ext cx="3347628" cy="133387"/>
          </a:xfrm>
          <a:prstGeom prst="rect">
            <a:avLst/>
          </a:prstGeom>
          <a:noFill/>
          <a:ln/>
        </p:spPr>
        <p:txBody>
          <a:bodyPr wrap="square" lIns="85725" tIns="0" rIns="0" bIns="0" rtlCol="0" anchor="t"/>
          <a:lstStyle/>
          <a:p>
            <a:pPr algn="l" indent="0" marL="0">
              <a:lnSpc>
                <a:spcPts val="938"/>
              </a:lnSpc>
              <a:buNone/>
            </a:pPr>
            <a:r>
              <a:rPr lang="en-US" sz="800" dirty="0">
                <a:solidFill>
                  <a:srgbClr val="4A4A4A"/>
                </a:solidFill>
                <a:latin typeface="Carlito" pitchFamily="34" charset="0"/>
                <a:ea typeface="Carlito" pitchFamily="34" charset="-122"/>
                <a:cs typeface="Carlito" pitchFamily="34" charset="-120"/>
              </a:rPr>
              <a:t>2 consecutive misses → CEO strategy review</a:t>
            </a:r>
            <a:endParaRPr lang="en-US" sz="800" dirty="0"/>
          </a:p>
        </p:txBody>
      </p:sp>
      <p:sp>
        <p:nvSpPr>
          <p:cNvPr id="52" name="Shape 49"/>
          <p:cNvSpPr/>
          <p:nvPr/>
        </p:nvSpPr>
        <p:spPr>
          <a:xfrm>
            <a:off x="514350" y="4764881"/>
            <a:ext cx="8115300" cy="0"/>
          </a:xfrm>
          <a:prstGeom prst="line">
            <a:avLst/>
          </a:prstGeom>
          <a:noFill/>
          <a:ln w="7144">
            <a:solidFill>
              <a:srgbClr val="E2DCCB"/>
            </a:solidFill>
            <a:prstDash val="solid"/>
          </a:ln>
        </p:spPr>
      </p:sp>
      <p:sp>
        <p:nvSpPr>
          <p:cNvPr id="53" name="Text 50"/>
          <p:cNvSpPr/>
          <p:nvPr/>
        </p:nvSpPr>
        <p:spPr>
          <a:xfrm>
            <a:off x="514350" y="4854178"/>
            <a:ext cx="7464437"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54" name="Text 51"/>
          <p:cNvSpPr/>
          <p:nvPr/>
        </p:nvSpPr>
        <p:spPr>
          <a:xfrm>
            <a:off x="7993075" y="4854178"/>
            <a:ext cx="636575" cy="117872"/>
          </a:xfrm>
          <a:prstGeom prst="rect">
            <a:avLst/>
          </a:prstGeom>
          <a:noFill/>
          <a:ln/>
        </p:spPr>
        <p:txBody>
          <a:bodyPr wrap="non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TWV-SAL-PLN-001</a:t>
            </a:r>
            <a:endParaRPr lang="en-US" sz="61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66567" y="433983"/>
            <a:ext cx="579222" cy="151805"/>
          </a:xfrm>
          <a:prstGeom prst="rect">
            <a:avLst/>
          </a:prstGeom>
          <a:noFill/>
          <a:ln/>
        </p:spPr>
        <p:txBody>
          <a:bodyPr wrap="none" lIns="0" tIns="0" rIns="0" bIns="0" rtlCol="0" anchor="t"/>
          <a:lstStyle/>
          <a:p>
            <a:pPr algn="l" indent="0" marL="0">
              <a:lnSpc>
                <a:spcPts val="928"/>
              </a:lnSpc>
              <a:buNone/>
            </a:pPr>
            <a:r>
              <a:rPr lang="en-US" sz="619" spc="50" kern="0" dirty="0">
                <a:solidFill>
                  <a:srgbClr val="7A7A7A"/>
                </a:solidFill>
                <a:latin typeface="Liberation Sans Narrow" pitchFamily="34" charset="0"/>
                <a:ea typeface="Liberation Sans Narrow" pitchFamily="34" charset="-122"/>
                <a:cs typeface="Liberation Sans Narrow" pitchFamily="34" charset="-120"/>
              </a:rPr>
              <a:t>Page 09 / 15</a:t>
            </a:r>
            <a:endParaRPr lang="en-US" sz="619" dirty="0"/>
          </a:p>
        </p:txBody>
      </p:sp>
      <p:sp>
        <p:nvSpPr>
          <p:cNvPr id="9" name="Text 7"/>
          <p:cNvSpPr/>
          <p:nvPr/>
        </p:nvSpPr>
        <p:spPr>
          <a:xfrm>
            <a:off x="514350" y="921544"/>
            <a:ext cx="862965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DELIVERABLES 06 + 07</a:t>
            </a:r>
            <a:endParaRPr lang="en-US" sz="800" dirty="0"/>
          </a:p>
        </p:txBody>
      </p:sp>
      <p:sp>
        <p:nvSpPr>
          <p:cNvPr id="10" name="Text 8"/>
          <p:cNvSpPr/>
          <p:nvPr/>
        </p:nvSpPr>
        <p:spPr>
          <a:xfrm>
            <a:off x="514350" y="1082278"/>
            <a:ext cx="8071009" cy="266801"/>
          </a:xfrm>
          <a:prstGeom prst="rect">
            <a:avLst/>
          </a:prstGeom>
          <a:noFill/>
          <a:ln/>
        </p:spPr>
        <p:txBody>
          <a:bodyPr wrap="none" lIns="0" tIns="0" rIns="0" bIns="0" rtlCol="0" anchor="t">
            <a:normAutofit/>
          </a:bodyPr>
          <a:lstStyle/>
          <a:p>
            <a:pPr algn="l" indent="0" marL="0">
              <a:lnSpc>
                <a:spcPts val="1980"/>
              </a:lnSpc>
              <a:buNone/>
            </a:pPr>
            <a:r>
              <a:rPr lang="en-US" sz="1800" b="1" dirty="0">
                <a:solidFill>
                  <a:srgbClr val="1F4D3A"/>
                </a:solidFill>
                <a:latin typeface="Tinos" pitchFamily="34" charset="0"/>
                <a:ea typeface="Tinos" pitchFamily="34" charset="-122"/>
                <a:cs typeface="Tinos" pitchFamily="34" charset="-120"/>
              </a:rPr>
              <a:t>Communication Ethics</a:t>
            </a:r>
            <a:endParaRPr lang="en-US" sz="1800" dirty="0"/>
          </a:p>
        </p:txBody>
      </p:sp>
      <p:sp>
        <p:nvSpPr>
          <p:cNvPr id="11" name="Text 9"/>
          <p:cNvSpPr/>
          <p:nvPr/>
        </p:nvSpPr>
        <p:spPr>
          <a:xfrm>
            <a:off x="514350" y="1376511"/>
            <a:ext cx="7686675"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TWV-COM-SOP-001 + TWV-CLT-SOP-001 • Owner: HR / Sales / Marketing Manager</a:t>
            </a:r>
            <a:endParaRPr lang="en-US" sz="800" dirty="0"/>
          </a:p>
        </p:txBody>
      </p:sp>
      <p:sp>
        <p:nvSpPr>
          <p:cNvPr id="12" name="Text 10"/>
          <p:cNvSpPr/>
          <p:nvPr/>
        </p:nvSpPr>
        <p:spPr>
          <a:xfrm>
            <a:off x="8201025" y="1078706"/>
            <a:ext cx="428625"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13" name="Text 11"/>
          <p:cNvSpPr/>
          <p:nvPr/>
        </p:nvSpPr>
        <p:spPr>
          <a:xfrm>
            <a:off x="700088" y="1622971"/>
            <a:ext cx="1784272" cy="138875"/>
          </a:xfrm>
          <a:prstGeom prst="rect">
            <a:avLst/>
          </a:prstGeom>
          <a:noFill/>
          <a:ln/>
        </p:spPr>
        <p:txBody>
          <a:bodyPr wrap="square" lIns="0" tIns="0" rIns="0" bIns="0" rtlCol="0" anchor="t"/>
          <a:lstStyle/>
          <a:p>
            <a:pPr algn="l" indent="0" marL="0">
              <a:lnSpc>
                <a:spcPts val="1266"/>
              </a:lnSpc>
              <a:buNone/>
            </a:pPr>
            <a:r>
              <a:rPr lang="en-US" sz="844" dirty="0">
                <a:solidFill>
                  <a:srgbClr val="1F4D3A"/>
                </a:solidFill>
                <a:latin typeface="Carlito" pitchFamily="34" charset="0"/>
                <a:ea typeface="Carlito" pitchFamily="34" charset="-122"/>
                <a:cs typeface="Carlito" pitchFamily="34" charset="-120"/>
              </a:rPr>
              <a:t>Professional Communication Ethics</a:t>
            </a:r>
            <a:endParaRPr lang="en-US" sz="844" dirty="0"/>
          </a:p>
        </p:txBody>
      </p:sp>
      <p:sp>
        <p:nvSpPr>
          <p:cNvPr id="14" name="Text 12"/>
          <p:cNvSpPr/>
          <p:nvPr/>
        </p:nvSpPr>
        <p:spPr>
          <a:xfrm>
            <a:off x="514350" y="1624757"/>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514350" y="1855143"/>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PRINCIPLES</a:t>
            </a:r>
            <a:endParaRPr lang="en-US" sz="800" dirty="0"/>
          </a:p>
        </p:txBody>
      </p:sp>
      <p:sp>
        <p:nvSpPr>
          <p:cNvPr id="16" name="Text 14"/>
          <p:cNvSpPr/>
          <p:nvPr/>
        </p:nvSpPr>
        <p:spPr>
          <a:xfrm>
            <a:off x="514350" y="2005161"/>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Respectful, clear, confidential, consistent across every channel</a:t>
            </a:r>
            <a:endParaRPr lang="en-US" sz="800" dirty="0"/>
          </a:p>
        </p:txBody>
      </p:sp>
      <p:sp>
        <p:nvSpPr>
          <p:cNvPr id="17" name="Text 15"/>
          <p:cNvSpPr/>
          <p:nvPr/>
        </p:nvSpPr>
        <p:spPr>
          <a:xfrm>
            <a:off x="514350" y="2156073"/>
            <a:ext cx="3854053" cy="123480"/>
          </a:xfrm>
          <a:prstGeom prst="rect">
            <a:avLst/>
          </a:prstGeom>
          <a:noFill/>
          <a:ln/>
        </p:spPr>
        <p:txBody>
          <a:bodyPr wrap="square" lIns="100013"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One official channel for company matters; no client data on personal accounts</a:t>
            </a:r>
            <a:endParaRPr lang="en-US" sz="703" dirty="0"/>
          </a:p>
        </p:txBody>
      </p:sp>
      <p:sp>
        <p:nvSpPr>
          <p:cNvPr id="18" name="Text 16"/>
          <p:cNvSpPr/>
          <p:nvPr/>
        </p:nvSpPr>
        <p:spPr>
          <a:xfrm>
            <a:off x="514350" y="2306985"/>
            <a:ext cx="3854053" cy="123480"/>
          </a:xfrm>
          <a:prstGeom prst="rect">
            <a:avLst/>
          </a:prstGeom>
          <a:noFill/>
          <a:ln/>
        </p:spPr>
        <p:txBody>
          <a:bodyPr wrap="square" lIns="100013"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Tone: prompt, factual, no gossip, no disparagement of colleagues or competitors</a:t>
            </a:r>
            <a:endParaRPr lang="en-US" sz="703" dirty="0"/>
          </a:p>
        </p:txBody>
      </p:sp>
      <p:sp>
        <p:nvSpPr>
          <p:cNvPr id="19" name="Text 17"/>
          <p:cNvSpPr/>
          <p:nvPr/>
        </p:nvSpPr>
        <p:spPr>
          <a:xfrm>
            <a:off x="514350" y="2457896"/>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Confidential information shared only on need-to-know basis</a:t>
            </a:r>
            <a:endParaRPr lang="en-US" sz="800" dirty="0"/>
          </a:p>
        </p:txBody>
      </p:sp>
      <p:sp>
        <p:nvSpPr>
          <p:cNvPr id="20" name="Text 18"/>
          <p:cNvSpPr/>
          <p:nvPr/>
        </p:nvSpPr>
        <p:spPr>
          <a:xfrm>
            <a:off x="514350" y="2673102"/>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CHANNEL DISCIPLINE</a:t>
            </a:r>
            <a:endParaRPr lang="en-US" sz="800" dirty="0"/>
          </a:p>
        </p:txBody>
      </p:sp>
      <p:sp>
        <p:nvSpPr>
          <p:cNvPr id="21" name="Text 19"/>
          <p:cNvSpPr/>
          <p:nvPr/>
        </p:nvSpPr>
        <p:spPr>
          <a:xfrm>
            <a:off x="514350" y="2823121"/>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Internal: approved email, messaging app, in-person</a:t>
            </a:r>
            <a:endParaRPr lang="en-US" sz="800" dirty="0"/>
          </a:p>
        </p:txBody>
      </p:sp>
      <p:sp>
        <p:nvSpPr>
          <p:cNvPr id="22" name="Text 20"/>
          <p:cNvSpPr/>
          <p:nvPr/>
        </p:nvSpPr>
        <p:spPr>
          <a:xfrm>
            <a:off x="514350" y="2974032"/>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Meetings need agenda 24h ahead + minutes within 24h after</a:t>
            </a:r>
            <a:endParaRPr lang="en-US" sz="800" dirty="0"/>
          </a:p>
        </p:txBody>
      </p:sp>
      <p:sp>
        <p:nvSpPr>
          <p:cNvPr id="23" name="Text 21"/>
          <p:cNvSpPr/>
          <p:nvPr/>
        </p:nvSpPr>
        <p:spPr>
          <a:xfrm>
            <a:off x="514350" y="3124944"/>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Decisions and action owners recorded in TWV-FRM-001</a:t>
            </a:r>
            <a:endParaRPr lang="en-US" sz="800" dirty="0"/>
          </a:p>
        </p:txBody>
      </p:sp>
      <p:sp>
        <p:nvSpPr>
          <p:cNvPr id="24" name="Text 22"/>
          <p:cNvSpPr/>
          <p:nvPr/>
        </p:nvSpPr>
        <p:spPr>
          <a:xfrm>
            <a:off x="514350" y="3275856"/>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Phones on silent; one speaker at a time</a:t>
            </a:r>
            <a:endParaRPr lang="en-US" sz="800" dirty="0"/>
          </a:p>
        </p:txBody>
      </p:sp>
      <p:sp>
        <p:nvSpPr>
          <p:cNvPr id="25" name="Text 23"/>
          <p:cNvSpPr/>
          <p:nvPr/>
        </p:nvSpPr>
        <p:spPr>
          <a:xfrm>
            <a:off x="514350" y="3491061"/>
            <a:ext cx="5305345"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UNACCEPTABLE</a:t>
            </a:r>
            <a:endParaRPr lang="en-US" sz="800" dirty="0"/>
          </a:p>
        </p:txBody>
      </p:sp>
      <p:sp>
        <p:nvSpPr>
          <p:cNvPr id="26" name="Text 24"/>
          <p:cNvSpPr/>
          <p:nvPr/>
        </p:nvSpPr>
        <p:spPr>
          <a:xfrm>
            <a:off x="514350" y="3641080"/>
            <a:ext cx="3854053" cy="318211"/>
          </a:xfrm>
          <a:prstGeom prst="rect">
            <a:avLst/>
          </a:prstGeom>
          <a:noFill/>
          <a:ln/>
        </p:spPr>
        <p:txBody>
          <a:bodyPr wrap="square" lIns="0" tIns="0" rIns="0" bIns="0" rtlCol="0" anchor="t"/>
          <a:lstStyle/>
          <a:p>
            <a:pPr algn="l" indent="0" marL="0">
              <a:lnSpc>
                <a:spcPts val="1020"/>
              </a:lnSpc>
              <a:buNone/>
            </a:pPr>
            <a:r>
              <a:rPr lang="en-US" sz="800" i="1" dirty="0">
                <a:solidFill>
                  <a:srgbClr val="4A4A4A"/>
                </a:solidFill>
                <a:latin typeface="Carlito" pitchFamily="34" charset="0"/>
                <a:ea typeface="Carlito" pitchFamily="34" charset="-122"/>
                <a:cs typeface="Carlito" pitchFamily="34" charset="-120"/>
              </a:rPr>
              <a:t>Harassment, discrimination, bullying, leaking confidential info, using company channels for personal gain.</a:t>
            </a:r>
            <a:endParaRPr lang="en-US" sz="800" dirty="0"/>
          </a:p>
        </p:txBody>
      </p:sp>
      <p:sp>
        <p:nvSpPr>
          <p:cNvPr id="27" name="Text 25"/>
          <p:cNvSpPr/>
          <p:nvPr/>
        </p:nvSpPr>
        <p:spPr>
          <a:xfrm>
            <a:off x="4568428" y="1608683"/>
            <a:ext cx="7144" cy="3134767"/>
          </a:xfrm>
          <a:prstGeom prst="rect">
            <a:avLst/>
          </a:prstGeom>
          <a:solidFill>
            <a:srgbClr val="F4C77B"/>
          </a:solidFill>
          <a:ln/>
        </p:spPr>
        <p:txBody>
          <a:bodyPr wrap="square" rtlCol="0" anchor="ctr"/>
          <a:lstStyle/>
          <a:p>
            <a:pPr indent="0" marL="0">
              <a:buNone/>
            </a:pPr>
            <a:endParaRPr lang="en-US" dirty="0"/>
          </a:p>
        </p:txBody>
      </p:sp>
      <p:sp>
        <p:nvSpPr>
          <p:cNvPr id="28" name="Text 26"/>
          <p:cNvSpPr/>
          <p:nvPr/>
        </p:nvSpPr>
        <p:spPr>
          <a:xfrm>
            <a:off x="4961334" y="1622971"/>
            <a:ext cx="1492793" cy="138875"/>
          </a:xfrm>
          <a:prstGeom prst="rect">
            <a:avLst/>
          </a:prstGeom>
          <a:noFill/>
          <a:ln/>
        </p:spPr>
        <p:txBody>
          <a:bodyPr wrap="none" lIns="0" tIns="0" rIns="0" bIns="0" rtlCol="0" anchor="t"/>
          <a:lstStyle/>
          <a:p>
            <a:pPr algn="l" indent="0" marL="0">
              <a:lnSpc>
                <a:spcPts val="1266"/>
              </a:lnSpc>
              <a:buNone/>
            </a:pPr>
            <a:r>
              <a:rPr lang="en-US" sz="844" dirty="0">
                <a:solidFill>
                  <a:srgbClr val="1F4D3A"/>
                </a:solidFill>
                <a:latin typeface="Carlito" pitchFamily="34" charset="0"/>
                <a:ea typeface="Carlito" pitchFamily="34" charset="-122"/>
                <a:cs typeface="Carlito" pitchFamily="34" charset="-120"/>
              </a:rPr>
              <a:t>Client Engagement Ethics</a:t>
            </a:r>
            <a:endParaRPr lang="en-US" sz="844" dirty="0"/>
          </a:p>
        </p:txBody>
      </p:sp>
      <p:sp>
        <p:nvSpPr>
          <p:cNvPr id="29" name="Text 27"/>
          <p:cNvSpPr/>
          <p:nvPr/>
        </p:nvSpPr>
        <p:spPr>
          <a:xfrm>
            <a:off x="4775597" y="1624757"/>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4775597" y="1855143"/>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LIFECYCLE</a:t>
            </a:r>
            <a:endParaRPr lang="en-US" sz="800" dirty="0"/>
          </a:p>
        </p:txBody>
      </p:sp>
      <p:sp>
        <p:nvSpPr>
          <p:cNvPr id="31" name="Text 29"/>
          <p:cNvSpPr/>
          <p:nvPr/>
        </p:nvSpPr>
        <p:spPr>
          <a:xfrm>
            <a:off x="4947047" y="2012305"/>
            <a:ext cx="1382204"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Liberation Sans Narrow" pitchFamily="34" charset="0"/>
                <a:ea typeface="Liberation Sans Narrow" pitchFamily="34" charset="-122"/>
                <a:cs typeface="Liberation Sans Narrow" pitchFamily="34" charset="-120"/>
              </a:rPr>
              <a:t>First contact within 2 working hours</a:t>
            </a:r>
            <a:endParaRPr lang="en-US" sz="703" dirty="0"/>
          </a:p>
        </p:txBody>
      </p:sp>
      <p:sp>
        <p:nvSpPr>
          <p:cNvPr id="32" name="Text 30"/>
          <p:cNvSpPr/>
          <p:nvPr/>
        </p:nvSpPr>
        <p:spPr>
          <a:xfrm>
            <a:off x="4762257" y="2005161"/>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1.</a:t>
            </a:r>
            <a:endParaRPr lang="en-US" sz="800" dirty="0"/>
          </a:p>
        </p:txBody>
      </p:sp>
      <p:sp>
        <p:nvSpPr>
          <p:cNvPr id="33" name="Text 31"/>
          <p:cNvSpPr/>
          <p:nvPr/>
        </p:nvSpPr>
        <p:spPr>
          <a:xfrm>
            <a:off x="4947047" y="2163217"/>
            <a:ext cx="1532000"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Needs assessment &amp; honest quotation</a:t>
            </a:r>
            <a:endParaRPr lang="en-US" sz="703" dirty="0"/>
          </a:p>
        </p:txBody>
      </p:sp>
      <p:sp>
        <p:nvSpPr>
          <p:cNvPr id="34" name="Text 32"/>
          <p:cNvSpPr/>
          <p:nvPr/>
        </p:nvSpPr>
        <p:spPr>
          <a:xfrm>
            <a:off x="4762257" y="2156073"/>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2.</a:t>
            </a:r>
            <a:endParaRPr lang="en-US" sz="800" dirty="0"/>
          </a:p>
        </p:txBody>
      </p:sp>
      <p:sp>
        <p:nvSpPr>
          <p:cNvPr id="35" name="Text 33"/>
          <p:cNvSpPr/>
          <p:nvPr/>
        </p:nvSpPr>
        <p:spPr>
          <a:xfrm>
            <a:off x="4947047" y="2314129"/>
            <a:ext cx="1631677"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Service delivery with documented consent</a:t>
            </a:r>
            <a:endParaRPr lang="en-US" sz="703" dirty="0"/>
          </a:p>
        </p:txBody>
      </p:sp>
      <p:sp>
        <p:nvSpPr>
          <p:cNvPr id="36" name="Text 34"/>
          <p:cNvSpPr/>
          <p:nvPr/>
        </p:nvSpPr>
        <p:spPr>
          <a:xfrm>
            <a:off x="4762257" y="2306985"/>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3.</a:t>
            </a:r>
            <a:endParaRPr lang="en-US" sz="800" dirty="0"/>
          </a:p>
        </p:txBody>
      </p:sp>
      <p:sp>
        <p:nvSpPr>
          <p:cNvPr id="37" name="Text 35"/>
          <p:cNvSpPr/>
          <p:nvPr/>
        </p:nvSpPr>
        <p:spPr>
          <a:xfrm>
            <a:off x="4947047" y="2465040"/>
            <a:ext cx="1464246" cy="116336"/>
          </a:xfrm>
          <a:prstGeom prst="rect">
            <a:avLst/>
          </a:prstGeom>
          <a:noFill/>
          <a:ln/>
        </p:spPr>
        <p:txBody>
          <a:bodyPr wrap="square" lIns="171450" tIns="0" rIns="0" bIns="0" rtlCol="0" anchor="t">
            <a:normAutofit/>
          </a:bodyPr>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Follow-up at Day 1, 3, 7, then nurture</a:t>
            </a:r>
            <a:endParaRPr lang="en-US" sz="703" dirty="0"/>
          </a:p>
        </p:txBody>
      </p:sp>
      <p:sp>
        <p:nvSpPr>
          <p:cNvPr id="38" name="Text 36"/>
          <p:cNvSpPr/>
          <p:nvPr/>
        </p:nvSpPr>
        <p:spPr>
          <a:xfrm>
            <a:off x="4762257" y="2457896"/>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4.</a:t>
            </a:r>
            <a:endParaRPr lang="en-US" sz="800" dirty="0"/>
          </a:p>
        </p:txBody>
      </p:sp>
      <p:sp>
        <p:nvSpPr>
          <p:cNvPr id="39" name="Text 37"/>
          <p:cNvSpPr/>
          <p:nvPr/>
        </p:nvSpPr>
        <p:spPr>
          <a:xfrm>
            <a:off x="4947047" y="2615952"/>
            <a:ext cx="1332198" cy="140452"/>
          </a:xfrm>
          <a:prstGeom prst="rect">
            <a:avLst/>
          </a:prstGeom>
          <a:noFill/>
          <a:ln/>
        </p:spPr>
        <p:txBody>
          <a:bodyPr wrap="square" lIns="171450" tIns="0" rIns="0" bIns="0" rtlCol="0" anchor="t"/>
          <a:lstStyle/>
          <a:p>
            <a:pPr algn="l" indent="0" marL="0">
              <a:lnSpc>
                <a:spcPts val="1020"/>
              </a:lnSpc>
              <a:buNone/>
            </a:pPr>
            <a:r>
              <a:rPr lang="en-US" sz="703" dirty="0">
                <a:solidFill>
                  <a:srgbClr val="4A4A4A"/>
                </a:solidFill>
                <a:latin typeface="Carlito" pitchFamily="34" charset="0"/>
                <a:ea typeface="Carlito" pitchFamily="34" charset="-122"/>
                <a:cs typeface="Carlito" pitchFamily="34" charset="-120"/>
              </a:rPr>
              <a:t>Offboarding with feedback capture</a:t>
            </a:r>
            <a:endParaRPr lang="en-US" sz="703" dirty="0"/>
          </a:p>
        </p:txBody>
      </p:sp>
      <p:sp>
        <p:nvSpPr>
          <p:cNvPr id="40" name="Text 38"/>
          <p:cNvSpPr/>
          <p:nvPr/>
        </p:nvSpPr>
        <p:spPr>
          <a:xfrm>
            <a:off x="4762257" y="2608808"/>
            <a:ext cx="163840" cy="159020"/>
          </a:xfrm>
          <a:prstGeom prst="rect">
            <a:avLst/>
          </a:prstGeom>
          <a:noFill/>
          <a:ln/>
        </p:spPr>
        <p:txBody>
          <a:bodyPr wrap="square" lIns="0" tIns="0" rIns="0" bIns="0" rtlCol="0" anchor="t"/>
          <a:lstStyle/>
          <a:p>
            <a:pPr algn="l" indent="0" marL="0">
              <a:lnSpc>
                <a:spcPts val="979"/>
              </a:lnSpc>
              <a:buNone/>
            </a:pPr>
            <a:r>
              <a:rPr lang="en-US" sz="800" dirty="0">
                <a:solidFill>
                  <a:srgbClr val="B57820"/>
                </a:solidFill>
                <a:latin typeface="Liberation Sans Narrow" pitchFamily="34" charset="0"/>
                <a:ea typeface="Liberation Sans Narrow" pitchFamily="34" charset="-122"/>
                <a:cs typeface="Liberation Sans Narrow" pitchFamily="34" charset="-120"/>
              </a:rPr>
              <a:t>5.</a:t>
            </a:r>
            <a:endParaRPr lang="en-US" sz="800" dirty="0"/>
          </a:p>
        </p:txBody>
      </p:sp>
      <p:sp>
        <p:nvSpPr>
          <p:cNvPr id="41" name="Text 39"/>
          <p:cNvSpPr/>
          <p:nvPr/>
        </p:nvSpPr>
        <p:spPr>
          <a:xfrm>
            <a:off x="4775597" y="2824014"/>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CLIENT PROMISE</a:t>
            </a:r>
            <a:endParaRPr lang="en-US" sz="800" dirty="0"/>
          </a:p>
        </p:txBody>
      </p:sp>
      <p:sp>
        <p:nvSpPr>
          <p:cNvPr id="42" name="Text 40"/>
          <p:cNvSpPr/>
          <p:nvPr/>
        </p:nvSpPr>
        <p:spPr>
          <a:xfrm>
            <a:off x="4775597" y="2974032"/>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Honest claims; never exaggerate results or health benefits</a:t>
            </a:r>
            <a:endParaRPr lang="en-US" sz="800" dirty="0"/>
          </a:p>
        </p:txBody>
      </p:sp>
      <p:sp>
        <p:nvSpPr>
          <p:cNvPr id="43" name="Text 41"/>
          <p:cNvSpPr/>
          <p:nvPr/>
        </p:nvSpPr>
        <p:spPr>
          <a:xfrm>
            <a:off x="4775597" y="3124944"/>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Confidentiality of all client health and payment data</a:t>
            </a:r>
            <a:endParaRPr lang="en-US" sz="800" dirty="0"/>
          </a:p>
        </p:txBody>
      </p:sp>
      <p:sp>
        <p:nvSpPr>
          <p:cNvPr id="44" name="Text 42"/>
          <p:cNvSpPr/>
          <p:nvPr/>
        </p:nvSpPr>
        <p:spPr>
          <a:xfrm>
            <a:off x="4775597" y="3275856"/>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No upselling that contradicts professional advice</a:t>
            </a:r>
            <a:endParaRPr lang="en-US" sz="800" dirty="0"/>
          </a:p>
        </p:txBody>
      </p:sp>
      <p:sp>
        <p:nvSpPr>
          <p:cNvPr id="45" name="Text 43"/>
          <p:cNvSpPr/>
          <p:nvPr/>
        </p:nvSpPr>
        <p:spPr>
          <a:xfrm>
            <a:off x="4775597" y="3426768"/>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Diet plans reviewed and signed by qualified person before delivery</a:t>
            </a:r>
            <a:endParaRPr lang="en-US" sz="800" dirty="0"/>
          </a:p>
        </p:txBody>
      </p:sp>
      <p:sp>
        <p:nvSpPr>
          <p:cNvPr id="46" name="Text 44"/>
          <p:cNvSpPr/>
          <p:nvPr/>
        </p:nvSpPr>
        <p:spPr>
          <a:xfrm>
            <a:off x="4775597" y="3641973"/>
            <a:ext cx="4368403" cy="122587"/>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2F6B53"/>
                </a:solidFill>
                <a:latin typeface="Carlito" pitchFamily="34" charset="0"/>
                <a:ea typeface="Carlito" pitchFamily="34" charset="-122"/>
                <a:cs typeface="Carlito" pitchFamily="34" charset="-120"/>
              </a:rPr>
              <a:t>COMPLAINTS</a:t>
            </a:r>
            <a:endParaRPr lang="en-US" sz="800" dirty="0"/>
          </a:p>
        </p:txBody>
      </p:sp>
      <p:sp>
        <p:nvSpPr>
          <p:cNvPr id="47" name="Text 45"/>
          <p:cNvSpPr/>
          <p:nvPr/>
        </p:nvSpPr>
        <p:spPr>
          <a:xfrm>
            <a:off x="4775597" y="3791992"/>
            <a:ext cx="3854053" cy="123480"/>
          </a:xfrm>
          <a:prstGeom prst="rect">
            <a:avLst/>
          </a:prstGeom>
          <a:noFill/>
          <a:ln/>
        </p:spPr>
        <p:txBody>
          <a:bodyPr wrap="square" lIns="100013" tIns="0" rIns="0" bIns="0" rtlCol="0" anchor="t">
            <a:normAutofit/>
          </a:bodyPr>
          <a:lstStyle/>
          <a:p>
            <a:pPr algn="l" indent="0" marL="0">
              <a:lnSpc>
                <a:spcPts val="1020"/>
              </a:lnSpc>
              <a:buNone/>
            </a:pPr>
            <a:r>
              <a:rPr lang="en-US" sz="800" dirty="0">
                <a:solidFill>
                  <a:srgbClr val="4A4A4A"/>
                </a:solidFill>
                <a:latin typeface="Carlito" pitchFamily="34" charset="0"/>
                <a:ea typeface="Carlito" pitchFamily="34" charset="-122"/>
                <a:cs typeface="Carlito" pitchFamily="34" charset="-120"/>
              </a:rPr>
              <a:t>Acknowledge within 24 hours, resolve within 5 working days</a:t>
            </a:r>
            <a:endParaRPr lang="en-US" sz="800" dirty="0"/>
          </a:p>
        </p:txBody>
      </p:sp>
      <p:sp>
        <p:nvSpPr>
          <p:cNvPr id="48" name="Text 46"/>
          <p:cNvSpPr/>
          <p:nvPr/>
        </p:nvSpPr>
        <p:spPr>
          <a:xfrm>
            <a:off x="4775597" y="3942904"/>
            <a:ext cx="3854053" cy="159106"/>
          </a:xfrm>
          <a:prstGeom prst="rect">
            <a:avLst/>
          </a:prstGeom>
          <a:noFill/>
          <a:ln/>
        </p:spPr>
        <p:txBody>
          <a:bodyPr wrap="square" lIns="100013" tIns="0" rIns="0" bIns="0" rtlCol="0" anchor="t"/>
          <a:lstStyle/>
          <a:p>
            <a:pPr algn="l" indent="0" marL="0">
              <a:lnSpc>
                <a:spcPts val="1020"/>
              </a:lnSpc>
              <a:buNone/>
            </a:pPr>
            <a:r>
              <a:rPr lang="en-US" sz="800" dirty="0">
                <a:solidFill>
                  <a:srgbClr val="4A4A4A"/>
                </a:solidFill>
                <a:latin typeface="Liberation Sans Narrow" pitchFamily="34" charset="0"/>
                <a:ea typeface="Liberation Sans Narrow" pitchFamily="34" charset="-122"/>
                <a:cs typeface="Liberation Sans Narrow" pitchFamily="34" charset="-120"/>
              </a:rPr>
              <a:t>Escalate via standard 4-level ladder</a:t>
            </a:r>
            <a:endParaRPr lang="en-US" sz="800" dirty="0"/>
          </a:p>
        </p:txBody>
      </p:sp>
      <p:sp>
        <p:nvSpPr>
          <p:cNvPr id="49" name="Shape 47"/>
          <p:cNvSpPr/>
          <p:nvPr/>
        </p:nvSpPr>
        <p:spPr>
          <a:xfrm>
            <a:off x="514350" y="4764881"/>
            <a:ext cx="8115300" cy="0"/>
          </a:xfrm>
          <a:prstGeom prst="line">
            <a:avLst/>
          </a:prstGeom>
          <a:noFill/>
          <a:ln w="7144">
            <a:solidFill>
              <a:srgbClr val="E2DCCB"/>
            </a:solidFill>
            <a:prstDash val="solid"/>
          </a:ln>
        </p:spPr>
      </p:sp>
      <p:sp>
        <p:nvSpPr>
          <p:cNvPr id="50" name="Text 48"/>
          <p:cNvSpPr/>
          <p:nvPr/>
        </p:nvSpPr>
        <p:spPr>
          <a:xfrm>
            <a:off x="514350" y="4854178"/>
            <a:ext cx="6700614"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51" name="Text 49"/>
          <p:cNvSpPr/>
          <p:nvPr/>
        </p:nvSpPr>
        <p:spPr>
          <a:xfrm>
            <a:off x="7229252" y="4854178"/>
            <a:ext cx="1484422" cy="117872"/>
          </a:xfrm>
          <a:prstGeom prst="rect">
            <a:avLst/>
          </a:prstGeom>
          <a:noFill/>
          <a:ln/>
        </p:spPr>
        <p:txBody>
          <a:bodyPr wrap="squar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TWV-COM-SOP-001 + TWV-CLT-SOP-001</a:t>
            </a:r>
            <a:endParaRPr lang="en-US" sz="61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4480903" y="-285750"/>
            <a:ext cx="4663097" cy="2777490"/>
          </a:xfrm>
          <a:prstGeom prst="rect">
            <a:avLst/>
          </a:prstGeom>
          <a:noFill/>
          <a:ln/>
        </p:spPr>
        <p:txBody>
          <a:bodyPr wrap="square" lIns="0" tIns="0" rIns="0" bIns="0" rtlCol="0" anchor="t"/>
          <a:lstStyle/>
          <a:p>
            <a:pPr algn="l" indent="0" marL="0">
              <a:lnSpc>
                <a:spcPts val="20250"/>
              </a:lnSpc>
              <a:buNone/>
            </a:pPr>
            <a:r>
              <a:rPr lang="en-US" sz="20250" b="1" spc="-810" kern="0" dirty="0">
                <a:solidFill>
                  <a:srgbClr val="E8A33D">
                    <a:alpha val="5000"/>
                  </a:srgbClr>
                </a:solidFill>
                <a:latin typeface="Liberation Sans Narrow" pitchFamily="34" charset="0"/>
                <a:ea typeface="Liberation Sans Narrow" pitchFamily="34" charset="-122"/>
                <a:cs typeface="Liberation Sans Narrow" pitchFamily="34" charset="-120"/>
              </a:rPr>
              <a:t>03</a:t>
            </a:r>
            <a:endParaRPr lang="en-US" sz="20250" dirty="0"/>
          </a:p>
        </p:txBody>
      </p:sp>
      <p:sp>
        <p:nvSpPr>
          <p:cNvPr id="3" name="Text 1"/>
          <p:cNvSpPr/>
          <p:nvPr/>
        </p:nvSpPr>
        <p:spPr>
          <a:xfrm>
            <a:off x="8082707" y="287536"/>
            <a:ext cx="57150" cy="57150"/>
          </a:xfrm>
          <a:prstGeom prst="ellipse">
            <a:avLst/>
          </a:prstGeom>
          <a:solidFill>
            <a:srgbClr val="E8A33D"/>
          </a:solidFill>
          <a:ln/>
        </p:spPr>
        <p:txBody>
          <a:bodyPr wrap="square" rtlCol="0" anchor="ctr"/>
          <a:lstStyle/>
          <a:p>
            <a:pPr indent="0" marL="0">
              <a:buNone/>
            </a:pPr>
            <a:endParaRPr lang="en-US" dirty="0"/>
          </a:p>
        </p:txBody>
      </p:sp>
      <p:sp>
        <p:nvSpPr>
          <p:cNvPr id="4" name="Text 2"/>
          <p:cNvSpPr/>
          <p:nvPr/>
        </p:nvSpPr>
        <p:spPr>
          <a:xfrm>
            <a:off x="8197007" y="257175"/>
            <a:ext cx="674860" cy="164592"/>
          </a:xfrm>
          <a:prstGeom prst="rect">
            <a:avLst/>
          </a:prstGeom>
          <a:noFill/>
          <a:ln/>
        </p:spPr>
        <p:txBody>
          <a:bodyPr wrap="none" lIns="0" tIns="0" rIns="0" bIns="0" rtlCol="0" anchor="t"/>
          <a:lstStyle/>
          <a:p>
            <a:pPr algn="l" indent="0" marL="0">
              <a:lnSpc>
                <a:spcPts val="928"/>
              </a:lnSpc>
              <a:buNone/>
            </a:pPr>
            <a:r>
              <a:rPr lang="en-US" sz="619" spc="50" kern="0" dirty="0">
                <a:solidFill>
                  <a:srgbClr val="FFFFFF">
                    <a:alpha val="55000"/>
                  </a:srgbClr>
                </a:solidFill>
                <a:latin typeface="Liberation Sans Narrow" pitchFamily="34" charset="0"/>
                <a:ea typeface="Liberation Sans Narrow" pitchFamily="34" charset="-122"/>
                <a:cs typeface="Liberation Sans Narrow" pitchFamily="34" charset="-120"/>
              </a:rPr>
              <a:t>PAGE 10 / 15</a:t>
            </a:r>
            <a:endParaRPr lang="en-US" sz="619" dirty="0"/>
          </a:p>
        </p:txBody>
      </p:sp>
      <p:sp>
        <p:nvSpPr>
          <p:cNvPr id="5" name="Text 3"/>
          <p:cNvSpPr/>
          <p:nvPr/>
        </p:nvSpPr>
        <p:spPr>
          <a:xfrm>
            <a:off x="857250" y="1549524"/>
            <a:ext cx="8286750" cy="617220"/>
          </a:xfrm>
          <a:prstGeom prst="rect">
            <a:avLst/>
          </a:prstGeom>
          <a:noFill/>
          <a:ln/>
        </p:spPr>
        <p:txBody>
          <a:bodyPr wrap="none" lIns="0" tIns="0" rIns="0" bIns="0" rtlCol="0" anchor="t"/>
          <a:lstStyle/>
          <a:p>
            <a:pPr algn="l" indent="0" marL="0">
              <a:lnSpc>
                <a:spcPts val="4500"/>
              </a:lnSpc>
              <a:buNone/>
            </a:pPr>
            <a:r>
              <a:rPr lang="en-US" sz="4500" b="1" spc="-45" kern="0" dirty="0">
                <a:solidFill>
                  <a:srgbClr val="E8A33D"/>
                </a:solidFill>
                <a:latin typeface="Liberation Sans Narrow" pitchFamily="34" charset="0"/>
                <a:ea typeface="Liberation Sans Narrow" pitchFamily="34" charset="-122"/>
                <a:cs typeface="Liberation Sans Narrow" pitchFamily="34" charset="-120"/>
              </a:rPr>
              <a:t>03 / 05</a:t>
            </a:r>
            <a:endParaRPr lang="en-US" sz="4500" dirty="0"/>
          </a:p>
        </p:txBody>
      </p:sp>
      <p:sp>
        <p:nvSpPr>
          <p:cNvPr id="6" name="Text 4"/>
          <p:cNvSpPr/>
          <p:nvPr/>
        </p:nvSpPr>
        <p:spPr>
          <a:xfrm>
            <a:off x="857250" y="2249612"/>
            <a:ext cx="8572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7" name="Text 5"/>
          <p:cNvSpPr/>
          <p:nvPr/>
        </p:nvSpPr>
        <p:spPr>
          <a:xfrm>
            <a:off x="857250" y="2506787"/>
            <a:ext cx="7800975" cy="518368"/>
          </a:xfrm>
          <a:prstGeom prst="rect">
            <a:avLst/>
          </a:prstGeom>
          <a:noFill/>
          <a:ln/>
        </p:spPr>
        <p:txBody>
          <a:bodyPr wrap="none" lIns="0" tIns="0" rIns="0" bIns="0" rtlCol="0" anchor="t"/>
          <a:lstStyle/>
          <a:p>
            <a:pPr algn="l" indent="0" marL="0">
              <a:lnSpc>
                <a:spcPts val="3780"/>
              </a:lnSpc>
              <a:buNone/>
            </a:pPr>
            <a:r>
              <a:rPr lang="en-US" sz="3600" b="1" spc="-43" kern="0" dirty="0">
                <a:solidFill>
                  <a:srgbClr val="FFFFFF"/>
                </a:solidFill>
                <a:latin typeface="Tinos" pitchFamily="34" charset="0"/>
                <a:ea typeface="Tinos" pitchFamily="34" charset="-122"/>
                <a:cs typeface="Tinos" pitchFamily="34" charset="-120"/>
              </a:rPr>
              <a:t>People &amp; Culture</a:t>
            </a:r>
            <a:endParaRPr lang="en-US" sz="3600" dirty="0"/>
          </a:p>
        </p:txBody>
      </p:sp>
      <p:sp>
        <p:nvSpPr>
          <p:cNvPr id="8" name="Text 6"/>
          <p:cNvSpPr/>
          <p:nvPr/>
        </p:nvSpPr>
        <p:spPr>
          <a:xfrm>
            <a:off x="857250" y="3158207"/>
            <a:ext cx="5429250" cy="208312"/>
          </a:xfrm>
          <a:prstGeom prst="rect">
            <a:avLst/>
          </a:prstGeom>
          <a:noFill/>
          <a:ln/>
        </p:spPr>
        <p:txBody>
          <a:bodyPr wrap="square" lIns="0" tIns="0" rIns="0" bIns="0" rtlCol="0" anchor="t"/>
          <a:lstStyle/>
          <a:p>
            <a:pPr algn="l" indent="0" marL="0">
              <a:lnSpc>
                <a:spcPts val="1519"/>
              </a:lnSpc>
              <a:buNone/>
            </a:pPr>
            <a:r>
              <a:rPr lang="en-US" sz="1013" i="1" dirty="0">
                <a:solidFill>
                  <a:srgbClr val="FFFFFF">
                    <a:alpha val="82000"/>
                  </a:srgbClr>
                </a:solidFill>
                <a:latin typeface="Carlito" pitchFamily="34" charset="0"/>
                <a:ea typeface="Carlito" pitchFamily="34" charset="-122"/>
                <a:cs typeface="Carlito" pitchFamily="34" charset="-120"/>
              </a:rPr>
              <a:t>How Towative hires, develops, and holds its people to a fair, consistent standard.</a:t>
            </a:r>
            <a:endParaRPr lang="en-US" sz="1013" dirty="0"/>
          </a:p>
        </p:txBody>
      </p:sp>
      <p:sp>
        <p:nvSpPr>
          <p:cNvPr id="9" name="Text 7"/>
          <p:cNvSpPr/>
          <p:nvPr/>
        </p:nvSpPr>
        <p:spPr>
          <a:xfrm>
            <a:off x="857250" y="3579688"/>
            <a:ext cx="1428750" cy="14288"/>
          </a:xfrm>
          <a:prstGeom prst="roundRect">
            <a:avLst>
              <a:gd name="adj" fmla="val 66664"/>
            </a:avLst>
          </a:prstGeom>
          <a:solidFill>
            <a:srgbClr val="E8A33D"/>
          </a:solidFill>
          <a:ln/>
        </p:spPr>
        <p:txBody>
          <a:bodyPr wrap="square" rtlCol="0" anchor="ctr"/>
          <a:lstStyle/>
          <a:p>
            <a:pPr indent="0" marL="0">
              <a:buNone/>
            </a:pPr>
            <a:endParaRPr lang="en-US" dirty="0"/>
          </a:p>
        </p:txBody>
      </p:sp>
      <p:sp>
        <p:nvSpPr>
          <p:cNvPr id="10" name="Text 8"/>
          <p:cNvSpPr/>
          <p:nvPr/>
        </p:nvSpPr>
        <p:spPr>
          <a:xfrm>
            <a:off x="860822" y="4500563"/>
            <a:ext cx="1535906" cy="239316"/>
          </a:xfrm>
          <a:prstGeom prst="roundRect">
            <a:avLst>
              <a:gd name="adj" fmla="val 79602"/>
            </a:avLst>
          </a:prstGeom>
          <a:noFill/>
          <a:ln w="7144">
            <a:solidFill>
              <a:srgbClr val="F4C77B"/>
            </a:solidFill>
            <a:prstDash val="solid"/>
          </a:ln>
        </p:spPr>
        <p:txBody>
          <a:bodyPr wrap="square" rtlCol="0" anchor="ctr"/>
          <a:lstStyle/>
          <a:p>
            <a:pPr indent="0" marL="0">
              <a:buNone/>
            </a:pPr>
            <a:endParaRPr lang="en-US" dirty="0"/>
          </a:p>
        </p:txBody>
      </p:sp>
      <p:sp>
        <p:nvSpPr>
          <p:cNvPr id="11" name="Text 9"/>
          <p:cNvSpPr/>
          <p:nvPr/>
        </p:nvSpPr>
        <p:spPr>
          <a:xfrm>
            <a:off x="857250" y="4496991"/>
            <a:ext cx="1585913" cy="344147"/>
          </a:xfrm>
          <a:prstGeom prst="rect">
            <a:avLst/>
          </a:prstGeom>
          <a:noFill/>
          <a:ln/>
        </p:spPr>
        <p:txBody>
          <a:bodyPr wrap="none" lIns="100013" tIns="57150" rIns="100013" bIns="57150" rtlCol="0" anchor="t"/>
          <a:lstStyle/>
          <a:p>
            <a:pPr algn="l" indent="0" marL="0">
              <a:lnSpc>
                <a:spcPts val="928"/>
              </a:lnSpc>
              <a:buNone/>
            </a:pPr>
            <a:r>
              <a:rPr lang="en-US" sz="800" spc="74" kern="0" dirty="0">
                <a:solidFill>
                  <a:srgbClr val="F5F2E8"/>
                </a:solidFill>
                <a:latin typeface="Liberation Sans Narrow" pitchFamily="34" charset="0"/>
                <a:ea typeface="Liberation Sans Narrow" pitchFamily="34" charset="-122"/>
                <a:cs typeface="Liberation Sans Narrow" pitchFamily="34" charset="-120"/>
              </a:rPr>
              <a:t>DELIVERABLE 08 — HR POLICY</a:t>
            </a:r>
            <a:endParaRPr lang="en-US" sz="800" dirty="0"/>
          </a:p>
        </p:txBody>
      </p:sp>
      <p:sp>
        <p:nvSpPr>
          <p:cNvPr id="12" name="Text 10"/>
          <p:cNvSpPr/>
          <p:nvPr/>
        </p:nvSpPr>
        <p:spPr>
          <a:xfrm>
            <a:off x="2489597" y="4500563"/>
            <a:ext cx="1795090" cy="239316"/>
          </a:xfrm>
          <a:prstGeom prst="roundRect">
            <a:avLst>
              <a:gd name="adj" fmla="val 79602"/>
            </a:avLst>
          </a:prstGeom>
          <a:noFill/>
          <a:ln w="7144">
            <a:solidFill>
              <a:srgbClr val="F4C77B"/>
            </a:solidFill>
            <a:prstDash val="solid"/>
          </a:ln>
        </p:spPr>
        <p:txBody>
          <a:bodyPr wrap="square" rtlCol="0" anchor="ctr"/>
          <a:lstStyle/>
          <a:p>
            <a:pPr indent="0" marL="0">
              <a:buNone/>
            </a:pPr>
            <a:endParaRPr lang="en-US" dirty="0"/>
          </a:p>
        </p:txBody>
      </p:sp>
      <p:sp>
        <p:nvSpPr>
          <p:cNvPr id="13" name="Text 11"/>
          <p:cNvSpPr/>
          <p:nvPr/>
        </p:nvSpPr>
        <p:spPr>
          <a:xfrm>
            <a:off x="2486025" y="4496991"/>
            <a:ext cx="1802234" cy="344147"/>
          </a:xfrm>
          <a:prstGeom prst="rect">
            <a:avLst/>
          </a:prstGeom>
          <a:noFill/>
          <a:ln/>
        </p:spPr>
        <p:txBody>
          <a:bodyPr wrap="square" lIns="100013" tIns="57150" rIns="100013" bIns="57150" rtlCol="0" anchor="t"/>
          <a:lstStyle/>
          <a:p>
            <a:pPr algn="l" indent="0" marL="0">
              <a:lnSpc>
                <a:spcPts val="928"/>
              </a:lnSpc>
              <a:buNone/>
            </a:pPr>
            <a:r>
              <a:rPr lang="en-US" sz="800" spc="74" kern="0" dirty="0">
                <a:solidFill>
                  <a:srgbClr val="F5F2E8"/>
                </a:solidFill>
                <a:latin typeface="Liberation Sans Narrow" pitchFamily="34" charset="0"/>
                <a:ea typeface="Liberation Sans Narrow" pitchFamily="34" charset="-122"/>
                <a:cs typeface="Liberation Sans Narrow" pitchFamily="34" charset="-120"/>
              </a:rPr>
              <a:t>DELIVERABLE 12 — ORG STRUCTURE</a:t>
            </a:r>
            <a:endParaRPr lang="en-US" sz="800" dirty="0"/>
          </a:p>
        </p:txBody>
      </p:sp>
      <p:sp>
        <p:nvSpPr>
          <p:cNvPr id="14" name="Text 12"/>
          <p:cNvSpPr/>
          <p:nvPr/>
        </p:nvSpPr>
        <p:spPr>
          <a:xfrm>
            <a:off x="7962826" y="4707731"/>
            <a:ext cx="1171687" cy="164592"/>
          </a:xfrm>
          <a:prstGeom prst="rect">
            <a:avLst/>
          </a:prstGeom>
          <a:noFill/>
          <a:ln/>
        </p:spPr>
        <p:txBody>
          <a:bodyPr wrap="none" lIns="0" tIns="0" rIns="0" bIns="0" rtlCol="0" anchor="t"/>
          <a:lstStyle/>
          <a:p>
            <a:pPr algn="l" indent="0" marL="0">
              <a:lnSpc>
                <a:spcPts val="1181"/>
              </a:lnSpc>
              <a:buNone/>
            </a:pPr>
            <a:r>
              <a:rPr lang="en-US" sz="800" spc="236" kern="0" dirty="0">
                <a:solidFill>
                  <a:srgbClr val="FFFFFF">
                    <a:alpha val="32000"/>
                  </a:srgbClr>
                </a:solidFill>
                <a:latin typeface="Tinos" pitchFamily="34" charset="0"/>
                <a:ea typeface="Tinos" pitchFamily="34" charset="-122"/>
                <a:cs typeface="Tinos" pitchFamily="34" charset="-120"/>
              </a:rPr>
              <a:t>TOWATIVE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43226" y="433983"/>
            <a:ext cx="607040" cy="151805"/>
          </a:xfrm>
          <a:prstGeom prst="rect">
            <a:avLst/>
          </a:prstGeom>
          <a:noFill/>
          <a:ln/>
        </p:spPr>
        <p:txBody>
          <a:bodyPr wrap="none" lIns="0" tIns="0" rIns="0" bIns="0" rtlCol="0" anchor="t"/>
          <a:lstStyle/>
          <a:p>
            <a:pPr algn="l" indent="0" marL="0">
              <a:lnSpc>
                <a:spcPts val="928"/>
              </a:lnSpc>
              <a:buNone/>
            </a:pPr>
            <a:r>
              <a:rPr lang="en-US" sz="619" spc="62" kern="0" dirty="0">
                <a:solidFill>
                  <a:srgbClr val="7A7A7A"/>
                </a:solidFill>
                <a:latin typeface="Liberation Sans Narrow" pitchFamily="34" charset="0"/>
                <a:ea typeface="Liberation Sans Narrow" pitchFamily="34" charset="-122"/>
                <a:cs typeface="Liberation Sans Narrow" pitchFamily="34" charset="-120"/>
              </a:rPr>
              <a:t>PAGE 11 / 15</a:t>
            </a:r>
            <a:endParaRPr lang="en-US" sz="619" dirty="0"/>
          </a:p>
        </p:txBody>
      </p:sp>
      <p:sp>
        <p:nvSpPr>
          <p:cNvPr id="9" name="Text 7"/>
          <p:cNvSpPr/>
          <p:nvPr/>
        </p:nvSpPr>
        <p:spPr>
          <a:xfrm>
            <a:off x="514350" y="921544"/>
            <a:ext cx="8629650"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DELIVERABLES 08 + 12</a:t>
            </a:r>
            <a:endParaRPr lang="en-US" sz="800" dirty="0"/>
          </a:p>
        </p:txBody>
      </p:sp>
      <p:sp>
        <p:nvSpPr>
          <p:cNvPr id="10" name="Text 8"/>
          <p:cNvSpPr/>
          <p:nvPr/>
        </p:nvSpPr>
        <p:spPr>
          <a:xfrm>
            <a:off x="514350" y="1067991"/>
            <a:ext cx="8629650" cy="251174"/>
          </a:xfrm>
          <a:prstGeom prst="rect">
            <a:avLst/>
          </a:prstGeom>
          <a:noFill/>
          <a:ln/>
        </p:spPr>
        <p:txBody>
          <a:bodyPr wrap="square" lIns="0" tIns="0" rIns="0" bIns="0" rtlCol="0" anchor="t">
            <a:normAutofit/>
          </a:bodyPr>
          <a:lstStyle/>
          <a:p>
            <a:pPr algn="l" indent="0" marL="0">
              <a:lnSpc>
                <a:spcPts val="1856"/>
              </a:lnSpc>
              <a:buNone/>
            </a:pPr>
            <a:r>
              <a:rPr lang="en-US" sz="1688" b="1" dirty="0">
                <a:solidFill>
                  <a:srgbClr val="1F4D3A"/>
                </a:solidFill>
                <a:latin typeface="Tinos" pitchFamily="34" charset="0"/>
                <a:ea typeface="Tinos" pitchFamily="34" charset="-122"/>
                <a:cs typeface="Tinos" pitchFamily="34" charset="-120"/>
              </a:rPr>
              <a:t>HR Policy &amp; Organizational Structure</a:t>
            </a:r>
            <a:endParaRPr lang="en-US" sz="1688" dirty="0"/>
          </a:p>
        </p:txBody>
      </p:sp>
      <p:sp>
        <p:nvSpPr>
          <p:cNvPr id="11" name="Text 9"/>
          <p:cNvSpPr/>
          <p:nvPr/>
        </p:nvSpPr>
        <p:spPr>
          <a:xfrm>
            <a:off x="514350" y="1346597"/>
            <a:ext cx="811530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TWV-HR-POL-001 + TWV-ORG-001 • Owners: HR/Sales/Mktg Mgr &amp; CEO</a:t>
            </a:r>
            <a:endParaRPr lang="en-US" sz="800" dirty="0"/>
          </a:p>
        </p:txBody>
      </p:sp>
      <p:sp>
        <p:nvSpPr>
          <p:cNvPr id="12" name="Text 10"/>
          <p:cNvSpPr/>
          <p:nvPr/>
        </p:nvSpPr>
        <p:spPr>
          <a:xfrm>
            <a:off x="700088" y="1578769"/>
            <a:ext cx="1915914" cy="154305"/>
          </a:xfrm>
          <a:prstGeom prst="rect">
            <a:avLst/>
          </a:prstGeom>
          <a:noFill/>
          <a:ln/>
        </p:spPr>
        <p:txBody>
          <a:bodyPr wrap="none" lIns="0" tIns="0" rIns="0" bIns="0" rtlCol="0" anchor="t"/>
          <a:lstStyle/>
          <a:p>
            <a:pPr algn="l" indent="0" marL="0">
              <a:lnSpc>
                <a:spcPts val="1350"/>
              </a:lnSpc>
              <a:buNone/>
            </a:pPr>
            <a:r>
              <a:rPr lang="en-US" sz="900" dirty="0">
                <a:solidFill>
                  <a:srgbClr val="1F4D3A"/>
                </a:solidFill>
                <a:latin typeface="Carlito" pitchFamily="34" charset="0"/>
                <a:ea typeface="Carlito" pitchFamily="34" charset="-122"/>
                <a:cs typeface="Carlito" pitchFamily="34" charset="-120"/>
              </a:rPr>
              <a:t>HR &amp; Employee Management Policy</a:t>
            </a:r>
            <a:endParaRPr lang="en-US" sz="900" dirty="0"/>
          </a:p>
        </p:txBody>
      </p:sp>
      <p:sp>
        <p:nvSpPr>
          <p:cNvPr id="13" name="Text 11"/>
          <p:cNvSpPr/>
          <p:nvPr/>
        </p:nvSpPr>
        <p:spPr>
          <a:xfrm>
            <a:off x="514350" y="1585913"/>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14" name="Text 12"/>
          <p:cNvSpPr/>
          <p:nvPr/>
        </p:nvSpPr>
        <p:spPr>
          <a:xfrm>
            <a:off x="514350" y="1821656"/>
            <a:ext cx="5060388" cy="115443"/>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B57820"/>
                </a:solidFill>
                <a:latin typeface="Carlito" pitchFamily="34" charset="0"/>
                <a:ea typeface="Carlito" pitchFamily="34" charset="-122"/>
                <a:cs typeface="Carlito" pitchFamily="34" charset="-120"/>
              </a:rPr>
              <a:t>HIRING &amp; ONBOARDING</a:t>
            </a:r>
            <a:endParaRPr lang="en-US" sz="800" dirty="0"/>
          </a:p>
        </p:txBody>
      </p:sp>
      <p:sp>
        <p:nvSpPr>
          <p:cNvPr id="15" name="Text 13"/>
          <p:cNvSpPr/>
          <p:nvPr/>
        </p:nvSpPr>
        <p:spPr>
          <a:xfrm>
            <a:off x="514350" y="1964531"/>
            <a:ext cx="3896916" cy="498491"/>
          </a:xfrm>
          <a:prstGeom prst="rect">
            <a:avLst/>
          </a:prstGeom>
          <a:noFill/>
          <a:ln/>
        </p:spPr>
        <p:txBody>
          <a:bodyPr wrap="square" lIns="0" tIns="0" rIns="0" bIns="0" rtlCol="0" anchor="t"/>
          <a:lstStyle/>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Role-based JD; 3 quotations for recruitment vendors above PKR 50k</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Background and reference checks before offer</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Onboarding: policies, IT setup, buddy assigned, 30/60/90 review</a:t>
            </a:r>
            <a:endParaRPr lang="en-US" sz="800" dirty="0"/>
          </a:p>
        </p:txBody>
      </p:sp>
      <p:sp>
        <p:nvSpPr>
          <p:cNvPr id="16" name="Text 14"/>
          <p:cNvSpPr/>
          <p:nvPr/>
        </p:nvSpPr>
        <p:spPr>
          <a:xfrm>
            <a:off x="514350" y="2500313"/>
            <a:ext cx="5060388" cy="115443"/>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B57820"/>
                </a:solidFill>
                <a:latin typeface="Carlito" pitchFamily="34" charset="0"/>
                <a:ea typeface="Carlito" pitchFamily="34" charset="-122"/>
                <a:cs typeface="Carlito" pitchFamily="34" charset="-120"/>
              </a:rPr>
              <a:t>CONDUCT &amp; DEVELOPMENT</a:t>
            </a:r>
            <a:endParaRPr lang="en-US" sz="800" dirty="0"/>
          </a:p>
        </p:txBody>
      </p:sp>
      <p:sp>
        <p:nvSpPr>
          <p:cNvPr id="17" name="Text 15"/>
          <p:cNvSpPr/>
          <p:nvPr/>
        </p:nvSpPr>
        <p:spPr>
          <a:xfrm>
            <a:off x="514350" y="2643188"/>
            <a:ext cx="3896916" cy="498491"/>
          </a:xfrm>
          <a:prstGeom prst="rect">
            <a:avLst/>
          </a:prstGeom>
          <a:noFill/>
          <a:ln/>
        </p:spPr>
        <p:txBody>
          <a:bodyPr wrap="square" lIns="0" tIns="0" rIns="0" bIns="0" rtlCol="0" anchor="t"/>
          <a:lstStyle/>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Annual appraisal; quarterly check-ins; documented improvement plans</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Training budget tracked per role; mandatory compliance training</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Equal opportunity; no discrimination; grievance route to CEO/Owner bypasses line manager</a:t>
            </a:r>
            <a:endParaRPr lang="en-US" sz="800" dirty="0"/>
          </a:p>
        </p:txBody>
      </p:sp>
      <p:sp>
        <p:nvSpPr>
          <p:cNvPr id="18" name="Text 16"/>
          <p:cNvSpPr/>
          <p:nvPr/>
        </p:nvSpPr>
        <p:spPr>
          <a:xfrm>
            <a:off x="514350" y="3178969"/>
            <a:ext cx="6235065" cy="115443"/>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B57820"/>
                </a:solidFill>
                <a:latin typeface="Carlito" pitchFamily="34" charset="0"/>
                <a:ea typeface="Carlito" pitchFamily="34" charset="-122"/>
                <a:cs typeface="Carlito" pitchFamily="34" charset="-120"/>
              </a:rPr>
              <a:t>EXIT</a:t>
            </a:r>
            <a:endParaRPr lang="en-US" sz="800" dirty="0"/>
          </a:p>
        </p:txBody>
      </p:sp>
      <p:sp>
        <p:nvSpPr>
          <p:cNvPr id="19" name="Text 17"/>
          <p:cNvSpPr/>
          <p:nvPr/>
        </p:nvSpPr>
        <p:spPr>
          <a:xfrm>
            <a:off x="514350" y="3321844"/>
            <a:ext cx="3896916" cy="498491"/>
          </a:xfrm>
          <a:prstGeom prst="rect">
            <a:avLst/>
          </a:prstGeom>
          <a:noFill/>
          <a:ln/>
        </p:spPr>
        <p:txBody>
          <a:bodyPr wrap="square" lIns="0" tIns="0" rIns="0" bIns="0" rtlCol="0" anchor="t"/>
          <a:lstStyle/>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Resignation in writing, notice per contract (min 30 days for executives)</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Exit interview; final settlement within 7 days</a:t>
            </a:r>
            <a:endParaRPr lang="en-US" sz="800" dirty="0"/>
          </a:p>
          <a:p>
            <a:pPr algn="l" indent="0" marL="0">
              <a:lnSpc>
                <a:spcPts val="1013"/>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1013"/>
              </a:lnSpc>
              <a:spcAft>
                <a:spcPts val="169"/>
              </a:spcAft>
              <a:buNone/>
            </a:pPr>
            <a:r>
              <a:rPr lang="en-US" sz="800" dirty="0">
                <a:solidFill>
                  <a:srgbClr val="4A4A4A"/>
                </a:solidFill>
                <a:latin typeface="Carlito" pitchFamily="34" charset="0"/>
                <a:ea typeface="Carlito" pitchFamily="34" charset="-122"/>
                <a:cs typeface="Carlito" pitchFamily="34" charset="-120"/>
              </a:rPr>
              <a:t>IT disables access same day; assets returned and logged</a:t>
            </a:r>
            <a:endParaRPr lang="en-US" sz="800" dirty="0"/>
          </a:p>
        </p:txBody>
      </p:sp>
      <p:sp>
        <p:nvSpPr>
          <p:cNvPr id="20" name="Text 18"/>
          <p:cNvSpPr/>
          <p:nvPr/>
        </p:nvSpPr>
        <p:spPr>
          <a:xfrm>
            <a:off x="4568428" y="1564481"/>
            <a:ext cx="7144" cy="3178969"/>
          </a:xfrm>
          <a:prstGeom prst="rect">
            <a:avLst/>
          </a:prstGeom>
          <a:solidFill>
            <a:srgbClr val="E8A33D"/>
          </a:solidFill>
          <a:ln/>
        </p:spPr>
        <p:txBody>
          <a:bodyPr wrap="square" rtlCol="0" anchor="ctr"/>
          <a:lstStyle/>
          <a:p>
            <a:pPr indent="0" marL="0">
              <a:buNone/>
            </a:pPr>
            <a:endParaRPr lang="en-US" dirty="0"/>
          </a:p>
        </p:txBody>
      </p:sp>
      <p:sp>
        <p:nvSpPr>
          <p:cNvPr id="21" name="Text 19"/>
          <p:cNvSpPr/>
          <p:nvPr/>
        </p:nvSpPr>
        <p:spPr>
          <a:xfrm>
            <a:off x="4918472" y="1578769"/>
            <a:ext cx="1258109" cy="154305"/>
          </a:xfrm>
          <a:prstGeom prst="rect">
            <a:avLst/>
          </a:prstGeom>
          <a:noFill/>
          <a:ln/>
        </p:spPr>
        <p:txBody>
          <a:bodyPr wrap="none" lIns="0" tIns="0" rIns="0" bIns="0" rtlCol="0" anchor="t"/>
          <a:lstStyle/>
          <a:p>
            <a:pPr algn="l" indent="0" marL="0">
              <a:lnSpc>
                <a:spcPts val="1350"/>
              </a:lnSpc>
              <a:buNone/>
            </a:pPr>
            <a:r>
              <a:rPr lang="en-US" sz="900" dirty="0">
                <a:solidFill>
                  <a:srgbClr val="1F4D3A"/>
                </a:solidFill>
                <a:latin typeface="Carlito" pitchFamily="34" charset="0"/>
                <a:ea typeface="Carlito" pitchFamily="34" charset="-122"/>
                <a:cs typeface="Carlito" pitchFamily="34" charset="-120"/>
              </a:rPr>
              <a:t>Organizational Chart</a:t>
            </a:r>
            <a:endParaRPr lang="en-US" sz="900" dirty="0"/>
          </a:p>
        </p:txBody>
      </p:sp>
      <p:sp>
        <p:nvSpPr>
          <p:cNvPr id="22" name="Text 20"/>
          <p:cNvSpPr/>
          <p:nvPr/>
        </p:nvSpPr>
        <p:spPr>
          <a:xfrm>
            <a:off x="4732734" y="1585913"/>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5863233" y="1839516"/>
            <a:ext cx="1635919" cy="350044"/>
          </a:xfrm>
          <a:prstGeom prst="roundRect">
            <a:avLst>
              <a:gd name="adj" fmla="val 16327"/>
            </a:avLst>
          </a:prstGeom>
          <a:solidFill>
            <a:srgbClr val="1F4D3A"/>
          </a:solidFill>
          <a:ln w="7144">
            <a:solidFill>
              <a:srgbClr val="E8A33D"/>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24" name="Text 22"/>
          <p:cNvSpPr/>
          <p:nvPr/>
        </p:nvSpPr>
        <p:spPr>
          <a:xfrm>
            <a:off x="6043604" y="1914971"/>
            <a:ext cx="1275066" cy="91440"/>
          </a:xfrm>
          <a:prstGeom prst="rect">
            <a:avLst/>
          </a:prstGeom>
          <a:noFill/>
          <a:ln/>
        </p:spPr>
        <p:txBody>
          <a:bodyPr wrap="square" lIns="0" tIns="0" rIns="0" bIns="0" rtlCol="0" anchor="t">
            <a:normAutofit/>
          </a:bodyPr>
          <a:lstStyle/>
          <a:p>
            <a:pPr algn="ctr" indent="0" marL="0">
              <a:lnSpc>
                <a:spcPts val="697"/>
              </a:lnSpc>
              <a:buNone/>
            </a:pPr>
            <a:r>
              <a:rPr lang="en-US" sz="600" dirty="0">
                <a:solidFill>
                  <a:srgbClr val="F5F2E8"/>
                </a:solidFill>
                <a:latin typeface="Carlito" pitchFamily="34" charset="0"/>
                <a:ea typeface="Carlito" pitchFamily="34" charset="-122"/>
                <a:cs typeface="Carlito" pitchFamily="34" charset="-120"/>
              </a:rPr>
              <a:t>Owner &amp; Founder — Hareem Fatima</a:t>
            </a:r>
            <a:endParaRPr lang="en-US" sz="600" dirty="0"/>
          </a:p>
        </p:txBody>
      </p:sp>
      <p:sp>
        <p:nvSpPr>
          <p:cNvPr id="25" name="Text 23"/>
          <p:cNvSpPr/>
          <p:nvPr/>
        </p:nvSpPr>
        <p:spPr>
          <a:xfrm>
            <a:off x="6348125" y="2017663"/>
            <a:ext cx="666135"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F4C77B"/>
                </a:solidFill>
                <a:latin typeface="Liberation Sans Narrow" pitchFamily="34" charset="0"/>
                <a:ea typeface="Liberation Sans Narrow" pitchFamily="34" charset="-122"/>
                <a:cs typeface="Liberation Sans Narrow" pitchFamily="34" charset="-120"/>
              </a:rPr>
              <a:t>approval above 1M</a:t>
            </a:r>
            <a:endParaRPr lang="en-US" sz="600" dirty="0"/>
          </a:p>
        </p:txBody>
      </p:sp>
      <p:sp>
        <p:nvSpPr>
          <p:cNvPr id="26" name="Text 24"/>
          <p:cNvSpPr/>
          <p:nvPr/>
        </p:nvSpPr>
        <p:spPr>
          <a:xfrm>
            <a:off x="6677620" y="2193131"/>
            <a:ext cx="7144" cy="71438"/>
          </a:xfrm>
          <a:prstGeom prst="rect">
            <a:avLst/>
          </a:prstGeom>
          <a:solidFill>
            <a:srgbClr val="D6CFBA"/>
          </a:solidFill>
          <a:ln/>
        </p:spPr>
        <p:txBody>
          <a:bodyPr wrap="square" rtlCol="0" anchor="ctr"/>
          <a:lstStyle/>
          <a:p>
            <a:pPr indent="0" marL="0">
              <a:buNone/>
            </a:pPr>
            <a:endParaRPr lang="en-US" dirty="0"/>
          </a:p>
        </p:txBody>
      </p:sp>
      <p:sp>
        <p:nvSpPr>
          <p:cNvPr id="27" name="Text 25"/>
          <p:cNvSpPr/>
          <p:nvPr/>
        </p:nvSpPr>
        <p:spPr>
          <a:xfrm>
            <a:off x="6077545" y="2268141"/>
            <a:ext cx="1207294"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28" name="Text 26"/>
          <p:cNvSpPr/>
          <p:nvPr/>
        </p:nvSpPr>
        <p:spPr>
          <a:xfrm>
            <a:off x="6551916" y="2343596"/>
            <a:ext cx="258552" cy="91440"/>
          </a:xfrm>
          <a:prstGeom prst="rect">
            <a:avLst/>
          </a:prstGeom>
          <a:noFill/>
          <a:ln/>
        </p:spPr>
        <p:txBody>
          <a:bodyPr wrap="square" lIns="0" tIns="0" rIns="0" bIns="0" rtlCol="0" anchor="t">
            <a:normAutofit/>
          </a:bodyPr>
          <a:lstStyle/>
          <a:p>
            <a:pPr algn="ctr" indent="0" marL="0">
              <a:lnSpc>
                <a:spcPts val="697"/>
              </a:lnSpc>
              <a:buNone/>
            </a:pPr>
            <a:r>
              <a:rPr lang="en-US" sz="800" dirty="0">
                <a:solidFill>
                  <a:srgbClr val="1F4D3A"/>
                </a:solidFill>
                <a:latin typeface="Carlito" pitchFamily="34" charset="0"/>
                <a:ea typeface="Carlito" pitchFamily="34" charset="-122"/>
                <a:cs typeface="Carlito" pitchFamily="34" charset="-120"/>
              </a:rPr>
              <a:t>CEO</a:t>
            </a:r>
            <a:endParaRPr lang="en-US" sz="800" dirty="0"/>
          </a:p>
        </p:txBody>
      </p:sp>
      <p:sp>
        <p:nvSpPr>
          <p:cNvPr id="29" name="Text 27"/>
          <p:cNvSpPr/>
          <p:nvPr/>
        </p:nvSpPr>
        <p:spPr>
          <a:xfrm>
            <a:off x="6493364" y="2446288"/>
            <a:ext cx="375544"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1M</a:t>
            </a:r>
            <a:endParaRPr lang="en-US" sz="600" dirty="0"/>
          </a:p>
        </p:txBody>
      </p:sp>
      <p:sp>
        <p:nvSpPr>
          <p:cNvPr id="30" name="Text 28"/>
          <p:cNvSpPr/>
          <p:nvPr/>
        </p:nvSpPr>
        <p:spPr>
          <a:xfrm>
            <a:off x="6677620" y="2621756"/>
            <a:ext cx="7144" cy="71438"/>
          </a:xfrm>
          <a:prstGeom prst="rect">
            <a:avLst/>
          </a:prstGeom>
          <a:solidFill>
            <a:srgbClr val="D6CFBA"/>
          </a:solidFill>
          <a:ln/>
        </p:spPr>
        <p:txBody>
          <a:bodyPr wrap="square" rtlCol="0" anchor="ctr"/>
          <a:lstStyle/>
          <a:p>
            <a:pPr indent="0" marL="0">
              <a:buNone/>
            </a:pPr>
            <a:endParaRPr lang="en-US" dirty="0"/>
          </a:p>
        </p:txBody>
      </p:sp>
      <p:sp>
        <p:nvSpPr>
          <p:cNvPr id="31" name="Text 29"/>
          <p:cNvSpPr/>
          <p:nvPr/>
        </p:nvSpPr>
        <p:spPr>
          <a:xfrm>
            <a:off x="5084564" y="2696766"/>
            <a:ext cx="1528763"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32" name="Text 30"/>
          <p:cNvSpPr/>
          <p:nvPr/>
        </p:nvSpPr>
        <p:spPr>
          <a:xfrm>
            <a:off x="5344552" y="2772221"/>
            <a:ext cx="1008787" cy="91440"/>
          </a:xfrm>
          <a:prstGeom prst="rect">
            <a:avLst/>
          </a:prstGeom>
          <a:noFill/>
          <a:ln/>
        </p:spPr>
        <p:txBody>
          <a:bodyPr wrap="non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HR / Sales / Marketing Mgr</a:t>
            </a:r>
            <a:endParaRPr lang="en-US" sz="600" dirty="0"/>
          </a:p>
        </p:txBody>
      </p:sp>
      <p:sp>
        <p:nvSpPr>
          <p:cNvPr id="33" name="Text 31"/>
          <p:cNvSpPr/>
          <p:nvPr/>
        </p:nvSpPr>
        <p:spPr>
          <a:xfrm>
            <a:off x="5609921" y="2874913"/>
            <a:ext cx="478048"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100k</a:t>
            </a:r>
            <a:endParaRPr lang="en-US" sz="600" dirty="0"/>
          </a:p>
        </p:txBody>
      </p:sp>
      <p:sp>
        <p:nvSpPr>
          <p:cNvPr id="34" name="Text 32"/>
          <p:cNvSpPr/>
          <p:nvPr/>
        </p:nvSpPr>
        <p:spPr>
          <a:xfrm>
            <a:off x="6749058" y="2696766"/>
            <a:ext cx="1528763"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35" name="Text 33"/>
          <p:cNvSpPr/>
          <p:nvPr/>
        </p:nvSpPr>
        <p:spPr>
          <a:xfrm>
            <a:off x="7202742" y="2774900"/>
            <a:ext cx="621395" cy="91440"/>
          </a:xfrm>
          <a:prstGeom prst="rect">
            <a:avLst/>
          </a:prstGeom>
          <a:noFill/>
          <a:ln/>
        </p:spPr>
        <p:txBody>
          <a:bodyPr wrap="squar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Finance Director</a:t>
            </a:r>
            <a:endParaRPr lang="en-US" sz="600" dirty="0"/>
          </a:p>
        </p:txBody>
      </p:sp>
      <p:sp>
        <p:nvSpPr>
          <p:cNvPr id="36" name="Text 34"/>
          <p:cNvSpPr/>
          <p:nvPr/>
        </p:nvSpPr>
        <p:spPr>
          <a:xfrm>
            <a:off x="6981118" y="2877592"/>
            <a:ext cx="1064530" cy="137071"/>
          </a:xfrm>
          <a:prstGeom prst="rect">
            <a:avLst/>
          </a:prstGeom>
          <a:noFill/>
          <a:ln/>
        </p:spPr>
        <p:txBody>
          <a:bodyPr wrap="square" lIns="0" tIns="0" rIns="0" bIns="0" rtlCol="0" anchor="t"/>
          <a:lstStyle/>
          <a:p>
            <a:pPr algn="ctr" indent="0" marL="0">
              <a:lnSpc>
                <a:spcPts val="717"/>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audit access to Owner • up to 250k</a:t>
            </a:r>
            <a:endParaRPr lang="en-US" sz="600" dirty="0"/>
          </a:p>
        </p:txBody>
      </p:sp>
      <p:sp>
        <p:nvSpPr>
          <p:cNvPr id="37" name="Text 35"/>
          <p:cNvSpPr/>
          <p:nvPr/>
        </p:nvSpPr>
        <p:spPr>
          <a:xfrm>
            <a:off x="6677620" y="3050381"/>
            <a:ext cx="7144" cy="71438"/>
          </a:xfrm>
          <a:prstGeom prst="rect">
            <a:avLst/>
          </a:prstGeom>
          <a:solidFill>
            <a:srgbClr val="D6CFBA"/>
          </a:solidFill>
          <a:ln/>
        </p:spPr>
        <p:txBody>
          <a:bodyPr wrap="square" rtlCol="0" anchor="ctr"/>
          <a:lstStyle/>
          <a:p>
            <a:pPr indent="0" marL="0">
              <a:buNone/>
            </a:pPr>
            <a:endParaRPr lang="en-US" dirty="0"/>
          </a:p>
        </p:txBody>
      </p:sp>
      <p:sp>
        <p:nvSpPr>
          <p:cNvPr id="38" name="Text 36"/>
          <p:cNvSpPr/>
          <p:nvPr/>
        </p:nvSpPr>
        <p:spPr>
          <a:xfrm>
            <a:off x="4780955" y="3125391"/>
            <a:ext cx="907256"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39" name="Text 37"/>
          <p:cNvSpPr/>
          <p:nvPr/>
        </p:nvSpPr>
        <p:spPr>
          <a:xfrm>
            <a:off x="4933445" y="3200846"/>
            <a:ext cx="602164" cy="91440"/>
          </a:xfrm>
          <a:prstGeom prst="rect">
            <a:avLst/>
          </a:prstGeom>
          <a:noFill/>
          <a:ln/>
        </p:spPr>
        <p:txBody>
          <a:bodyPr wrap="squar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Sales Executive</a:t>
            </a:r>
            <a:endParaRPr lang="en-US" sz="600" dirty="0"/>
          </a:p>
        </p:txBody>
      </p:sp>
      <p:sp>
        <p:nvSpPr>
          <p:cNvPr id="40" name="Text 38"/>
          <p:cNvSpPr/>
          <p:nvPr/>
        </p:nvSpPr>
        <p:spPr>
          <a:xfrm>
            <a:off x="5023433" y="3303538"/>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50k</a:t>
            </a:r>
            <a:endParaRPr lang="en-US" sz="600" dirty="0"/>
          </a:p>
        </p:txBody>
      </p:sp>
      <p:sp>
        <p:nvSpPr>
          <p:cNvPr id="41" name="Text 39"/>
          <p:cNvSpPr/>
          <p:nvPr/>
        </p:nvSpPr>
        <p:spPr>
          <a:xfrm>
            <a:off x="5745361" y="3125391"/>
            <a:ext cx="907256"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42" name="Text 40"/>
          <p:cNvSpPr/>
          <p:nvPr/>
        </p:nvSpPr>
        <p:spPr>
          <a:xfrm>
            <a:off x="5816210" y="3200846"/>
            <a:ext cx="765558" cy="91440"/>
          </a:xfrm>
          <a:prstGeom prst="rect">
            <a:avLst/>
          </a:prstGeom>
          <a:noFill/>
          <a:ln/>
        </p:spPr>
        <p:txBody>
          <a:bodyPr wrap="non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Marketing Executive</a:t>
            </a:r>
            <a:endParaRPr lang="en-US" sz="600" dirty="0"/>
          </a:p>
        </p:txBody>
      </p:sp>
      <p:sp>
        <p:nvSpPr>
          <p:cNvPr id="43" name="Text 41"/>
          <p:cNvSpPr/>
          <p:nvPr/>
        </p:nvSpPr>
        <p:spPr>
          <a:xfrm>
            <a:off x="5987839" y="3303538"/>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50k</a:t>
            </a:r>
            <a:endParaRPr lang="en-US" sz="600" dirty="0"/>
          </a:p>
        </p:txBody>
      </p:sp>
      <p:sp>
        <p:nvSpPr>
          <p:cNvPr id="44" name="Text 42"/>
          <p:cNvSpPr/>
          <p:nvPr/>
        </p:nvSpPr>
        <p:spPr>
          <a:xfrm>
            <a:off x="6709767" y="3125391"/>
            <a:ext cx="907256"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45" name="Text 43"/>
          <p:cNvSpPr/>
          <p:nvPr/>
        </p:nvSpPr>
        <p:spPr>
          <a:xfrm>
            <a:off x="6816601" y="3200846"/>
            <a:ext cx="693476" cy="91440"/>
          </a:xfrm>
          <a:prstGeom prst="rect">
            <a:avLst/>
          </a:prstGeom>
          <a:noFill/>
          <a:ln/>
        </p:spPr>
        <p:txBody>
          <a:bodyPr wrap="squar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Operations Officer</a:t>
            </a:r>
            <a:endParaRPr lang="en-US" sz="600" dirty="0"/>
          </a:p>
        </p:txBody>
      </p:sp>
      <p:sp>
        <p:nvSpPr>
          <p:cNvPr id="46" name="Text 44"/>
          <p:cNvSpPr/>
          <p:nvPr/>
        </p:nvSpPr>
        <p:spPr>
          <a:xfrm>
            <a:off x="6952245" y="3303538"/>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50k</a:t>
            </a:r>
            <a:endParaRPr lang="en-US" sz="600" dirty="0"/>
          </a:p>
        </p:txBody>
      </p:sp>
      <p:sp>
        <p:nvSpPr>
          <p:cNvPr id="47" name="Text 45"/>
          <p:cNvSpPr/>
          <p:nvPr/>
        </p:nvSpPr>
        <p:spPr>
          <a:xfrm>
            <a:off x="7674173" y="3125391"/>
            <a:ext cx="907256"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48" name="Text 46"/>
          <p:cNvSpPr/>
          <p:nvPr/>
        </p:nvSpPr>
        <p:spPr>
          <a:xfrm>
            <a:off x="7877932" y="3200846"/>
            <a:ext cx="499628" cy="91440"/>
          </a:xfrm>
          <a:prstGeom prst="rect">
            <a:avLst/>
          </a:prstGeom>
          <a:noFill/>
          <a:ln/>
        </p:spPr>
        <p:txBody>
          <a:bodyPr wrap="non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IT Manager</a:t>
            </a:r>
            <a:endParaRPr lang="en-US" sz="600" dirty="0"/>
          </a:p>
        </p:txBody>
      </p:sp>
      <p:sp>
        <p:nvSpPr>
          <p:cNvPr id="49" name="Text 47"/>
          <p:cNvSpPr/>
          <p:nvPr/>
        </p:nvSpPr>
        <p:spPr>
          <a:xfrm>
            <a:off x="7916651" y="3303538"/>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75k</a:t>
            </a:r>
            <a:endParaRPr lang="en-US" sz="600" dirty="0"/>
          </a:p>
        </p:txBody>
      </p:sp>
      <p:sp>
        <p:nvSpPr>
          <p:cNvPr id="50" name="Text 48"/>
          <p:cNvSpPr/>
          <p:nvPr/>
        </p:nvSpPr>
        <p:spPr>
          <a:xfrm>
            <a:off x="6677620" y="3479006"/>
            <a:ext cx="7144" cy="71438"/>
          </a:xfrm>
          <a:prstGeom prst="rect">
            <a:avLst/>
          </a:prstGeom>
          <a:solidFill>
            <a:srgbClr val="D6CFBA"/>
          </a:solidFill>
          <a:ln/>
        </p:spPr>
        <p:txBody>
          <a:bodyPr wrap="square" rtlCol="0" anchor="ctr"/>
          <a:lstStyle/>
          <a:p>
            <a:pPr indent="0" marL="0">
              <a:buNone/>
            </a:pPr>
            <a:endParaRPr lang="en-US" dirty="0"/>
          </a:p>
        </p:txBody>
      </p:sp>
      <p:sp>
        <p:nvSpPr>
          <p:cNvPr id="51" name="Text 49"/>
          <p:cNvSpPr/>
          <p:nvPr/>
        </p:nvSpPr>
        <p:spPr>
          <a:xfrm>
            <a:off x="4848820" y="3554016"/>
            <a:ext cx="1150144"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52" name="Text 50"/>
          <p:cNvSpPr/>
          <p:nvPr/>
        </p:nvSpPr>
        <p:spPr>
          <a:xfrm>
            <a:off x="5172280" y="3629471"/>
            <a:ext cx="503225" cy="91440"/>
          </a:xfrm>
          <a:prstGeom prst="rect">
            <a:avLst/>
          </a:prstGeom>
          <a:noFill/>
          <a:ln/>
        </p:spPr>
        <p:txBody>
          <a:bodyPr wrap="squar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Supervisor</a:t>
            </a:r>
            <a:endParaRPr lang="en-US" sz="600" dirty="0"/>
          </a:p>
        </p:txBody>
      </p:sp>
      <p:sp>
        <p:nvSpPr>
          <p:cNvPr id="53" name="Text 51"/>
          <p:cNvSpPr/>
          <p:nvPr/>
        </p:nvSpPr>
        <p:spPr>
          <a:xfrm>
            <a:off x="5212742" y="3732163"/>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10k</a:t>
            </a:r>
            <a:endParaRPr lang="en-US" sz="600" dirty="0"/>
          </a:p>
        </p:txBody>
      </p:sp>
      <p:sp>
        <p:nvSpPr>
          <p:cNvPr id="54" name="Text 52"/>
          <p:cNvSpPr/>
          <p:nvPr/>
        </p:nvSpPr>
        <p:spPr>
          <a:xfrm>
            <a:off x="6106120" y="3554016"/>
            <a:ext cx="1150144"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55" name="Text 53"/>
          <p:cNvSpPr/>
          <p:nvPr/>
        </p:nvSpPr>
        <p:spPr>
          <a:xfrm>
            <a:off x="6348396" y="3629471"/>
            <a:ext cx="665481" cy="91440"/>
          </a:xfrm>
          <a:prstGeom prst="rect">
            <a:avLst/>
          </a:prstGeom>
          <a:noFill/>
          <a:ln/>
        </p:spPr>
        <p:txBody>
          <a:bodyPr wrap="non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Security Manager</a:t>
            </a:r>
            <a:endParaRPr lang="en-US" sz="600" dirty="0"/>
          </a:p>
        </p:txBody>
      </p:sp>
      <p:sp>
        <p:nvSpPr>
          <p:cNvPr id="56" name="Text 54"/>
          <p:cNvSpPr/>
          <p:nvPr/>
        </p:nvSpPr>
        <p:spPr>
          <a:xfrm>
            <a:off x="6470042" y="3732163"/>
            <a:ext cx="422300"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up to 50k</a:t>
            </a:r>
            <a:endParaRPr lang="en-US" sz="600" dirty="0"/>
          </a:p>
        </p:txBody>
      </p:sp>
      <p:sp>
        <p:nvSpPr>
          <p:cNvPr id="57" name="Text 55"/>
          <p:cNvSpPr/>
          <p:nvPr/>
        </p:nvSpPr>
        <p:spPr>
          <a:xfrm>
            <a:off x="7363420" y="3554016"/>
            <a:ext cx="1150144" cy="350044"/>
          </a:xfrm>
          <a:prstGeom prst="roundRect">
            <a:avLst>
              <a:gd name="adj" fmla="val 16327"/>
            </a:avLst>
          </a:prstGeom>
          <a:solidFill>
            <a:srgbClr val="FFFFFF"/>
          </a:solidFill>
          <a:ln w="7144">
            <a:solidFill>
              <a:srgbClr val="D6CFBA"/>
            </a:solidFill>
            <a:prstDash val="solid"/>
          </a:ln>
          <a:effectLst>
            <a:outerShdw sx="100000" sy="100000" kx="0" ky="0" algn="bl" rotWithShape="0" blurRad="19050" dist="9525" dir="5400000">
              <a:srgbClr val="000000">
                <a:alpha val="3000"/>
              </a:srgbClr>
            </a:outerShdw>
          </a:effectLst>
        </p:spPr>
        <p:txBody>
          <a:bodyPr wrap="square" rtlCol="0" anchor="ctr"/>
          <a:lstStyle/>
          <a:p>
            <a:pPr indent="0" marL="0">
              <a:buNone/>
            </a:pPr>
            <a:endParaRPr lang="en-US" dirty="0"/>
          </a:p>
        </p:txBody>
      </p:sp>
      <p:sp>
        <p:nvSpPr>
          <p:cNvPr id="58" name="Text 56"/>
          <p:cNvSpPr/>
          <p:nvPr/>
        </p:nvSpPr>
        <p:spPr>
          <a:xfrm>
            <a:off x="7476213" y="3629471"/>
            <a:ext cx="924558" cy="91440"/>
          </a:xfrm>
          <a:prstGeom prst="rect">
            <a:avLst/>
          </a:prstGeom>
          <a:noFill/>
          <a:ln/>
        </p:spPr>
        <p:txBody>
          <a:bodyPr wrap="none" lIns="0" tIns="0" rIns="0" bIns="0" rtlCol="0" anchor="t">
            <a:normAutofit/>
          </a:bodyPr>
          <a:lstStyle/>
          <a:p>
            <a:pPr algn="ctr" indent="0" marL="0">
              <a:lnSpc>
                <a:spcPts val="697"/>
              </a:lnSpc>
              <a:buNone/>
            </a:pPr>
            <a:r>
              <a:rPr lang="en-US" sz="600" dirty="0">
                <a:solidFill>
                  <a:srgbClr val="1F4D3A"/>
                </a:solidFill>
                <a:latin typeface="Carlito" pitchFamily="34" charset="0"/>
                <a:ea typeface="Carlito" pitchFamily="34" charset="-122"/>
                <a:cs typeface="Carlito" pitchFamily="34" charset="-120"/>
              </a:rPr>
              <a:t>Doc &amp; Compliance Coord.</a:t>
            </a:r>
            <a:endParaRPr lang="en-US" sz="600" dirty="0"/>
          </a:p>
        </p:txBody>
      </p:sp>
      <p:sp>
        <p:nvSpPr>
          <p:cNvPr id="59" name="Text 57"/>
          <p:cNvSpPr/>
          <p:nvPr/>
        </p:nvSpPr>
        <p:spPr>
          <a:xfrm>
            <a:off x="7744370" y="3732163"/>
            <a:ext cx="388132" cy="139750"/>
          </a:xfrm>
          <a:prstGeom prst="rect">
            <a:avLst/>
          </a:prstGeom>
          <a:noFill/>
          <a:ln/>
        </p:spPr>
        <p:txBody>
          <a:bodyPr wrap="none" lIns="0" tIns="0" rIns="0" bIns="0" rtlCol="0" anchor="t"/>
          <a:lstStyle/>
          <a:p>
            <a:pPr algn="ctr" indent="0" marL="0">
              <a:lnSpc>
                <a:spcPts val="759"/>
              </a:lnSpc>
              <a:buNone/>
            </a:pPr>
            <a:r>
              <a:rPr lang="en-US" sz="600" spc="10" kern="0" dirty="0">
                <a:solidFill>
                  <a:srgbClr val="7A7A7A"/>
                </a:solidFill>
                <a:latin typeface="Liberation Sans Narrow" pitchFamily="34" charset="0"/>
                <a:ea typeface="Liberation Sans Narrow" pitchFamily="34" charset="-122"/>
                <a:cs typeface="Liberation Sans Narrow" pitchFamily="34" charset="-120"/>
              </a:rPr>
              <a:t>petty 5k</a:t>
            </a:r>
            <a:endParaRPr lang="en-US" sz="600" dirty="0"/>
          </a:p>
        </p:txBody>
      </p:sp>
      <p:sp>
        <p:nvSpPr>
          <p:cNvPr id="60" name="Text 58"/>
          <p:cNvSpPr/>
          <p:nvPr/>
        </p:nvSpPr>
        <p:spPr>
          <a:xfrm>
            <a:off x="5498455" y="4007644"/>
            <a:ext cx="2365363" cy="164592"/>
          </a:xfrm>
          <a:prstGeom prst="rect">
            <a:avLst/>
          </a:prstGeom>
          <a:noFill/>
          <a:ln/>
        </p:spPr>
        <p:txBody>
          <a:bodyPr wrap="square" lIns="0" tIns="0" rIns="0" bIns="0" rtlCol="0" anchor="t"/>
          <a:lstStyle/>
          <a:p>
            <a:pPr algn="ctr" indent="0" marL="0">
              <a:lnSpc>
                <a:spcPts val="928"/>
              </a:lnSpc>
              <a:buNone/>
            </a:pPr>
            <a:r>
              <a:rPr lang="en-US" sz="619" i="1" dirty="0">
                <a:solidFill>
                  <a:srgbClr val="7A7A7A"/>
                </a:solidFill>
                <a:latin typeface="Carlito" pitchFamily="34" charset="0"/>
                <a:ea typeface="Carlito" pitchFamily="34" charset="-122"/>
                <a:cs typeface="Carlito" pitchFamily="34" charset="-120"/>
              </a:rPr>
              <a:t>Target headcount 500 by Year 5 — functions grow into departments.</a:t>
            </a:r>
            <a:endParaRPr lang="en-US" sz="619" dirty="0"/>
          </a:p>
        </p:txBody>
      </p:sp>
      <p:sp>
        <p:nvSpPr>
          <p:cNvPr id="61" name="Shape 59"/>
          <p:cNvSpPr/>
          <p:nvPr/>
        </p:nvSpPr>
        <p:spPr>
          <a:xfrm>
            <a:off x="514350" y="4764881"/>
            <a:ext cx="8115300" cy="0"/>
          </a:xfrm>
          <a:prstGeom prst="line">
            <a:avLst/>
          </a:prstGeom>
          <a:noFill/>
          <a:ln w="7144">
            <a:solidFill>
              <a:srgbClr val="E2DCCB"/>
            </a:solidFill>
            <a:prstDash val="solid"/>
          </a:ln>
        </p:spPr>
      </p:sp>
      <p:sp>
        <p:nvSpPr>
          <p:cNvPr id="62" name="Text 60"/>
          <p:cNvSpPr/>
          <p:nvPr/>
        </p:nvSpPr>
        <p:spPr>
          <a:xfrm>
            <a:off x="514350" y="4854178"/>
            <a:ext cx="6912806"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63" name="Text 61"/>
          <p:cNvSpPr/>
          <p:nvPr/>
        </p:nvSpPr>
        <p:spPr>
          <a:xfrm>
            <a:off x="7441443" y="4854178"/>
            <a:ext cx="1259499" cy="117872"/>
          </a:xfrm>
          <a:prstGeom prst="rect">
            <a:avLst/>
          </a:prstGeom>
          <a:noFill/>
          <a:ln/>
        </p:spPr>
        <p:txBody>
          <a:bodyPr wrap="square" lIns="0" tIns="0" rIns="0" bIns="0" rtlCol="0" anchor="t"/>
          <a:lstStyle/>
          <a:p>
            <a:pPr algn="l" indent="0" marL="0">
              <a:lnSpc>
                <a:spcPts val="928"/>
              </a:lnSpc>
              <a:buNone/>
            </a:pPr>
            <a:r>
              <a:rPr lang="en-US" sz="619" spc="25" kern="0" dirty="0">
                <a:solidFill>
                  <a:srgbClr val="7A7A7A"/>
                </a:solidFill>
                <a:latin typeface="Liberation Sans Narrow" pitchFamily="34" charset="0"/>
                <a:ea typeface="Liberation Sans Narrow" pitchFamily="34" charset="-122"/>
                <a:cs typeface="Liberation Sans Narrow" pitchFamily="34" charset="-120"/>
              </a:rPr>
              <a:t>TWV-HR-POL-001 + TWV-ORG-001</a:t>
            </a:r>
            <a:endParaRPr lang="en-US" sz="6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2149354" y="2143125"/>
            <a:ext cx="6994646" cy="3000375"/>
          </a:xfrm>
          <a:prstGeom prst="rect">
            <a:avLst/>
          </a:prstGeom>
          <a:noFill/>
          <a:ln/>
        </p:spPr>
        <p:txBody>
          <a:bodyPr wrap="square" lIns="0" tIns="0" rIns="0" bIns="0" rtlCol="0" anchor="t"/>
          <a:lstStyle/>
          <a:p>
            <a:pPr algn="l" indent="0" marL="0">
              <a:lnSpc>
                <a:spcPts val="30375"/>
              </a:lnSpc>
              <a:buNone/>
            </a:pPr>
            <a:r>
              <a:rPr lang="en-US" sz="30375" b="1" spc="-608" kern="0" dirty="0">
                <a:solidFill>
                  <a:srgbClr val="FFFFFF">
                    <a:alpha val="4000"/>
                  </a:srgbClr>
                </a:solidFill>
                <a:latin typeface="Liberation Sans Narrow" pitchFamily="34" charset="0"/>
                <a:ea typeface="Liberation Sans Narrow" pitchFamily="34" charset="-122"/>
                <a:cs typeface="Liberation Sans Narrow" pitchFamily="34" charset="-120"/>
              </a:rPr>
              <a:t>04</a:t>
            </a:r>
            <a:endParaRPr lang="en-US" sz="30375" dirty="0"/>
          </a:p>
        </p:txBody>
      </p:sp>
      <p:sp>
        <p:nvSpPr>
          <p:cNvPr id="3" name="Text 1"/>
          <p:cNvSpPr/>
          <p:nvPr/>
        </p:nvSpPr>
        <p:spPr>
          <a:xfrm>
            <a:off x="7911815" y="287536"/>
            <a:ext cx="57150" cy="57150"/>
          </a:xfrm>
          <a:prstGeom prst="ellipse">
            <a:avLst/>
          </a:prstGeom>
          <a:solidFill>
            <a:srgbClr val="E8A33D"/>
          </a:solidFill>
          <a:ln/>
        </p:spPr>
        <p:txBody>
          <a:bodyPr wrap="square" rtlCol="0" anchor="ctr"/>
          <a:lstStyle/>
          <a:p>
            <a:pPr indent="0" marL="0">
              <a:buNone/>
            </a:pPr>
            <a:endParaRPr lang="en-US" dirty="0"/>
          </a:p>
        </p:txBody>
      </p:sp>
      <p:sp>
        <p:nvSpPr>
          <p:cNvPr id="4" name="Text 2"/>
          <p:cNvSpPr/>
          <p:nvPr/>
        </p:nvSpPr>
        <p:spPr>
          <a:xfrm>
            <a:off x="8020032" y="257175"/>
            <a:ext cx="784860"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FFFFFF">
                    <a:alpha val="50000"/>
                  </a:srgbClr>
                </a:solidFill>
                <a:latin typeface="Liberation Sans Narrow" pitchFamily="34" charset="0"/>
                <a:ea typeface="Liberation Sans Narrow" pitchFamily="34" charset="-122"/>
                <a:cs typeface="Liberation Sans Narrow" pitchFamily="34" charset="-120"/>
              </a:rPr>
              <a:t>PAGE 12 / 15</a:t>
            </a:r>
            <a:endParaRPr lang="en-US" sz="800" dirty="0"/>
          </a:p>
        </p:txBody>
      </p:sp>
      <p:sp>
        <p:nvSpPr>
          <p:cNvPr id="5" name="Text 3"/>
          <p:cNvSpPr/>
          <p:nvPr/>
        </p:nvSpPr>
        <p:spPr>
          <a:xfrm>
            <a:off x="857250" y="1592387"/>
            <a:ext cx="7316075" cy="617220"/>
          </a:xfrm>
          <a:prstGeom prst="rect">
            <a:avLst/>
          </a:prstGeom>
          <a:noFill/>
          <a:ln/>
        </p:spPr>
        <p:txBody>
          <a:bodyPr wrap="none" lIns="0" tIns="0" rIns="0" bIns="0" rtlCol="0" anchor="t"/>
          <a:lstStyle/>
          <a:p>
            <a:pPr algn="l" indent="0" marL="0">
              <a:lnSpc>
                <a:spcPts val="4500"/>
              </a:lnSpc>
              <a:buNone/>
            </a:pPr>
            <a:r>
              <a:rPr lang="en-US" sz="4500" b="1" spc="-45" kern="0" dirty="0">
                <a:solidFill>
                  <a:srgbClr val="E8A33D"/>
                </a:solidFill>
                <a:latin typeface="Liberation Sans Narrow" pitchFamily="34" charset="0"/>
                <a:ea typeface="Liberation Sans Narrow" pitchFamily="34" charset="-122"/>
                <a:cs typeface="Liberation Sans Narrow" pitchFamily="34" charset="-120"/>
              </a:rPr>
              <a:t>04 / 05</a:t>
            </a:r>
            <a:endParaRPr lang="en-US" sz="4500" dirty="0"/>
          </a:p>
        </p:txBody>
      </p:sp>
      <p:sp>
        <p:nvSpPr>
          <p:cNvPr id="6" name="Text 4"/>
          <p:cNvSpPr/>
          <p:nvPr/>
        </p:nvSpPr>
        <p:spPr>
          <a:xfrm>
            <a:off x="857250" y="2292474"/>
            <a:ext cx="8572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7" name="Text 5"/>
          <p:cNvSpPr/>
          <p:nvPr/>
        </p:nvSpPr>
        <p:spPr>
          <a:xfrm>
            <a:off x="857250" y="2521074"/>
            <a:ext cx="6304735" cy="518368"/>
          </a:xfrm>
          <a:prstGeom prst="rect">
            <a:avLst/>
          </a:prstGeom>
          <a:noFill/>
          <a:ln/>
        </p:spPr>
        <p:txBody>
          <a:bodyPr wrap="none" lIns="0" tIns="0" rIns="0" bIns="0" rtlCol="0" anchor="t"/>
          <a:lstStyle/>
          <a:p>
            <a:pPr algn="l" indent="0" marL="0">
              <a:lnSpc>
                <a:spcPts val="3780"/>
              </a:lnSpc>
              <a:buNone/>
            </a:pPr>
            <a:r>
              <a:rPr lang="en-US" sz="3600" b="1" spc="-36" kern="0" dirty="0">
                <a:solidFill>
                  <a:srgbClr val="FFFFFF"/>
                </a:solidFill>
                <a:latin typeface="Tinos" pitchFamily="34" charset="0"/>
                <a:ea typeface="Tinos" pitchFamily="34" charset="-122"/>
                <a:cs typeface="Tinos" pitchFamily="34" charset="-120"/>
              </a:rPr>
              <a:t>Money &amp; Brand</a:t>
            </a:r>
            <a:endParaRPr lang="en-US" sz="3600" dirty="0"/>
          </a:p>
        </p:txBody>
      </p:sp>
      <p:sp>
        <p:nvSpPr>
          <p:cNvPr id="8" name="Text 6"/>
          <p:cNvSpPr/>
          <p:nvPr/>
        </p:nvSpPr>
        <p:spPr>
          <a:xfrm>
            <a:off x="857250" y="3143920"/>
            <a:ext cx="5379467" cy="208312"/>
          </a:xfrm>
          <a:prstGeom prst="rect">
            <a:avLst/>
          </a:prstGeom>
          <a:noFill/>
          <a:ln/>
        </p:spPr>
        <p:txBody>
          <a:bodyPr wrap="square" lIns="0" tIns="0" rIns="0" bIns="0" rtlCol="0" anchor="t"/>
          <a:lstStyle/>
          <a:p>
            <a:pPr algn="l" indent="0" marL="0">
              <a:lnSpc>
                <a:spcPts val="1519"/>
              </a:lnSpc>
              <a:buNone/>
            </a:pPr>
            <a:r>
              <a:rPr lang="en-US" sz="1013" i="1" dirty="0">
                <a:solidFill>
                  <a:srgbClr val="FFFFFF">
                    <a:alpha val="80000"/>
                  </a:srgbClr>
                </a:solidFill>
                <a:latin typeface="Carlito" pitchFamily="34" charset="0"/>
                <a:ea typeface="Carlito" pitchFamily="34" charset="-122"/>
                <a:cs typeface="Carlito" pitchFamily="34" charset="-120"/>
              </a:rPr>
              <a:t>Financial controls and brand discipline — the rails that keep the business solvent and on-voice.</a:t>
            </a:r>
            <a:endParaRPr lang="en-US" sz="1013" dirty="0"/>
          </a:p>
        </p:txBody>
      </p:sp>
      <p:sp>
        <p:nvSpPr>
          <p:cNvPr id="9" name="Text 7"/>
          <p:cNvSpPr/>
          <p:nvPr/>
        </p:nvSpPr>
        <p:spPr>
          <a:xfrm>
            <a:off x="857250" y="3536826"/>
            <a:ext cx="1428750" cy="14288"/>
          </a:xfrm>
          <a:prstGeom prst="rect">
            <a:avLst/>
          </a:prstGeom>
          <a:solidFill>
            <a:srgbClr val="E8A33D"/>
          </a:solidFill>
          <a:ln/>
        </p:spPr>
        <p:txBody>
          <a:bodyPr wrap="square" rtlCol="0" anchor="ctr"/>
          <a:lstStyle/>
          <a:p>
            <a:pPr indent="0" marL="0">
              <a:buNone/>
            </a:pPr>
            <a:endParaRPr lang="en-US" dirty="0"/>
          </a:p>
        </p:txBody>
      </p:sp>
      <p:sp>
        <p:nvSpPr>
          <p:cNvPr id="10" name="Text 8"/>
          <p:cNvSpPr/>
          <p:nvPr/>
        </p:nvSpPr>
        <p:spPr>
          <a:xfrm>
            <a:off x="860822" y="4514850"/>
            <a:ext cx="1692957" cy="225028"/>
          </a:xfrm>
          <a:prstGeom prst="roundRect">
            <a:avLst>
              <a:gd name="adj" fmla="val 4228574"/>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1" name="Text 9"/>
          <p:cNvSpPr/>
          <p:nvPr/>
        </p:nvSpPr>
        <p:spPr>
          <a:xfrm>
            <a:off x="857250" y="4511278"/>
            <a:ext cx="1742963" cy="324196"/>
          </a:xfrm>
          <a:prstGeom prst="rect">
            <a:avLst/>
          </a:prstGeom>
          <a:noFill/>
          <a:ln/>
        </p:spPr>
        <p:txBody>
          <a:bodyPr wrap="none" lIns="100013" tIns="50006" rIns="100013" bIns="50006" rtlCol="0" anchor="t"/>
          <a:lstStyle/>
          <a:p>
            <a:pPr algn="l"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09 — FINANCE SOP</a:t>
            </a:r>
            <a:endParaRPr lang="en-US" sz="800" dirty="0"/>
          </a:p>
        </p:txBody>
      </p:sp>
      <p:sp>
        <p:nvSpPr>
          <p:cNvPr id="12" name="Text 10"/>
          <p:cNvSpPr/>
          <p:nvPr/>
        </p:nvSpPr>
        <p:spPr>
          <a:xfrm>
            <a:off x="2646648" y="4514850"/>
            <a:ext cx="1972568" cy="225028"/>
          </a:xfrm>
          <a:prstGeom prst="roundRect">
            <a:avLst>
              <a:gd name="adj" fmla="val 4228574"/>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3" name="Text 11"/>
          <p:cNvSpPr/>
          <p:nvPr/>
        </p:nvSpPr>
        <p:spPr>
          <a:xfrm>
            <a:off x="2643076" y="4511278"/>
            <a:ext cx="2022574" cy="324196"/>
          </a:xfrm>
          <a:prstGeom prst="rect">
            <a:avLst/>
          </a:prstGeom>
          <a:noFill/>
          <a:ln/>
        </p:spPr>
        <p:txBody>
          <a:bodyPr wrap="none" lIns="100013" tIns="50006" rIns="100013" bIns="50006" rtlCol="0" anchor="t"/>
          <a:lstStyle/>
          <a:p>
            <a:pPr algn="l"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10 — BRAND GUIDELINES</a:t>
            </a:r>
            <a:endParaRPr lang="en-US" sz="800" dirty="0"/>
          </a:p>
        </p:txBody>
      </p:sp>
      <p:sp>
        <p:nvSpPr>
          <p:cNvPr id="14" name="Text 12"/>
          <p:cNvSpPr/>
          <p:nvPr/>
        </p:nvSpPr>
        <p:spPr>
          <a:xfrm>
            <a:off x="4712084" y="4514850"/>
            <a:ext cx="1751112" cy="225028"/>
          </a:xfrm>
          <a:prstGeom prst="roundRect">
            <a:avLst>
              <a:gd name="adj" fmla="val 4228574"/>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5" name="Text 13"/>
          <p:cNvSpPr/>
          <p:nvPr/>
        </p:nvSpPr>
        <p:spPr>
          <a:xfrm>
            <a:off x="4708513" y="4511278"/>
            <a:ext cx="1758255" cy="324196"/>
          </a:xfrm>
          <a:prstGeom prst="rect">
            <a:avLst/>
          </a:prstGeom>
          <a:noFill/>
          <a:ln/>
        </p:spPr>
        <p:txBody>
          <a:bodyPr wrap="square" lIns="100013" tIns="50006" rIns="100013" bIns="50006" rtlCol="0" anchor="t"/>
          <a:lstStyle/>
          <a:p>
            <a:pPr algn="l"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11 — OPS &amp; QC SOP</a:t>
            </a:r>
            <a:endParaRPr lang="en-US" sz="800" dirty="0"/>
          </a:p>
        </p:txBody>
      </p:sp>
      <p:sp>
        <p:nvSpPr>
          <p:cNvPr id="16" name="Text 14"/>
          <p:cNvSpPr/>
          <p:nvPr/>
        </p:nvSpPr>
        <p:spPr>
          <a:xfrm>
            <a:off x="7848526" y="4736306"/>
            <a:ext cx="1171687" cy="164592"/>
          </a:xfrm>
          <a:prstGeom prst="rect">
            <a:avLst/>
          </a:prstGeom>
          <a:noFill/>
          <a:ln/>
        </p:spPr>
        <p:txBody>
          <a:bodyPr wrap="none" lIns="0" tIns="0" rIns="0" bIns="0" rtlCol="0" anchor="t"/>
          <a:lstStyle/>
          <a:p>
            <a:pPr algn="l" indent="0" marL="0">
              <a:lnSpc>
                <a:spcPts val="1181"/>
              </a:lnSpc>
              <a:buNone/>
            </a:pPr>
            <a:r>
              <a:rPr lang="en-US" sz="800" b="1" spc="236" kern="0" dirty="0">
                <a:solidFill>
                  <a:srgbClr val="FFFFFF">
                    <a:alpha val="30000"/>
                  </a:srgbClr>
                </a:solidFill>
                <a:latin typeface="Tinos" pitchFamily="34" charset="0"/>
                <a:ea typeface="Tinos" pitchFamily="34" charset="-122"/>
                <a:cs typeface="Tinos" pitchFamily="34" charset="-120"/>
              </a:rPr>
              <a:t>TOWATIVE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43226" y="433983"/>
            <a:ext cx="607040" cy="151805"/>
          </a:xfrm>
          <a:prstGeom prst="rect">
            <a:avLst/>
          </a:prstGeom>
          <a:noFill/>
          <a:ln/>
        </p:spPr>
        <p:txBody>
          <a:bodyPr wrap="none" lIns="0" tIns="0" rIns="0" bIns="0" rtlCol="0" anchor="t"/>
          <a:lstStyle/>
          <a:p>
            <a:pPr algn="l" indent="0" marL="0">
              <a:lnSpc>
                <a:spcPts val="928"/>
              </a:lnSpc>
              <a:buNone/>
            </a:pPr>
            <a:r>
              <a:rPr lang="en-US" sz="619" spc="62" kern="0" dirty="0">
                <a:solidFill>
                  <a:srgbClr val="7A7A7A"/>
                </a:solidFill>
                <a:latin typeface="Liberation Sans Narrow" pitchFamily="34" charset="0"/>
                <a:ea typeface="Liberation Sans Narrow" pitchFamily="34" charset="-122"/>
                <a:cs typeface="Liberation Sans Narrow" pitchFamily="34" charset="-120"/>
              </a:rPr>
              <a:t>PAGE 13 / 15</a:t>
            </a:r>
            <a:endParaRPr lang="en-US" sz="619" dirty="0"/>
          </a:p>
        </p:txBody>
      </p:sp>
      <p:sp>
        <p:nvSpPr>
          <p:cNvPr id="9" name="Text 7"/>
          <p:cNvSpPr/>
          <p:nvPr/>
        </p:nvSpPr>
        <p:spPr>
          <a:xfrm>
            <a:off x="514350" y="921544"/>
            <a:ext cx="8629650"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DELIVERABLES 09 + 10 + 11</a:t>
            </a:r>
            <a:endParaRPr lang="en-US" sz="800" dirty="0"/>
          </a:p>
        </p:txBody>
      </p:sp>
      <p:sp>
        <p:nvSpPr>
          <p:cNvPr id="10" name="Text 8"/>
          <p:cNvSpPr/>
          <p:nvPr/>
        </p:nvSpPr>
        <p:spPr>
          <a:xfrm>
            <a:off x="514350" y="1067991"/>
            <a:ext cx="8629650" cy="251174"/>
          </a:xfrm>
          <a:prstGeom prst="rect">
            <a:avLst/>
          </a:prstGeom>
          <a:noFill/>
          <a:ln/>
        </p:spPr>
        <p:txBody>
          <a:bodyPr wrap="square" lIns="0" tIns="0" rIns="0" bIns="0" rtlCol="0" anchor="t">
            <a:normAutofit/>
          </a:bodyPr>
          <a:lstStyle/>
          <a:p>
            <a:pPr algn="l" indent="0" marL="0">
              <a:lnSpc>
                <a:spcPts val="1856"/>
              </a:lnSpc>
              <a:buNone/>
            </a:pPr>
            <a:r>
              <a:rPr lang="en-US" sz="1688" b="1" dirty="0">
                <a:solidFill>
                  <a:srgbClr val="1F4D3A"/>
                </a:solidFill>
                <a:latin typeface="Tinos" pitchFamily="34" charset="0"/>
                <a:ea typeface="Tinos" pitchFamily="34" charset="-122"/>
                <a:cs typeface="Tinos" pitchFamily="34" charset="-120"/>
              </a:rPr>
              <a:t>Finance, Brand &amp; Quality Control</a:t>
            </a:r>
            <a:endParaRPr lang="en-US" sz="1688" dirty="0"/>
          </a:p>
        </p:txBody>
      </p:sp>
      <p:sp>
        <p:nvSpPr>
          <p:cNvPr id="11" name="Text 9"/>
          <p:cNvSpPr/>
          <p:nvPr/>
        </p:nvSpPr>
        <p:spPr>
          <a:xfrm>
            <a:off x="514350" y="1346597"/>
            <a:ext cx="811530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TWV-FIN-SOP-001 + TWV-MKT-GDL-001 + TWV-OPS-SOP-002</a:t>
            </a:r>
            <a:endParaRPr lang="en-US" sz="800" dirty="0"/>
          </a:p>
        </p:txBody>
      </p:sp>
      <p:sp>
        <p:nvSpPr>
          <p:cNvPr id="12" name="Text 10"/>
          <p:cNvSpPr/>
          <p:nvPr/>
        </p:nvSpPr>
        <p:spPr>
          <a:xfrm>
            <a:off x="517922" y="1568053"/>
            <a:ext cx="2621756" cy="317182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13" name="Text 11"/>
          <p:cNvSpPr/>
          <p:nvPr/>
        </p:nvSpPr>
        <p:spPr>
          <a:xfrm>
            <a:off x="835819" y="1683023"/>
            <a:ext cx="1305967" cy="132633"/>
          </a:xfrm>
          <a:prstGeom prst="rect">
            <a:avLst/>
          </a:prstGeom>
          <a:noFill/>
          <a:ln/>
        </p:spPr>
        <p:txBody>
          <a:bodyPr wrap="none" lIns="0" tIns="0" rIns="0" bIns="0" rtlCol="0" anchor="t"/>
          <a:lstStyle/>
          <a:p>
            <a:pPr algn="l" indent="0" marL="0">
              <a:lnSpc>
                <a:spcPts val="945"/>
              </a:lnSpc>
              <a:buNone/>
            </a:pPr>
            <a:r>
              <a:rPr lang="en-US" sz="800" dirty="0">
                <a:solidFill>
                  <a:srgbClr val="1F4D3A"/>
                </a:solidFill>
                <a:latin typeface="Carlito" pitchFamily="34" charset="0"/>
                <a:ea typeface="Carlito" pitchFamily="34" charset="-122"/>
                <a:cs typeface="Carlito" pitchFamily="34" charset="-120"/>
              </a:rPr>
              <a:t>Finance &amp; Expense SOP</a:t>
            </a:r>
            <a:endParaRPr lang="en-US" sz="800" dirty="0"/>
          </a:p>
        </p:txBody>
      </p:sp>
      <p:sp>
        <p:nvSpPr>
          <p:cNvPr id="14" name="Text 12"/>
          <p:cNvSpPr/>
          <p:nvPr/>
        </p:nvSpPr>
        <p:spPr>
          <a:xfrm>
            <a:off x="650081" y="1685925"/>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650081" y="1843088"/>
            <a:ext cx="2357438"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TWV-FIN-SOP-001</a:t>
            </a:r>
            <a:endParaRPr lang="en-US" sz="800" dirty="0"/>
          </a:p>
        </p:txBody>
      </p:sp>
      <p:sp>
        <p:nvSpPr>
          <p:cNvPr id="16" name="Text 14"/>
          <p:cNvSpPr/>
          <p:nvPr/>
        </p:nvSpPr>
        <p:spPr>
          <a:xfrm>
            <a:off x="650081" y="2073473"/>
            <a:ext cx="2357438" cy="131516"/>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APPROVAL LIMITS</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0081" y="2232422"/>
          <a:ext cx="2357438" cy="914400"/>
        </p:xfrm>
        <a:graphic>
          <a:graphicData uri="http://schemas.openxmlformats.org/drawingml/2006/table">
            <a:tbl>
              <a:tblPr/>
              <a:tblGrid>
                <a:gridCol w="1239887"/>
                <a:gridCol w="1117550"/>
              </a:tblGrid>
              <a:tr h="0">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Role</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b="1" dirty="0">
                          <a:solidFill>
                            <a:srgbClr val="7A7A7A"/>
                          </a:solidFill>
                          <a:latin typeface="Carlito" pitchFamily="34" charset="0"/>
                          <a:ea typeface="Carlito" pitchFamily="34" charset="-122"/>
                          <a:cs typeface="Carlito" pitchFamily="34" charset="-120"/>
                        </a:rPr>
                        <a:t>Limit (PKR)</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Owner</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&gt; 1,000,000</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CEO</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up to 1,000,000</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Finance Director</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up to 250,000</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HR / Sales / Mkt Mgr</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up to 100,000</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IT Manager</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up to 75,000</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Ops / Security</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1F4D3A"/>
                          </a:solidFill>
                          <a:latin typeface="Courier New" pitchFamily="34" charset="0"/>
                          <a:ea typeface="Courier New" pitchFamily="34" charset="-122"/>
                          <a:cs typeface="Courier New" pitchFamily="34" charset="-120"/>
                        </a:rPr>
                        <a:t>up to 50,000 each</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bl>
          </a:graphicData>
        </a:graphic>
      </p:graphicFrame>
      <p:sp>
        <p:nvSpPr>
          <p:cNvPr id="18" name="Text 15"/>
          <p:cNvSpPr/>
          <p:nvPr/>
        </p:nvSpPr>
        <p:spPr>
          <a:xfrm>
            <a:off x="650081" y="3562945"/>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CONTROLS</a:t>
            </a:r>
            <a:endParaRPr lang="en-US" sz="800" dirty="0"/>
          </a:p>
        </p:txBody>
      </p:sp>
      <p:sp>
        <p:nvSpPr>
          <p:cNvPr id="19" name="Text 16"/>
          <p:cNvSpPr/>
          <p:nvPr/>
        </p:nvSpPr>
        <p:spPr>
          <a:xfrm>
            <a:off x="650081" y="3693319"/>
            <a:ext cx="2357438" cy="766245"/>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3 quotations required above PKR 50,000</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Liberation Sans Narrow" pitchFamily="34" charset="0"/>
                <a:ea typeface="Liberation Sans Narrow" pitchFamily="34" charset="-122"/>
                <a:cs typeface="Liberation Sans Narrow" pitchFamily="34" charset="-120"/>
              </a:rPr>
              <a:t>No cash payments above PKR 25,000</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Segregation of duties: requester ≠ approver ≠ payer</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Bank &amp; accounting access MFA + max 2 people</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Liberation Sans Narrow" pitchFamily="34" charset="0"/>
                <a:ea typeface="Liberation Sans Narrow" pitchFamily="34" charset="-122"/>
                <a:cs typeface="Liberation Sans Narrow" pitchFamily="34" charset="-120"/>
              </a:rPr>
              <a:t>Records kept 6 years</a:t>
            </a:r>
            <a:endParaRPr lang="en-US" sz="800" dirty="0"/>
          </a:p>
        </p:txBody>
      </p:sp>
      <p:sp>
        <p:nvSpPr>
          <p:cNvPr id="20" name="Text 17"/>
          <p:cNvSpPr/>
          <p:nvPr/>
        </p:nvSpPr>
        <p:spPr>
          <a:xfrm>
            <a:off x="3261122" y="1568053"/>
            <a:ext cx="2621756" cy="317182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1" name="Text 18"/>
          <p:cNvSpPr/>
          <p:nvPr/>
        </p:nvSpPr>
        <p:spPr>
          <a:xfrm>
            <a:off x="3579019" y="1683023"/>
            <a:ext cx="1408636" cy="132633"/>
          </a:xfrm>
          <a:prstGeom prst="rect">
            <a:avLst/>
          </a:prstGeom>
          <a:noFill/>
          <a:ln/>
        </p:spPr>
        <p:txBody>
          <a:bodyPr wrap="none" lIns="0" tIns="0" rIns="0" bIns="0" rtlCol="0" anchor="t"/>
          <a:lstStyle/>
          <a:p>
            <a:pPr algn="l" indent="0" marL="0">
              <a:lnSpc>
                <a:spcPts val="945"/>
              </a:lnSpc>
              <a:buNone/>
            </a:pPr>
            <a:r>
              <a:rPr lang="en-US" sz="788" dirty="0">
                <a:solidFill>
                  <a:srgbClr val="1F4D3A"/>
                </a:solidFill>
                <a:latin typeface="Carlito" pitchFamily="34" charset="0"/>
                <a:ea typeface="Carlito" pitchFamily="34" charset="-122"/>
                <a:cs typeface="Carlito" pitchFamily="34" charset="-120"/>
              </a:rPr>
              <a:t>Marketing &amp; Brand Guidelines</a:t>
            </a:r>
            <a:endParaRPr lang="en-US" sz="788" dirty="0"/>
          </a:p>
        </p:txBody>
      </p:sp>
      <p:sp>
        <p:nvSpPr>
          <p:cNvPr id="22" name="Text 19"/>
          <p:cNvSpPr/>
          <p:nvPr/>
        </p:nvSpPr>
        <p:spPr>
          <a:xfrm>
            <a:off x="3393281" y="1685925"/>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23" name="Text 20"/>
          <p:cNvSpPr/>
          <p:nvPr/>
        </p:nvSpPr>
        <p:spPr>
          <a:xfrm>
            <a:off x="3393281" y="1843088"/>
            <a:ext cx="2357437"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TWV-MKT-GDL-001</a:t>
            </a:r>
            <a:endParaRPr lang="en-US" sz="800" dirty="0"/>
          </a:p>
        </p:txBody>
      </p:sp>
      <p:sp>
        <p:nvSpPr>
          <p:cNvPr id="24" name="Text 21"/>
          <p:cNvSpPr/>
          <p:nvPr/>
        </p:nvSpPr>
        <p:spPr>
          <a:xfrm>
            <a:off x="3393281" y="2073473"/>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BRAND VOICE</a:t>
            </a:r>
            <a:endParaRPr lang="en-US" sz="800" dirty="0"/>
          </a:p>
        </p:txBody>
      </p:sp>
      <p:sp>
        <p:nvSpPr>
          <p:cNvPr id="25" name="Text 22"/>
          <p:cNvSpPr/>
          <p:nvPr/>
        </p:nvSpPr>
        <p:spPr>
          <a:xfrm>
            <a:off x="3393281" y="2203847"/>
            <a:ext cx="2357438" cy="468320"/>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Tagline: “Nourish Boldly. Enjoy Fully.”</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Tone: warm, evidence-based, never sensational</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Logo, colours, typography per brand kit; no off-brand assets</a:t>
            </a:r>
            <a:endParaRPr lang="en-US" sz="800" dirty="0"/>
          </a:p>
        </p:txBody>
      </p:sp>
      <p:sp>
        <p:nvSpPr>
          <p:cNvPr id="26" name="Text 23"/>
          <p:cNvSpPr/>
          <p:nvPr/>
        </p:nvSpPr>
        <p:spPr>
          <a:xfrm>
            <a:off x="3393281" y="2696877"/>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CONTENT RULES</a:t>
            </a:r>
            <a:endParaRPr lang="en-US" sz="800" dirty="0"/>
          </a:p>
        </p:txBody>
      </p:sp>
      <p:sp>
        <p:nvSpPr>
          <p:cNvPr id="27" name="Text 24"/>
          <p:cNvSpPr/>
          <p:nvPr/>
        </p:nvSpPr>
        <p:spPr>
          <a:xfrm>
            <a:off x="3393281" y="2827251"/>
            <a:ext cx="2357438" cy="468320"/>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All health claims checked by Compliance before publishing</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No before/after weight-loss imagery; no medical advice in ads</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Influencer partnerships disclose material connection</a:t>
            </a:r>
            <a:endParaRPr lang="en-US" sz="800" dirty="0"/>
          </a:p>
        </p:txBody>
      </p:sp>
      <p:sp>
        <p:nvSpPr>
          <p:cNvPr id="28" name="Text 25"/>
          <p:cNvSpPr/>
          <p:nvPr/>
        </p:nvSpPr>
        <p:spPr>
          <a:xfrm>
            <a:off x="3393281" y="3320281"/>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LEAD GENERATION</a:t>
            </a:r>
            <a:endParaRPr lang="en-US" sz="800" dirty="0"/>
          </a:p>
        </p:txBody>
      </p:sp>
      <p:sp>
        <p:nvSpPr>
          <p:cNvPr id="29" name="Text 26"/>
          <p:cNvSpPr/>
          <p:nvPr/>
        </p:nvSpPr>
        <p:spPr>
          <a:xfrm>
            <a:off x="3393281" y="3450654"/>
            <a:ext cx="2357438" cy="445603"/>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Founder LinkedIn (16K+), Instagram, doctor referrals, pharmacies, corporate</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Marketing Executive supplies 25 qualified leads/week</a:t>
            </a:r>
            <a:endParaRPr lang="en-US" sz="800" dirty="0"/>
          </a:p>
        </p:txBody>
      </p:sp>
      <p:sp>
        <p:nvSpPr>
          <p:cNvPr id="30" name="Text 27"/>
          <p:cNvSpPr/>
          <p:nvPr/>
        </p:nvSpPr>
        <p:spPr>
          <a:xfrm>
            <a:off x="6004322" y="1568053"/>
            <a:ext cx="2621756" cy="3171825"/>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31" name="Text 28"/>
          <p:cNvSpPr/>
          <p:nvPr/>
        </p:nvSpPr>
        <p:spPr>
          <a:xfrm>
            <a:off x="6322219" y="1683023"/>
            <a:ext cx="1570415" cy="132633"/>
          </a:xfrm>
          <a:prstGeom prst="rect">
            <a:avLst/>
          </a:prstGeom>
          <a:noFill/>
          <a:ln/>
        </p:spPr>
        <p:txBody>
          <a:bodyPr wrap="none" lIns="0" tIns="0" rIns="0" bIns="0" rtlCol="0" anchor="t"/>
          <a:lstStyle/>
          <a:p>
            <a:pPr algn="l" indent="0" marL="0">
              <a:lnSpc>
                <a:spcPts val="945"/>
              </a:lnSpc>
              <a:buNone/>
            </a:pPr>
            <a:r>
              <a:rPr lang="en-US" sz="788" dirty="0">
                <a:solidFill>
                  <a:srgbClr val="1F4D3A"/>
                </a:solidFill>
                <a:latin typeface="Carlito" pitchFamily="34" charset="0"/>
                <a:ea typeface="Carlito" pitchFamily="34" charset="-122"/>
                <a:cs typeface="Carlito" pitchFamily="34" charset="-120"/>
              </a:rPr>
              <a:t>Operations &amp; Quality Control SOP</a:t>
            </a:r>
            <a:endParaRPr lang="en-US" sz="788" dirty="0"/>
          </a:p>
        </p:txBody>
      </p:sp>
      <p:sp>
        <p:nvSpPr>
          <p:cNvPr id="32" name="Text 29"/>
          <p:cNvSpPr/>
          <p:nvPr/>
        </p:nvSpPr>
        <p:spPr>
          <a:xfrm>
            <a:off x="6136481" y="1685925"/>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33" name="Text 30"/>
          <p:cNvSpPr/>
          <p:nvPr/>
        </p:nvSpPr>
        <p:spPr>
          <a:xfrm>
            <a:off x="6136481" y="1843088"/>
            <a:ext cx="2357437"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TWV-OPS-SOP-002</a:t>
            </a:r>
            <a:endParaRPr lang="en-US" sz="800" dirty="0"/>
          </a:p>
        </p:txBody>
      </p:sp>
      <p:sp>
        <p:nvSpPr>
          <p:cNvPr id="34" name="Text 31"/>
          <p:cNvSpPr/>
          <p:nvPr/>
        </p:nvSpPr>
        <p:spPr>
          <a:xfrm>
            <a:off x="6136481" y="2073473"/>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DAILY WORKFLOW</a:t>
            </a:r>
            <a:endParaRPr lang="en-US" sz="800" dirty="0"/>
          </a:p>
        </p:txBody>
      </p:sp>
      <p:sp>
        <p:nvSpPr>
          <p:cNvPr id="35" name="Text 32"/>
          <p:cNvSpPr/>
          <p:nvPr/>
        </p:nvSpPr>
        <p:spPr>
          <a:xfrm>
            <a:off x="6136481" y="2203847"/>
            <a:ext cx="2357438" cy="468320"/>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Daily ops report; stock count; quality checks before dispatch</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CAPA (Corrective &amp; Preventive Action) log maintained</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Supplier evaluation quarterly</a:t>
            </a:r>
            <a:endParaRPr lang="en-US" sz="800" dirty="0"/>
          </a:p>
        </p:txBody>
      </p:sp>
      <p:sp>
        <p:nvSpPr>
          <p:cNvPr id="36" name="Text 33"/>
          <p:cNvSpPr/>
          <p:nvPr/>
        </p:nvSpPr>
        <p:spPr>
          <a:xfrm>
            <a:off x="6136481" y="2696877"/>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QUALITY GATES</a:t>
            </a:r>
            <a:endParaRPr lang="en-US" sz="800" dirty="0"/>
          </a:p>
        </p:txBody>
      </p:sp>
      <p:sp>
        <p:nvSpPr>
          <p:cNvPr id="37" name="Text 34"/>
          <p:cNvSpPr/>
          <p:nvPr/>
        </p:nvSpPr>
        <p:spPr>
          <a:xfrm>
            <a:off x="6136481" y="2827251"/>
            <a:ext cx="2357438" cy="617283"/>
          </a:xfrm>
          <a:prstGeom prst="rect">
            <a:avLst/>
          </a:prstGeom>
          <a:noFill/>
          <a:ln/>
        </p:spPr>
        <p:txBody>
          <a:bodyPr wrap="square" lIns="0" tIns="0" rIns="0" bIns="0" rtlCol="0" anchor="t"/>
          <a:lstStyle/>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Raw material inspection on receipt</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In-process check at each production step</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Finished-goods check against spec before release</a:t>
            </a:r>
            <a:endParaRPr lang="en-US" sz="800" dirty="0"/>
          </a:p>
          <a:p>
            <a:pPr algn="l" indent="0" marL="0">
              <a:lnSpc>
                <a:spcPts val="938"/>
              </a:lnSpc>
              <a:spcAft>
                <a:spcPts val="169"/>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938"/>
              </a:lnSpc>
              <a:spcAft>
                <a:spcPts val="169"/>
              </a:spcAft>
              <a:buNone/>
            </a:pPr>
            <a:r>
              <a:rPr lang="en-US" sz="800" dirty="0">
                <a:solidFill>
                  <a:srgbClr val="4A4A4A"/>
                </a:solidFill>
                <a:latin typeface="Carlito" pitchFamily="34" charset="0"/>
                <a:ea typeface="Carlito" pitchFamily="34" charset="-122"/>
                <a:cs typeface="Carlito" pitchFamily="34" charset="-120"/>
              </a:rPr>
              <a:t>Non-conforming product quarantined and disposed per SOP</a:t>
            </a:r>
            <a:endParaRPr lang="en-US" sz="800" dirty="0"/>
          </a:p>
        </p:txBody>
      </p:sp>
      <p:sp>
        <p:nvSpPr>
          <p:cNvPr id="38" name="Text 35"/>
          <p:cNvSpPr/>
          <p:nvPr/>
        </p:nvSpPr>
        <p:spPr>
          <a:xfrm>
            <a:off x="6136481" y="3460812"/>
            <a:ext cx="2357438" cy="145804"/>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FOOD SAFETY</a:t>
            </a:r>
            <a:endParaRPr lang="en-US" sz="800" dirty="0"/>
          </a:p>
        </p:txBody>
      </p:sp>
      <p:sp>
        <p:nvSpPr>
          <p:cNvPr id="39" name="Text 36"/>
          <p:cNvSpPr/>
          <p:nvPr/>
        </p:nvSpPr>
        <p:spPr>
          <a:xfrm>
            <a:off x="6136481" y="3634048"/>
            <a:ext cx="2357438" cy="153526"/>
          </a:xfrm>
          <a:prstGeom prst="rect">
            <a:avLst/>
          </a:prstGeom>
          <a:noFill/>
          <a:ln/>
        </p:spPr>
        <p:txBody>
          <a:bodyPr wrap="square" lIns="0" tIns="0" rIns="0" bIns="0" rtlCol="0" anchor="t"/>
          <a:lstStyle/>
          <a:p>
            <a:pPr algn="l" indent="0" marL="0">
              <a:lnSpc>
                <a:spcPts val="866"/>
              </a:lnSpc>
              <a:buNone/>
            </a:pPr>
            <a:r>
              <a:rPr lang="en-US" sz="619" i="1" dirty="0">
                <a:solidFill>
                  <a:srgbClr val="7A7A7A"/>
                </a:solidFill>
                <a:latin typeface="Carlito" pitchFamily="34" charset="0"/>
                <a:ea typeface="Carlito" pitchFamily="34" charset="-122"/>
                <a:cs typeface="Carlito" pitchFamily="34" charset="-120"/>
              </a:rPr>
              <a:t>Compliance with Sindh Food Authority to be verified before first sale.</a:t>
            </a:r>
            <a:endParaRPr lang="en-US" sz="619" dirty="0"/>
          </a:p>
        </p:txBody>
      </p:sp>
      <p:sp>
        <p:nvSpPr>
          <p:cNvPr id="40" name="Shape 37"/>
          <p:cNvSpPr/>
          <p:nvPr/>
        </p:nvSpPr>
        <p:spPr>
          <a:xfrm>
            <a:off x="514350" y="4764881"/>
            <a:ext cx="8115300" cy="0"/>
          </a:xfrm>
          <a:prstGeom prst="line">
            <a:avLst/>
          </a:prstGeom>
          <a:noFill/>
          <a:ln w="7144">
            <a:solidFill>
              <a:srgbClr val="E2DCCB"/>
            </a:solidFill>
            <a:prstDash val="solid"/>
          </a:ln>
        </p:spPr>
      </p:sp>
      <p:sp>
        <p:nvSpPr>
          <p:cNvPr id="41" name="Text 38"/>
          <p:cNvSpPr/>
          <p:nvPr/>
        </p:nvSpPr>
        <p:spPr>
          <a:xfrm>
            <a:off x="514350" y="4854178"/>
            <a:ext cx="5936791" cy="11787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arlito" pitchFamily="34" charset="0"/>
                <a:ea typeface="Carlito" pitchFamily="34" charset="-122"/>
                <a:cs typeface="Carlito" pitchFamily="34" charset="-120"/>
              </a:rPr>
              <a:t>Towative | Confidential: Internal Use | v1.0</a:t>
            </a:r>
            <a:endParaRPr lang="en-US" sz="800" dirty="0"/>
          </a:p>
        </p:txBody>
      </p:sp>
      <p:sp>
        <p:nvSpPr>
          <p:cNvPr id="42" name="Text 39"/>
          <p:cNvSpPr/>
          <p:nvPr/>
        </p:nvSpPr>
        <p:spPr>
          <a:xfrm>
            <a:off x="6465429" y="4854178"/>
            <a:ext cx="2164221" cy="117872"/>
          </a:xfrm>
          <a:prstGeom prst="rect">
            <a:avLst/>
          </a:prstGeom>
          <a:noFill/>
          <a:ln/>
        </p:spPr>
        <p:txBody>
          <a:bodyPr wrap="square" lIns="0" tIns="0" rIns="0" bIns="0" rtlCol="0" anchor="t"/>
          <a:lstStyle/>
          <a:p>
            <a:pPr algn="l" indent="0" marL="0">
              <a:lnSpc>
                <a:spcPts val="928"/>
              </a:lnSpc>
              <a:buNone/>
            </a:pPr>
            <a:r>
              <a:rPr lang="en-US" sz="619" spc="25" kern="0" dirty="0">
                <a:solidFill>
                  <a:srgbClr val="7A7A7A"/>
                </a:solidFill>
                <a:latin typeface="Courier New" pitchFamily="34" charset="0"/>
                <a:ea typeface="Courier New" pitchFamily="34" charset="-122"/>
                <a:cs typeface="Courier New" pitchFamily="34" charset="-120"/>
              </a:rPr>
              <a:t>TWV-FIN-SOP-001 + TWV-MKT-GDL-001 + TWV-OPS-SOP-002</a:t>
            </a:r>
            <a:endParaRPr lang="en-US" sz="619"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2149354" y="2143125"/>
            <a:ext cx="6994646" cy="3000375"/>
          </a:xfrm>
          <a:prstGeom prst="rect">
            <a:avLst/>
          </a:prstGeom>
          <a:noFill/>
          <a:ln/>
        </p:spPr>
        <p:txBody>
          <a:bodyPr wrap="square" lIns="0" tIns="0" rIns="0" bIns="0" rtlCol="0" anchor="t"/>
          <a:lstStyle/>
          <a:p>
            <a:pPr algn="l" indent="0" marL="0">
              <a:lnSpc>
                <a:spcPts val="30375"/>
              </a:lnSpc>
              <a:buNone/>
            </a:pPr>
            <a:r>
              <a:rPr lang="en-US" sz="30375" b="1" spc="-608" kern="0" dirty="0">
                <a:solidFill>
                  <a:srgbClr val="FFFFFF">
                    <a:alpha val="4000"/>
                  </a:srgbClr>
                </a:solidFill>
                <a:latin typeface="Liberation Sans Narrow" pitchFamily="34" charset="0"/>
                <a:ea typeface="Liberation Sans Narrow" pitchFamily="34" charset="-122"/>
                <a:cs typeface="Liberation Sans Narrow" pitchFamily="34" charset="-120"/>
              </a:rPr>
              <a:t>05</a:t>
            </a:r>
            <a:endParaRPr lang="en-US" sz="30375" dirty="0"/>
          </a:p>
        </p:txBody>
      </p:sp>
      <p:sp>
        <p:nvSpPr>
          <p:cNvPr id="3" name="Text 1"/>
          <p:cNvSpPr/>
          <p:nvPr/>
        </p:nvSpPr>
        <p:spPr>
          <a:xfrm>
            <a:off x="7911815" y="287536"/>
            <a:ext cx="57150" cy="57150"/>
          </a:xfrm>
          <a:prstGeom prst="ellipse">
            <a:avLst/>
          </a:prstGeom>
          <a:solidFill>
            <a:srgbClr val="E8A33D"/>
          </a:solidFill>
          <a:ln/>
        </p:spPr>
        <p:txBody>
          <a:bodyPr wrap="square" rtlCol="0" anchor="ctr"/>
          <a:lstStyle/>
          <a:p>
            <a:pPr indent="0" marL="0">
              <a:buNone/>
            </a:pPr>
            <a:endParaRPr lang="en-US" dirty="0"/>
          </a:p>
        </p:txBody>
      </p:sp>
      <p:sp>
        <p:nvSpPr>
          <p:cNvPr id="4" name="Text 2"/>
          <p:cNvSpPr/>
          <p:nvPr/>
        </p:nvSpPr>
        <p:spPr>
          <a:xfrm>
            <a:off x="8020032" y="257175"/>
            <a:ext cx="784860" cy="164592"/>
          </a:xfrm>
          <a:prstGeom prst="rect">
            <a:avLst/>
          </a:prstGeom>
          <a:noFill/>
          <a:ln/>
        </p:spPr>
        <p:txBody>
          <a:bodyPr wrap="none" lIns="0" tIns="0" rIns="0" bIns="0" rtlCol="0" anchor="t"/>
          <a:lstStyle/>
          <a:p>
            <a:pPr algn="l" indent="0" marL="0">
              <a:lnSpc>
                <a:spcPts val="928"/>
              </a:lnSpc>
              <a:buNone/>
            </a:pPr>
            <a:r>
              <a:rPr lang="en-US" sz="800" spc="87" kern="0" dirty="0">
                <a:solidFill>
                  <a:srgbClr val="FFFFFF">
                    <a:alpha val="50000"/>
                  </a:srgbClr>
                </a:solidFill>
                <a:latin typeface="Liberation Sans Narrow" pitchFamily="34" charset="0"/>
                <a:ea typeface="Liberation Sans Narrow" pitchFamily="34" charset="-122"/>
                <a:cs typeface="Liberation Sans Narrow" pitchFamily="34" charset="-120"/>
              </a:rPr>
              <a:t>PAGE 14 / 15</a:t>
            </a:r>
            <a:endParaRPr lang="en-US" sz="800" dirty="0"/>
          </a:p>
        </p:txBody>
      </p:sp>
      <p:sp>
        <p:nvSpPr>
          <p:cNvPr id="5" name="Text 3"/>
          <p:cNvSpPr/>
          <p:nvPr/>
        </p:nvSpPr>
        <p:spPr>
          <a:xfrm>
            <a:off x="857250" y="1592387"/>
            <a:ext cx="7736119" cy="617220"/>
          </a:xfrm>
          <a:prstGeom prst="rect">
            <a:avLst/>
          </a:prstGeom>
          <a:noFill/>
          <a:ln/>
        </p:spPr>
        <p:txBody>
          <a:bodyPr wrap="none" lIns="0" tIns="0" rIns="0" bIns="0" rtlCol="0" anchor="t"/>
          <a:lstStyle/>
          <a:p>
            <a:pPr algn="l" indent="0" marL="0">
              <a:lnSpc>
                <a:spcPts val="4500"/>
              </a:lnSpc>
              <a:buNone/>
            </a:pPr>
            <a:r>
              <a:rPr lang="en-US" sz="4500" b="1" spc="-45" kern="0" dirty="0">
                <a:solidFill>
                  <a:srgbClr val="E8A33D"/>
                </a:solidFill>
                <a:latin typeface="Liberation Sans Narrow" pitchFamily="34" charset="0"/>
                <a:ea typeface="Liberation Sans Narrow" pitchFamily="34" charset="-122"/>
                <a:cs typeface="Liberation Sans Narrow" pitchFamily="34" charset="-120"/>
              </a:rPr>
              <a:t>05 / 05</a:t>
            </a:r>
            <a:endParaRPr lang="en-US" sz="4500" dirty="0"/>
          </a:p>
        </p:txBody>
      </p:sp>
      <p:sp>
        <p:nvSpPr>
          <p:cNvPr id="6" name="Text 4"/>
          <p:cNvSpPr/>
          <p:nvPr/>
        </p:nvSpPr>
        <p:spPr>
          <a:xfrm>
            <a:off x="857250" y="2292474"/>
            <a:ext cx="857250" cy="28575"/>
          </a:xfrm>
          <a:prstGeom prst="roundRect">
            <a:avLst>
              <a:gd name="adj" fmla="val 66667"/>
            </a:avLst>
          </a:prstGeom>
          <a:solidFill>
            <a:srgbClr val="E8A33D"/>
          </a:solidFill>
          <a:ln/>
        </p:spPr>
        <p:txBody>
          <a:bodyPr wrap="square" rtlCol="0" anchor="ctr"/>
          <a:lstStyle/>
          <a:p>
            <a:pPr indent="0" marL="0">
              <a:buNone/>
            </a:pPr>
            <a:endParaRPr lang="en-US" dirty="0"/>
          </a:p>
        </p:txBody>
      </p:sp>
      <p:sp>
        <p:nvSpPr>
          <p:cNvPr id="7" name="Text 5"/>
          <p:cNvSpPr/>
          <p:nvPr/>
        </p:nvSpPr>
        <p:spPr>
          <a:xfrm>
            <a:off x="857250" y="2521074"/>
            <a:ext cx="5972739" cy="518368"/>
          </a:xfrm>
          <a:prstGeom prst="rect">
            <a:avLst/>
          </a:prstGeom>
          <a:noFill/>
          <a:ln/>
        </p:spPr>
        <p:txBody>
          <a:bodyPr wrap="none" lIns="0" tIns="0" rIns="0" bIns="0" rtlCol="0" anchor="t"/>
          <a:lstStyle/>
          <a:p>
            <a:pPr algn="l" indent="0" marL="0">
              <a:lnSpc>
                <a:spcPts val="3780"/>
              </a:lnSpc>
              <a:buNone/>
            </a:pPr>
            <a:r>
              <a:rPr lang="en-US" sz="3600" b="1" spc="-36" kern="0" dirty="0">
                <a:solidFill>
                  <a:srgbClr val="FFFFFF"/>
                </a:solidFill>
                <a:latin typeface="Tinos" pitchFamily="34" charset="0"/>
                <a:ea typeface="Tinos" pitchFamily="34" charset="-122"/>
                <a:cs typeface="Tinos" pitchFamily="34" charset="-120"/>
              </a:rPr>
              <a:t>Continuity &amp; Control</a:t>
            </a:r>
            <a:endParaRPr lang="en-US" sz="3600" dirty="0"/>
          </a:p>
        </p:txBody>
      </p:sp>
      <p:sp>
        <p:nvSpPr>
          <p:cNvPr id="8" name="Text 6"/>
          <p:cNvSpPr/>
          <p:nvPr/>
        </p:nvSpPr>
        <p:spPr>
          <a:xfrm>
            <a:off x="857250" y="3143920"/>
            <a:ext cx="5688323" cy="208312"/>
          </a:xfrm>
          <a:prstGeom prst="rect">
            <a:avLst/>
          </a:prstGeom>
          <a:noFill/>
          <a:ln/>
        </p:spPr>
        <p:txBody>
          <a:bodyPr wrap="square" lIns="0" tIns="0" rIns="0" bIns="0" rtlCol="0" anchor="t"/>
          <a:lstStyle/>
          <a:p>
            <a:pPr algn="l" indent="0" marL="0">
              <a:lnSpc>
                <a:spcPts val="1519"/>
              </a:lnSpc>
              <a:buNone/>
            </a:pPr>
            <a:r>
              <a:rPr lang="en-US" sz="1013" i="1" dirty="0">
                <a:solidFill>
                  <a:srgbClr val="FFFFFF">
                    <a:alpha val="80000"/>
                  </a:srgbClr>
                </a:solidFill>
                <a:latin typeface="Carlito" pitchFamily="34" charset="0"/>
                <a:ea typeface="Carlito" pitchFamily="34" charset="-122"/>
                <a:cs typeface="Carlito" pitchFamily="34" charset="-120"/>
              </a:rPr>
              <a:t>How Towative stays ready for disruption — and keeps every document current, owned, and auditable.</a:t>
            </a:r>
            <a:endParaRPr lang="en-US" sz="1013" dirty="0"/>
          </a:p>
        </p:txBody>
      </p:sp>
      <p:sp>
        <p:nvSpPr>
          <p:cNvPr id="9" name="Text 7"/>
          <p:cNvSpPr/>
          <p:nvPr/>
        </p:nvSpPr>
        <p:spPr>
          <a:xfrm>
            <a:off x="857250" y="3536826"/>
            <a:ext cx="1428750" cy="14288"/>
          </a:xfrm>
          <a:prstGeom prst="rect">
            <a:avLst/>
          </a:prstGeom>
          <a:solidFill>
            <a:srgbClr val="E8A33D"/>
          </a:solidFill>
          <a:ln/>
        </p:spPr>
        <p:txBody>
          <a:bodyPr wrap="square" rtlCol="0" anchor="ctr"/>
          <a:lstStyle/>
          <a:p>
            <a:pPr indent="0" marL="0">
              <a:buNone/>
            </a:pPr>
            <a:endParaRPr lang="en-US" dirty="0"/>
          </a:p>
        </p:txBody>
      </p:sp>
      <p:sp>
        <p:nvSpPr>
          <p:cNvPr id="10" name="Text 8"/>
          <p:cNvSpPr/>
          <p:nvPr/>
        </p:nvSpPr>
        <p:spPr>
          <a:xfrm>
            <a:off x="857250" y="4498477"/>
            <a:ext cx="1287103" cy="257775"/>
          </a:xfrm>
          <a:prstGeom prst="roundRect">
            <a:avLst>
              <a:gd name="adj" fmla="val 3691388"/>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1" name="Text 9"/>
          <p:cNvSpPr/>
          <p:nvPr/>
        </p:nvSpPr>
        <p:spPr>
          <a:xfrm>
            <a:off x="857250" y="4511278"/>
            <a:ext cx="1287103" cy="232172"/>
          </a:xfrm>
          <a:prstGeom prst="rect">
            <a:avLst/>
          </a:prstGeom>
          <a:noFill/>
          <a:ln/>
        </p:spPr>
        <p:txBody>
          <a:bodyPr wrap="none" lIns="0" tIns="0" rIns="0" bIns="0" rtlCol="0" anchor="ctr"/>
          <a:lstStyle/>
          <a:p>
            <a:pPr algn="ctr"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13 — BCP</a:t>
            </a:r>
            <a:endParaRPr lang="en-US" sz="800" dirty="0"/>
          </a:p>
        </p:txBody>
      </p:sp>
      <p:sp>
        <p:nvSpPr>
          <p:cNvPr id="12" name="Text 10"/>
          <p:cNvSpPr/>
          <p:nvPr/>
        </p:nvSpPr>
        <p:spPr>
          <a:xfrm>
            <a:off x="2230078" y="4498477"/>
            <a:ext cx="1419039" cy="257775"/>
          </a:xfrm>
          <a:prstGeom prst="roundRect">
            <a:avLst>
              <a:gd name="adj" fmla="val 3691388"/>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3" name="Text 11"/>
          <p:cNvSpPr/>
          <p:nvPr/>
        </p:nvSpPr>
        <p:spPr>
          <a:xfrm>
            <a:off x="2230078" y="4511278"/>
            <a:ext cx="1419039" cy="232172"/>
          </a:xfrm>
          <a:prstGeom prst="rect">
            <a:avLst/>
          </a:prstGeom>
          <a:noFill/>
          <a:ln/>
        </p:spPr>
        <p:txBody>
          <a:bodyPr wrap="none" lIns="0" tIns="0" rIns="0" bIns="0" rtlCol="0" anchor="ctr"/>
          <a:lstStyle/>
          <a:p>
            <a:pPr algn="ctr"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14 — FORMS</a:t>
            </a:r>
            <a:endParaRPr lang="en-US" sz="800" dirty="0"/>
          </a:p>
        </p:txBody>
      </p:sp>
      <p:sp>
        <p:nvSpPr>
          <p:cNvPr id="14" name="Text 12"/>
          <p:cNvSpPr/>
          <p:nvPr/>
        </p:nvSpPr>
        <p:spPr>
          <a:xfrm>
            <a:off x="3738414" y="4514850"/>
            <a:ext cx="1758925" cy="225028"/>
          </a:xfrm>
          <a:prstGeom prst="roundRect">
            <a:avLst>
              <a:gd name="adj" fmla="val 4228574"/>
            </a:avLst>
          </a:prstGeom>
          <a:solidFill>
            <a:srgbClr val="143027">
              <a:alpha val="35000"/>
            </a:srgbClr>
          </a:solidFill>
          <a:ln w="7144">
            <a:solidFill>
              <a:srgbClr val="E8A33D"/>
            </a:solidFill>
            <a:prstDash val="solid"/>
          </a:ln>
        </p:spPr>
        <p:txBody>
          <a:bodyPr wrap="square" rtlCol="0" anchor="ctr"/>
          <a:lstStyle/>
          <a:p>
            <a:pPr indent="0" marL="0">
              <a:buNone/>
            </a:pPr>
            <a:endParaRPr lang="en-US" dirty="0"/>
          </a:p>
        </p:txBody>
      </p:sp>
      <p:sp>
        <p:nvSpPr>
          <p:cNvPr id="15" name="Text 13"/>
          <p:cNvSpPr/>
          <p:nvPr/>
        </p:nvSpPr>
        <p:spPr>
          <a:xfrm>
            <a:off x="3734842" y="4511278"/>
            <a:ext cx="1766069" cy="324196"/>
          </a:xfrm>
          <a:prstGeom prst="rect">
            <a:avLst/>
          </a:prstGeom>
          <a:noFill/>
          <a:ln/>
        </p:spPr>
        <p:txBody>
          <a:bodyPr wrap="square" lIns="100013" tIns="50006" rIns="100013" bIns="50006" rtlCol="0" anchor="t"/>
          <a:lstStyle/>
          <a:p>
            <a:pPr algn="l" indent="0" marL="0">
              <a:lnSpc>
                <a:spcPts val="928"/>
              </a:lnSpc>
              <a:buNone/>
            </a:pPr>
            <a:r>
              <a:rPr lang="en-US" sz="800" spc="87" kern="0" dirty="0">
                <a:solidFill>
                  <a:srgbClr val="FAF7F0"/>
                </a:solidFill>
                <a:latin typeface="Liberation Sans Narrow" pitchFamily="34" charset="0"/>
                <a:ea typeface="Liberation Sans Narrow" pitchFamily="34" charset="-122"/>
                <a:cs typeface="Liberation Sans Narrow" pitchFamily="34" charset="-120"/>
              </a:rPr>
              <a:t>DELIVERABLE 15 — DOC REGISTER</a:t>
            </a:r>
            <a:endParaRPr lang="en-US" sz="800" dirty="0"/>
          </a:p>
        </p:txBody>
      </p:sp>
      <p:sp>
        <p:nvSpPr>
          <p:cNvPr id="16" name="Text 14"/>
          <p:cNvSpPr/>
          <p:nvPr/>
        </p:nvSpPr>
        <p:spPr>
          <a:xfrm>
            <a:off x="7848526" y="4736306"/>
            <a:ext cx="1171687" cy="164592"/>
          </a:xfrm>
          <a:prstGeom prst="rect">
            <a:avLst/>
          </a:prstGeom>
          <a:noFill/>
          <a:ln/>
        </p:spPr>
        <p:txBody>
          <a:bodyPr wrap="none" lIns="0" tIns="0" rIns="0" bIns="0" rtlCol="0" anchor="t"/>
          <a:lstStyle/>
          <a:p>
            <a:pPr algn="l" indent="0" marL="0">
              <a:lnSpc>
                <a:spcPts val="1181"/>
              </a:lnSpc>
              <a:buNone/>
            </a:pPr>
            <a:r>
              <a:rPr lang="en-US" sz="800" b="1" spc="236" kern="0" dirty="0">
                <a:solidFill>
                  <a:srgbClr val="FFFFFF">
                    <a:alpha val="30000"/>
                  </a:srgbClr>
                </a:solidFill>
                <a:latin typeface="Tinos" pitchFamily="34" charset="0"/>
                <a:ea typeface="Tinos" pitchFamily="34" charset="-122"/>
                <a:cs typeface="Tinos" pitchFamily="34" charset="-120"/>
              </a:rPr>
              <a:t>TOWATIVE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14350" y="717947"/>
            <a:ext cx="8115300" cy="0"/>
          </a:xfrm>
          <a:prstGeom prst="line">
            <a:avLst/>
          </a:prstGeom>
          <a:noFill/>
          <a:ln w="7144">
            <a:solidFill>
              <a:srgbClr val="E2DCCB"/>
            </a:solidFill>
            <a:prstDash val="solid"/>
          </a:ln>
        </p:spPr>
      </p:sp>
      <p:sp>
        <p:nvSpPr>
          <p:cNvPr id="3" name="Text 1"/>
          <p:cNvSpPr/>
          <p:nvPr/>
        </p:nvSpPr>
        <p:spPr>
          <a:xfrm>
            <a:off x="514350" y="400050"/>
            <a:ext cx="185738" cy="185738"/>
          </a:xfrm>
          <a:prstGeom prst="roundRect">
            <a:avLst>
              <a:gd name="adj" fmla="val 30769"/>
            </a:avLst>
          </a:prstGeom>
          <a:solidFill>
            <a:srgbClr val="1F4D3A"/>
          </a:solidFill>
          <a:ln/>
        </p:spPr>
        <p:txBody>
          <a:bodyPr wrap="square" rtlCol="0" anchor="ctr"/>
          <a:lstStyle/>
          <a:p>
            <a:pPr indent="0" marL="0">
              <a:buNone/>
            </a:pPr>
            <a:endParaRPr lang="en-US" dirty="0"/>
          </a:p>
        </p:txBody>
      </p:sp>
      <p:sp>
        <p:nvSpPr>
          <p:cNvPr id="4" name="Text 2"/>
          <p:cNvSpPr/>
          <p:nvPr/>
        </p:nvSpPr>
        <p:spPr>
          <a:xfrm>
            <a:off x="514350" y="400050"/>
            <a:ext cx="221456" cy="185738"/>
          </a:xfrm>
          <a:prstGeom prst="rect">
            <a:avLst/>
          </a:prstGeom>
          <a:noFill/>
          <a:ln/>
        </p:spPr>
        <p:txBody>
          <a:bodyPr wrap="none" lIns="0" tIns="0" rIns="0" bIns="0" rtlCol="0" anchor="ctr"/>
          <a:lstStyle/>
          <a:p>
            <a:pPr algn="ctr" indent="0" marL="0">
              <a:lnSpc>
                <a:spcPts val="1350"/>
              </a:lnSpc>
              <a:buNone/>
            </a:pPr>
            <a:r>
              <a:rPr lang="en-US" sz="900" b="1" dirty="0">
                <a:solidFill>
                  <a:srgbClr val="E8A33D"/>
                </a:solidFill>
                <a:latin typeface="Tinos" pitchFamily="34" charset="0"/>
                <a:ea typeface="Tinos" pitchFamily="34" charset="-122"/>
                <a:cs typeface="Tinos" pitchFamily="34" charset="-120"/>
              </a:rPr>
              <a:t>T</a:t>
            </a:r>
            <a:endParaRPr lang="en-US" sz="900" dirty="0"/>
          </a:p>
        </p:txBody>
      </p:sp>
      <p:sp>
        <p:nvSpPr>
          <p:cNvPr id="5" name="Text 3"/>
          <p:cNvSpPr/>
          <p:nvPr/>
        </p:nvSpPr>
        <p:spPr>
          <a:xfrm>
            <a:off x="771525" y="407194"/>
            <a:ext cx="910302" cy="178594"/>
          </a:xfrm>
          <a:prstGeom prst="rect">
            <a:avLst/>
          </a:prstGeom>
          <a:noFill/>
          <a:ln/>
        </p:spPr>
        <p:txBody>
          <a:bodyPr wrap="none" lIns="0" tIns="0" rIns="0" bIns="0" rtlCol="0" anchor="t"/>
          <a:lstStyle/>
          <a:p>
            <a:pPr algn="l" indent="0" marL="0">
              <a:lnSpc>
                <a:spcPts val="1350"/>
              </a:lnSpc>
              <a:buNone/>
            </a:pPr>
            <a:r>
              <a:rPr lang="en-US" sz="900" b="1" spc="18" kern="0" dirty="0">
                <a:solidFill>
                  <a:srgbClr val="1F4D3A"/>
                </a:solidFill>
                <a:latin typeface="Tinos" pitchFamily="34" charset="0"/>
                <a:ea typeface="Tinos" pitchFamily="34" charset="-122"/>
                <a:cs typeface="Tinos" pitchFamily="34" charset="-120"/>
              </a:rPr>
              <a:t>TOWATIVE</a:t>
            </a:r>
            <a:endParaRPr lang="en-US" sz="900" dirty="0"/>
          </a:p>
        </p:txBody>
      </p:sp>
      <p:sp>
        <p:nvSpPr>
          <p:cNvPr id="6" name="Shape 4"/>
          <p:cNvSpPr/>
          <p:nvPr/>
        </p:nvSpPr>
        <p:spPr>
          <a:xfrm>
            <a:off x="1511684" y="439341"/>
            <a:ext cx="0" cy="107156"/>
          </a:xfrm>
          <a:prstGeom prst="line">
            <a:avLst/>
          </a:prstGeom>
          <a:noFill/>
          <a:ln w="7144">
            <a:solidFill>
              <a:srgbClr val="E2DCCB"/>
            </a:solidFill>
            <a:prstDash val="solid"/>
          </a:ln>
        </p:spPr>
      </p:sp>
      <p:sp>
        <p:nvSpPr>
          <p:cNvPr id="7" name="Text 5"/>
          <p:cNvSpPr/>
          <p:nvPr/>
        </p:nvSpPr>
        <p:spPr>
          <a:xfrm>
            <a:off x="1508113" y="439341"/>
            <a:ext cx="1142330" cy="146447"/>
          </a:xfrm>
          <a:prstGeom prst="rect">
            <a:avLst/>
          </a:prstGeom>
          <a:noFill/>
          <a:ln/>
        </p:spPr>
        <p:txBody>
          <a:bodyPr wrap="none" lIns="71438" tIns="0" rIns="0" bIns="0" rtlCol="0" anchor="t"/>
          <a:lstStyle/>
          <a:p>
            <a:pPr algn="l" indent="0" marL="0">
              <a:lnSpc>
                <a:spcPts val="844"/>
              </a:lnSpc>
              <a:buNone/>
            </a:pPr>
            <a:r>
              <a:rPr lang="en-US" sz="600" spc="90" kern="0" dirty="0">
                <a:solidFill>
                  <a:srgbClr val="7A7A7A"/>
                </a:solidFill>
                <a:latin typeface="Liberation Sans Narrow" pitchFamily="34" charset="0"/>
                <a:ea typeface="Liberation Sans Narrow" pitchFamily="34" charset="-122"/>
                <a:cs typeface="Liberation Sans Narrow" pitchFamily="34" charset="-120"/>
              </a:rPr>
              <a:t>MONTHLY ASSESSMENT 1</a:t>
            </a:r>
            <a:endParaRPr lang="en-US" sz="600" dirty="0"/>
          </a:p>
        </p:txBody>
      </p:sp>
      <p:sp>
        <p:nvSpPr>
          <p:cNvPr id="8" name="Text 6"/>
          <p:cNvSpPr/>
          <p:nvPr/>
        </p:nvSpPr>
        <p:spPr>
          <a:xfrm>
            <a:off x="8043226" y="433983"/>
            <a:ext cx="607040" cy="151805"/>
          </a:xfrm>
          <a:prstGeom prst="rect">
            <a:avLst/>
          </a:prstGeom>
          <a:noFill/>
          <a:ln/>
        </p:spPr>
        <p:txBody>
          <a:bodyPr wrap="none" lIns="0" tIns="0" rIns="0" bIns="0" rtlCol="0" anchor="t"/>
          <a:lstStyle/>
          <a:p>
            <a:pPr algn="l" indent="0" marL="0">
              <a:lnSpc>
                <a:spcPts val="928"/>
              </a:lnSpc>
              <a:buNone/>
            </a:pPr>
            <a:r>
              <a:rPr lang="en-US" sz="619" spc="62" kern="0" dirty="0">
                <a:solidFill>
                  <a:srgbClr val="7A7A7A"/>
                </a:solidFill>
                <a:latin typeface="Liberation Sans Narrow" pitchFamily="34" charset="0"/>
                <a:ea typeface="Liberation Sans Narrow" pitchFamily="34" charset="-122"/>
                <a:cs typeface="Liberation Sans Narrow" pitchFamily="34" charset="-120"/>
              </a:rPr>
              <a:t>PAGE 15 / 15</a:t>
            </a:r>
            <a:endParaRPr lang="en-US" sz="619" dirty="0"/>
          </a:p>
        </p:txBody>
      </p:sp>
      <p:sp>
        <p:nvSpPr>
          <p:cNvPr id="9" name="Text 7"/>
          <p:cNvSpPr/>
          <p:nvPr/>
        </p:nvSpPr>
        <p:spPr>
          <a:xfrm>
            <a:off x="514350" y="921544"/>
            <a:ext cx="8629650" cy="119015"/>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B57820"/>
                </a:solidFill>
                <a:latin typeface="Liberation Sans Narrow" pitchFamily="34" charset="0"/>
                <a:ea typeface="Liberation Sans Narrow" pitchFamily="34" charset="-122"/>
                <a:cs typeface="Liberation Sans Narrow" pitchFamily="34" charset="-120"/>
              </a:rPr>
              <a:t>DELIVERABLES 13 + 14 + 15</a:t>
            </a:r>
            <a:endParaRPr lang="en-US" sz="800" dirty="0"/>
          </a:p>
        </p:txBody>
      </p:sp>
      <p:sp>
        <p:nvSpPr>
          <p:cNvPr id="10" name="Text 8"/>
          <p:cNvSpPr/>
          <p:nvPr/>
        </p:nvSpPr>
        <p:spPr>
          <a:xfrm>
            <a:off x="514350" y="1067991"/>
            <a:ext cx="8629650" cy="251174"/>
          </a:xfrm>
          <a:prstGeom prst="rect">
            <a:avLst/>
          </a:prstGeom>
          <a:noFill/>
          <a:ln/>
        </p:spPr>
        <p:txBody>
          <a:bodyPr wrap="square" lIns="0" tIns="0" rIns="0" bIns="0" rtlCol="0" anchor="t">
            <a:normAutofit/>
          </a:bodyPr>
          <a:lstStyle/>
          <a:p>
            <a:pPr algn="l" indent="0" marL="0">
              <a:lnSpc>
                <a:spcPts val="1856"/>
              </a:lnSpc>
              <a:buNone/>
            </a:pPr>
            <a:r>
              <a:rPr lang="en-US" sz="1688" b="1" dirty="0">
                <a:solidFill>
                  <a:srgbClr val="1F4D3A"/>
                </a:solidFill>
                <a:latin typeface="Tinos" pitchFamily="34" charset="0"/>
                <a:ea typeface="Tinos" pitchFamily="34" charset="-122"/>
                <a:cs typeface="Tinos" pitchFamily="34" charset="-120"/>
              </a:rPr>
              <a:t>Continuity, Forms &amp; Document Control</a:t>
            </a:r>
            <a:endParaRPr lang="en-US" sz="1688" dirty="0"/>
          </a:p>
        </p:txBody>
      </p:sp>
      <p:sp>
        <p:nvSpPr>
          <p:cNvPr id="11" name="Text 9"/>
          <p:cNvSpPr/>
          <p:nvPr/>
        </p:nvSpPr>
        <p:spPr>
          <a:xfrm>
            <a:off x="514350" y="1346597"/>
            <a:ext cx="8629650"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7A7A7A"/>
                </a:solidFill>
                <a:latin typeface="Courier New" pitchFamily="34" charset="0"/>
                <a:ea typeface="Courier New" pitchFamily="34" charset="-122"/>
                <a:cs typeface="Courier New" pitchFamily="34" charset="-120"/>
              </a:rPr>
              <a:t>TWV-BCP-001 + TWV-FRM-001 + TWV-DOC-REG-001</a:t>
            </a:r>
            <a:endParaRPr lang="en-US" sz="800" dirty="0"/>
          </a:p>
        </p:txBody>
      </p:sp>
      <p:sp>
        <p:nvSpPr>
          <p:cNvPr id="12" name="Text 10"/>
          <p:cNvSpPr/>
          <p:nvPr/>
        </p:nvSpPr>
        <p:spPr>
          <a:xfrm>
            <a:off x="517922" y="1553766"/>
            <a:ext cx="2621756" cy="3128963"/>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13" name="Text 11"/>
          <p:cNvSpPr/>
          <p:nvPr/>
        </p:nvSpPr>
        <p:spPr>
          <a:xfrm>
            <a:off x="835819" y="1654448"/>
            <a:ext cx="1398333" cy="118345"/>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1F4D3A"/>
                </a:solidFill>
                <a:latin typeface="Carlito" pitchFamily="34" charset="0"/>
                <a:ea typeface="Carlito" pitchFamily="34" charset="-122"/>
                <a:cs typeface="Carlito" pitchFamily="34" charset="-120"/>
              </a:rPr>
              <a:t>BCP &amp; Incident Response</a:t>
            </a:r>
            <a:endParaRPr lang="en-US" sz="800" dirty="0"/>
          </a:p>
        </p:txBody>
      </p:sp>
      <p:sp>
        <p:nvSpPr>
          <p:cNvPr id="14" name="Text 12"/>
          <p:cNvSpPr/>
          <p:nvPr/>
        </p:nvSpPr>
        <p:spPr>
          <a:xfrm>
            <a:off x="650081" y="1657350"/>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15" name="Text 13"/>
          <p:cNvSpPr/>
          <p:nvPr/>
        </p:nvSpPr>
        <p:spPr>
          <a:xfrm>
            <a:off x="650081" y="1800225"/>
            <a:ext cx="2357438"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TWV-BCP-001</a:t>
            </a:r>
            <a:endParaRPr lang="en-US" sz="800" dirty="0"/>
          </a:p>
        </p:txBody>
      </p:sp>
      <p:sp>
        <p:nvSpPr>
          <p:cNvPr id="16" name="Text 14"/>
          <p:cNvSpPr/>
          <p:nvPr/>
        </p:nvSpPr>
        <p:spPr>
          <a:xfrm>
            <a:off x="650081" y="2016323"/>
            <a:ext cx="2357438" cy="131516"/>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RECOVERY PRIORITIES</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0081" y="2175272"/>
          <a:ext cx="2357438" cy="914400"/>
        </p:xfrm>
        <a:graphic>
          <a:graphicData uri="http://schemas.openxmlformats.org/drawingml/2006/table">
            <a:tbl>
              <a:tblPr/>
              <a:tblGrid>
                <a:gridCol w="1645965"/>
                <a:gridCol w="711473"/>
              </a:tblGrid>
              <a:tr h="0">
                <a:tc>
                  <a:txBody>
                    <a:bodyPr/>
                    <a:lstStyle/>
                    <a:p>
                      <a:pPr algn="l" indent="0" marL="0">
                        <a:buNone/>
                      </a:pPr>
                      <a:r>
                        <a:rPr lang="en-US" sz="800" b="1" dirty="0">
                          <a:solidFill>
                            <a:srgbClr val="7A7A7A"/>
                          </a:solidFill>
                          <a:latin typeface="Carlito" pitchFamily="34" charset="0"/>
                          <a:ea typeface="Carlito" pitchFamily="34" charset="-122"/>
                          <a:cs typeface="Carlito" pitchFamily="34" charset="-120"/>
                        </a:rPr>
                        <a:t>Priority</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b="1" dirty="0">
                          <a:solidFill>
                            <a:srgbClr val="7A7A7A"/>
                          </a:solidFill>
                          <a:latin typeface="Carlito" pitchFamily="34" charset="0"/>
                          <a:ea typeface="Carlito" pitchFamily="34" charset="-122"/>
                          <a:cs typeface="Carlito" pitchFamily="34" charset="-120"/>
                        </a:rPr>
                        <a:t>Target</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People &amp; food safety</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Immediate</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Customer orders &amp; delivery</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24h</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Email, web, payments</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8h</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Consultations &amp; records</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24h</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r h="0">
                <a:tc>
                  <a:txBody>
                    <a:bodyPr/>
                    <a:lstStyle/>
                    <a:p>
                      <a:pPr algn="l" indent="0" marL="0">
                        <a:buNone/>
                      </a:pPr>
                      <a:r>
                        <a:rPr lang="en-US" sz="800" dirty="0">
                          <a:solidFill>
                            <a:srgbClr val="1A1A1A"/>
                          </a:solidFill>
                          <a:latin typeface="Carlito" pitchFamily="34" charset="0"/>
                          <a:ea typeface="Carlito" pitchFamily="34" charset="-122"/>
                          <a:cs typeface="Carlito" pitchFamily="34" charset="-120"/>
                        </a:rPr>
                        <a:t>Finance, HR, reporting</a:t>
                      </a:r>
                      <a:endParaRPr lang="en-US" sz="800" dirty="0">
                        <a:latin typeface="Carlito" charset="0"/>
                        <a:ea typeface="Carlito" charset="0"/>
                        <a:cs typeface="Carlito"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c>
                  <a:txBody>
                    <a:bodyPr/>
                    <a:lstStyle/>
                    <a:p>
                      <a:pPr algn="r" indent="0" marL="0">
                        <a:buNone/>
                      </a:pPr>
                      <a:r>
                        <a:rPr lang="en-US" sz="800" dirty="0">
                          <a:solidFill>
                            <a:srgbClr val="B57820"/>
                          </a:solidFill>
                          <a:latin typeface="Courier New" pitchFamily="34" charset="0"/>
                          <a:ea typeface="Courier New" pitchFamily="34" charset="-122"/>
                          <a:cs typeface="Courier New" pitchFamily="34" charset="-120"/>
                        </a:rPr>
                        <a:t>72h</a:t>
                      </a:r>
                      <a:endParaRPr lang="en-US" sz="800" dirty="0">
                        <a:latin typeface="Courier New" charset="0"/>
                        <a:ea typeface="Courier New" charset="0"/>
                        <a:cs typeface="Courier New" charset="0"/>
                      </a:endParaRPr>
                    </a:p>
                  </a:txBody>
                  <a:tcPr marL="28575" marR="42863" marT="42863" marB="28575" anchor="ctr">
                    <a:lnL w="6350" cap="flat" cmpd="sng" algn="ctr">
                      <a:solidFill>
                        <a:srgbClr val="E2DCCB"/>
                      </a:solidFill>
                      <a:prstDash val="solid"/>
                      <a:round/>
                      <a:headEnd type="none" w="med" len="med"/>
                      <a:tailEnd type="none" w="med" len="med"/>
                    </a:lnL>
                    <a:lnR w="6350" cap="flat" cmpd="sng" algn="ctr">
                      <a:solidFill>
                        <a:srgbClr val="E2DCCB"/>
                      </a:solidFill>
                      <a:prstDash val="solid"/>
                      <a:round/>
                      <a:headEnd type="none" w="med" len="med"/>
                      <a:tailEnd type="none" w="med" len="med"/>
                    </a:lnR>
                    <a:lnT w="6350" cap="flat" cmpd="sng" algn="ctr">
                      <a:solidFill>
                        <a:srgbClr val="E2DCCB"/>
                      </a:solidFill>
                      <a:prstDash val="solid"/>
                      <a:round/>
                      <a:headEnd type="none" w="med" len="med"/>
                      <a:tailEnd type="none" w="med" len="med"/>
                    </a:lnT>
                    <a:lnB w="6350" cap="flat" cmpd="sng" algn="ctr">
                      <a:solidFill>
                        <a:srgbClr val="E2DCCB"/>
                      </a:solidFill>
                      <a:prstDash val="solid"/>
                      <a:round/>
                      <a:headEnd type="none" w="med" len="med"/>
                      <a:tailEnd type="none" w="med" len="med"/>
                    </a:lnB>
                  </a:tcPr>
                </a:tc>
              </a:tr>
            </a:tbl>
          </a:graphicData>
        </a:graphic>
      </p:graphicFrame>
      <p:sp>
        <p:nvSpPr>
          <p:cNvPr id="18" name="Text 15"/>
          <p:cNvSpPr/>
          <p:nvPr/>
        </p:nvSpPr>
        <p:spPr>
          <a:xfrm>
            <a:off x="650081" y="3323630"/>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KEY SCENARIOS</a:t>
            </a:r>
            <a:endParaRPr lang="en-US" sz="800" dirty="0"/>
          </a:p>
        </p:txBody>
      </p:sp>
      <p:sp>
        <p:nvSpPr>
          <p:cNvPr id="19" name="Text 16"/>
          <p:cNvSpPr/>
          <p:nvPr/>
        </p:nvSpPr>
        <p:spPr>
          <a:xfrm>
            <a:off x="650081" y="3454003"/>
            <a:ext cx="2357438" cy="620151"/>
          </a:xfrm>
          <a:prstGeom prst="rect">
            <a:avLst/>
          </a:prstGeom>
          <a:noFill/>
          <a:ln/>
        </p:spPr>
        <p:txBody>
          <a:bodyPr wrap="square" lIns="0" tIns="0" rIns="0" bIns="0" rtlCol="0" anchor="t"/>
          <a:lstStyle/>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IT outage: switch to hotspot/cloud tools; restore within 8h</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Data loss/ransomware: disconnect device, report in 1h, restore clean backup</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Production stop: alternate supplier list + manual workflow fallback</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People disruption: cross-training matrix ensures coverage</a:t>
            </a:r>
            <a:endParaRPr lang="en-US" sz="800" dirty="0"/>
          </a:p>
        </p:txBody>
      </p:sp>
      <p:sp>
        <p:nvSpPr>
          <p:cNvPr id="20" name="Text 17"/>
          <p:cNvSpPr/>
          <p:nvPr/>
        </p:nvSpPr>
        <p:spPr>
          <a:xfrm>
            <a:off x="3261122" y="1553766"/>
            <a:ext cx="2621756" cy="3128963"/>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1" name="Text 18"/>
          <p:cNvSpPr/>
          <p:nvPr/>
        </p:nvSpPr>
        <p:spPr>
          <a:xfrm>
            <a:off x="3579019" y="1654448"/>
            <a:ext cx="1374279" cy="118345"/>
          </a:xfrm>
          <a:prstGeom prst="rect">
            <a:avLst/>
          </a:prstGeom>
          <a:noFill/>
          <a:ln/>
        </p:spPr>
        <p:txBody>
          <a:bodyPr wrap="none" lIns="0" tIns="0" rIns="0" bIns="0" rtlCol="0" anchor="t">
            <a:normAutofit/>
          </a:bodyPr>
          <a:lstStyle/>
          <a:p>
            <a:pPr algn="l" indent="0" marL="0">
              <a:lnSpc>
                <a:spcPts val="945"/>
              </a:lnSpc>
              <a:buNone/>
            </a:pPr>
            <a:r>
              <a:rPr lang="en-US" sz="788" dirty="0">
                <a:solidFill>
                  <a:srgbClr val="1F4D3A"/>
                </a:solidFill>
                <a:latin typeface="Liberation Sans Narrow" pitchFamily="34" charset="0"/>
                <a:ea typeface="Liberation Sans Narrow" pitchFamily="34" charset="-122"/>
                <a:cs typeface="Liberation Sans Narrow" pitchFamily="34" charset="-120"/>
              </a:rPr>
              <a:t>Forms &amp; Templates (F1–F10)</a:t>
            </a:r>
            <a:endParaRPr lang="en-US" sz="788" dirty="0"/>
          </a:p>
        </p:txBody>
      </p:sp>
      <p:sp>
        <p:nvSpPr>
          <p:cNvPr id="22" name="Text 19"/>
          <p:cNvSpPr/>
          <p:nvPr/>
        </p:nvSpPr>
        <p:spPr>
          <a:xfrm>
            <a:off x="3393281" y="1657350"/>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23" name="Text 20"/>
          <p:cNvSpPr/>
          <p:nvPr/>
        </p:nvSpPr>
        <p:spPr>
          <a:xfrm>
            <a:off x="3393281" y="1800225"/>
            <a:ext cx="2357437"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TWV-FRM-001</a:t>
            </a:r>
            <a:endParaRPr lang="en-US" sz="800" dirty="0"/>
          </a:p>
        </p:txBody>
      </p:sp>
      <p:sp>
        <p:nvSpPr>
          <p:cNvPr id="24" name="Text 21"/>
          <p:cNvSpPr/>
          <p:nvPr/>
        </p:nvSpPr>
        <p:spPr>
          <a:xfrm>
            <a:off x="3393281" y="2016323"/>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MANDATORY FORMS</a:t>
            </a:r>
            <a:endParaRPr lang="en-US" sz="800" dirty="0"/>
          </a:p>
        </p:txBody>
      </p:sp>
      <p:sp>
        <p:nvSpPr>
          <p:cNvPr id="25" name="Text 22"/>
          <p:cNvSpPr/>
          <p:nvPr/>
        </p:nvSpPr>
        <p:spPr>
          <a:xfrm>
            <a:off x="3393281" y="2146697"/>
            <a:ext cx="2357438" cy="1270784"/>
          </a:xfrm>
          <a:prstGeom prst="rect">
            <a:avLst/>
          </a:prstGeom>
          <a:noFill/>
          <a:ln/>
        </p:spPr>
        <p:txBody>
          <a:bodyPr wrap="square" lIns="0" tIns="0" rIns="0" bIns="0" rtlCol="0" anchor="t"/>
          <a:lstStyle/>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F1</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Meeting Minutes</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F2</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IT Issue Report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F3</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Operations Daily Report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F4</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Purchase Request &amp; Quotation</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F5</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Expense Reimbursement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F6</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Sales Performance Tracker</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F7</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Incident Report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F8</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Onboarding Checklist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F9</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Exit Checklist &amp; Settlement</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b="1" dirty="0">
                <a:solidFill>
                  <a:srgbClr val="1F4D3A"/>
                </a:solidFill>
                <a:latin typeface="Liberation Sans Narrow" pitchFamily="34" charset="0"/>
                <a:ea typeface="Liberation Sans Narrow" pitchFamily="34" charset="-122"/>
                <a:cs typeface="Liberation Sans Narrow" pitchFamily="34" charset="-120"/>
              </a:rPr>
              <a:t>F10</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 Compliance &amp; Audit Log</a:t>
            </a:r>
            <a:endParaRPr lang="en-US" sz="800" dirty="0"/>
          </a:p>
        </p:txBody>
      </p:sp>
      <p:sp>
        <p:nvSpPr>
          <p:cNvPr id="26" name="Text 23"/>
          <p:cNvSpPr/>
          <p:nvPr/>
        </p:nvSpPr>
        <p:spPr>
          <a:xfrm>
            <a:off x="3393281" y="3381673"/>
            <a:ext cx="2357438" cy="153526"/>
          </a:xfrm>
          <a:prstGeom prst="rect">
            <a:avLst/>
          </a:prstGeom>
          <a:noFill/>
          <a:ln/>
        </p:spPr>
        <p:txBody>
          <a:bodyPr wrap="square" lIns="0" tIns="0" rIns="0" bIns="0" rtlCol="0" anchor="t"/>
          <a:lstStyle/>
          <a:p>
            <a:pPr algn="l" indent="0" marL="0">
              <a:lnSpc>
                <a:spcPts val="866"/>
              </a:lnSpc>
              <a:buNone/>
            </a:pPr>
            <a:r>
              <a:rPr lang="en-US" sz="619" i="1" dirty="0">
                <a:solidFill>
                  <a:srgbClr val="7A7A7A"/>
                </a:solidFill>
                <a:latin typeface="Carlito" pitchFamily="34" charset="0"/>
                <a:ea typeface="Carlito" pitchFamily="34" charset="-122"/>
                <a:cs typeface="Carlito" pitchFamily="34" charset="-120"/>
              </a:rPr>
              <a:t>All forms versioned; superseded versions archived, never deleted.</a:t>
            </a:r>
            <a:endParaRPr lang="en-US" sz="619" dirty="0"/>
          </a:p>
        </p:txBody>
      </p:sp>
      <p:sp>
        <p:nvSpPr>
          <p:cNvPr id="27" name="Text 24"/>
          <p:cNvSpPr/>
          <p:nvPr/>
        </p:nvSpPr>
        <p:spPr>
          <a:xfrm>
            <a:off x="6004322" y="1553766"/>
            <a:ext cx="2621756" cy="3128963"/>
          </a:xfrm>
          <a:prstGeom prst="roundRect">
            <a:avLst>
              <a:gd name="adj" fmla="val 4360"/>
            </a:avLst>
          </a:prstGeom>
          <a:solidFill>
            <a:srgbClr val="F3EEE2"/>
          </a:solidFill>
          <a:ln w="7144">
            <a:solidFill>
              <a:srgbClr val="E2DCCB"/>
            </a:solidFill>
            <a:prstDash val="solid"/>
          </a:ln>
        </p:spPr>
        <p:txBody>
          <a:bodyPr wrap="square" rtlCol="0" anchor="ctr"/>
          <a:lstStyle/>
          <a:p>
            <a:pPr indent="0" marL="0">
              <a:buNone/>
            </a:pPr>
            <a:endParaRPr lang="en-US" dirty="0"/>
          </a:p>
        </p:txBody>
      </p:sp>
      <p:sp>
        <p:nvSpPr>
          <p:cNvPr id="28" name="Text 25"/>
          <p:cNvSpPr/>
          <p:nvPr/>
        </p:nvSpPr>
        <p:spPr>
          <a:xfrm>
            <a:off x="6322219" y="1654448"/>
            <a:ext cx="1738824" cy="118345"/>
          </a:xfrm>
          <a:prstGeom prst="rect">
            <a:avLst/>
          </a:prstGeom>
          <a:noFill/>
          <a:ln/>
        </p:spPr>
        <p:txBody>
          <a:bodyPr wrap="square" lIns="0" tIns="0" rIns="0" bIns="0" rtlCol="0" anchor="t">
            <a:normAutofit/>
          </a:bodyPr>
          <a:lstStyle/>
          <a:p>
            <a:pPr algn="l" indent="0" marL="0">
              <a:lnSpc>
                <a:spcPts val="945"/>
              </a:lnSpc>
              <a:buNone/>
            </a:pPr>
            <a:r>
              <a:rPr lang="en-US" sz="788" dirty="0">
                <a:solidFill>
                  <a:srgbClr val="1F4D3A"/>
                </a:solidFill>
                <a:latin typeface="Carlito" pitchFamily="34" charset="0"/>
                <a:ea typeface="Carlito" pitchFamily="34" charset="-122"/>
                <a:cs typeface="Carlito" pitchFamily="34" charset="-120"/>
              </a:rPr>
              <a:t>Master Policy &amp; Doc Control Register</a:t>
            </a:r>
            <a:endParaRPr lang="en-US" sz="788" dirty="0"/>
          </a:p>
        </p:txBody>
      </p:sp>
      <p:sp>
        <p:nvSpPr>
          <p:cNvPr id="29" name="Text 26"/>
          <p:cNvSpPr/>
          <p:nvPr/>
        </p:nvSpPr>
        <p:spPr>
          <a:xfrm>
            <a:off x="6136481" y="1657350"/>
            <a:ext cx="128588" cy="128588"/>
          </a:xfrm>
          <a:prstGeom prst="rect">
            <a:avLst/>
          </a:prstGeom>
          <a:noFill/>
          <a:ln/>
        </p:spPr>
        <p:txBody>
          <a:bodyPr wrap="none" lIns="0" tIns="0" rIns="0" bIns="0" rtlCol="0" anchor="ctr"/>
          <a:lstStyle/>
          <a:p>
            <a:pPr algn="ctr" indent="0" marL="0">
              <a:buNone/>
            </a:pPr>
            <a:r>
              <a:rPr lang="en-US" sz="1266" dirty="0">
                <a:solidFill>
                  <a:srgbClr val="E8A33D"/>
                </a:solidFill>
                <a:latin typeface="Segoe UI Symbol" pitchFamily="34" charset="0"/>
                <a:ea typeface="Segoe UI Symbol" pitchFamily="34" charset="-122"/>
                <a:cs typeface="Segoe UI Symbol" pitchFamily="34" charset="-120"/>
              </a:rPr>
              <a:t>✓</a:t>
            </a:r>
            <a:endParaRPr lang="en-US" sz="1266" dirty="0"/>
          </a:p>
        </p:txBody>
      </p:sp>
      <p:sp>
        <p:nvSpPr>
          <p:cNvPr id="30" name="Text 27"/>
          <p:cNvSpPr/>
          <p:nvPr/>
        </p:nvSpPr>
        <p:spPr>
          <a:xfrm>
            <a:off x="6136481" y="1800225"/>
            <a:ext cx="2357437" cy="164592"/>
          </a:xfrm>
          <a:prstGeom prst="rect">
            <a:avLst/>
          </a:prstGeom>
          <a:noFill/>
          <a:ln/>
        </p:spPr>
        <p:txBody>
          <a:bodyPr wrap="none" lIns="0" tIns="0" rIns="0" bIns="0" rtlCol="0" anchor="t"/>
          <a:lstStyle/>
          <a:p>
            <a:pPr algn="l" indent="0" marL="0">
              <a:lnSpc>
                <a:spcPts val="802"/>
              </a:lnSpc>
              <a:buNone/>
            </a:pPr>
            <a:r>
              <a:rPr lang="en-US" sz="800" spc="21" kern="0" dirty="0">
                <a:solidFill>
                  <a:srgbClr val="7A7A7A"/>
                </a:solidFill>
                <a:latin typeface="Liberation Sans Narrow" pitchFamily="34" charset="0"/>
                <a:ea typeface="Liberation Sans Narrow" pitchFamily="34" charset="-122"/>
                <a:cs typeface="Liberation Sans Narrow" pitchFamily="34" charset="-120"/>
              </a:rPr>
              <a:t>TWV-DOC-REG-001</a:t>
            </a:r>
            <a:endParaRPr lang="en-US" sz="800" dirty="0"/>
          </a:p>
        </p:txBody>
      </p:sp>
      <p:sp>
        <p:nvSpPr>
          <p:cNvPr id="31" name="Text 28"/>
          <p:cNvSpPr/>
          <p:nvPr/>
        </p:nvSpPr>
        <p:spPr>
          <a:xfrm>
            <a:off x="6136481" y="2016323"/>
            <a:ext cx="2357438" cy="131516"/>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NAMING CONVENTION</a:t>
            </a:r>
            <a:endParaRPr lang="en-US" sz="800" dirty="0"/>
          </a:p>
        </p:txBody>
      </p:sp>
      <p:sp>
        <p:nvSpPr>
          <p:cNvPr id="32" name="Text 29"/>
          <p:cNvSpPr/>
          <p:nvPr/>
        </p:nvSpPr>
        <p:spPr>
          <a:xfrm>
            <a:off x="6140053" y="2178844"/>
            <a:ext cx="2350294" cy="221456"/>
          </a:xfrm>
          <a:prstGeom prst="roundRect">
            <a:avLst>
              <a:gd name="adj" fmla="val 25806"/>
            </a:avLst>
          </a:prstGeom>
          <a:solidFill>
            <a:srgbClr val="FFFFFF"/>
          </a:solidFill>
          <a:ln w="7144">
            <a:solidFill>
              <a:srgbClr val="D6CFBA"/>
            </a:solidFill>
            <a:prstDash val="dash"/>
          </a:ln>
        </p:spPr>
        <p:txBody>
          <a:bodyPr wrap="square" rtlCol="0" anchor="ctr"/>
          <a:lstStyle/>
          <a:p>
            <a:pPr indent="0" marL="0">
              <a:buNone/>
            </a:pPr>
            <a:endParaRPr lang="en-US" dirty="0"/>
          </a:p>
        </p:txBody>
      </p:sp>
      <p:sp>
        <p:nvSpPr>
          <p:cNvPr id="33" name="Text 30"/>
          <p:cNvSpPr/>
          <p:nvPr/>
        </p:nvSpPr>
        <p:spPr>
          <a:xfrm>
            <a:off x="6136481" y="2175272"/>
            <a:ext cx="2357438" cy="228600"/>
          </a:xfrm>
          <a:prstGeom prst="rect">
            <a:avLst/>
          </a:prstGeom>
          <a:noFill/>
          <a:ln/>
        </p:spPr>
        <p:txBody>
          <a:bodyPr wrap="square" lIns="0" tIns="0" rIns="0" bIns="0" rtlCol="0" anchor="ctr"/>
          <a:lstStyle/>
          <a:p>
            <a:pPr algn="ctr" indent="0" marL="0">
              <a:lnSpc>
                <a:spcPts val="1013"/>
              </a:lnSpc>
              <a:buNone/>
            </a:pPr>
            <a:r>
              <a:rPr lang="en-US" sz="800" spc="27" kern="0" dirty="0">
                <a:solidFill>
                  <a:srgbClr val="4A4A4A"/>
                </a:solidFill>
                <a:latin typeface="Courier New" pitchFamily="34" charset="0"/>
                <a:ea typeface="Courier New" pitchFamily="34" charset="-122"/>
                <a:cs typeface="Courier New" pitchFamily="34" charset="-120"/>
              </a:rPr>
              <a:t>TWV-[DEPT]-[TYPE]-[NNN]</a:t>
            </a:r>
            <a:endParaRPr lang="en-US" sz="800" dirty="0"/>
          </a:p>
        </p:txBody>
      </p:sp>
      <p:sp>
        <p:nvSpPr>
          <p:cNvPr id="34" name="Text 31"/>
          <p:cNvSpPr/>
          <p:nvPr/>
        </p:nvSpPr>
        <p:spPr>
          <a:xfrm>
            <a:off x="6136481" y="2446734"/>
            <a:ext cx="2357438" cy="279749"/>
          </a:xfrm>
          <a:prstGeom prst="rect">
            <a:avLst/>
          </a:prstGeom>
          <a:noFill/>
          <a:ln/>
        </p:spPr>
        <p:txBody>
          <a:bodyPr wrap="square" lIns="0" tIns="0" rIns="0" bIns="0" rtlCol="0" anchor="t">
            <a:normAutofit/>
          </a:bodyPr>
          <a:lstStyle/>
          <a:p>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POL</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policy · </a:t>
            </a:r>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SOP</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a:t>
            </a:r>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PLN</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plan · </a:t>
            </a:r>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GDL</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guideline · </a:t>
            </a:r>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FRM</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forms · </a:t>
            </a:r>
            <a:pPr algn="l" indent="0" marL="0">
              <a:lnSpc>
                <a:spcPts val="928"/>
              </a:lnSpc>
              <a:buNone/>
            </a:pPr>
            <a:r>
              <a:rPr lang="en-US" sz="800" dirty="0">
                <a:solidFill>
                  <a:srgbClr val="1F4D3A"/>
                </a:solidFill>
                <a:latin typeface="Courier New" pitchFamily="34" charset="0"/>
                <a:ea typeface="Courier New" pitchFamily="34" charset="-122"/>
                <a:cs typeface="Courier New" pitchFamily="34" charset="-120"/>
              </a:rPr>
              <a:t>REG</a:t>
            </a:r>
            <a:pPr algn="l" indent="0" marL="0">
              <a:lnSpc>
                <a:spcPts val="928"/>
              </a:lnSpc>
              <a:buNone/>
            </a:pPr>
            <a:r>
              <a:rPr lang="en-US" sz="800" dirty="0">
                <a:solidFill>
                  <a:srgbClr val="4A4A4A"/>
                </a:solidFill>
                <a:latin typeface="Carlito" pitchFamily="34" charset="0"/>
                <a:ea typeface="Carlito" pitchFamily="34" charset="-122"/>
                <a:cs typeface="Carlito" pitchFamily="34" charset="-120"/>
              </a:rPr>
              <a:t> = register</a:t>
            </a:r>
            <a:endParaRPr lang="en-US" sz="800" dirty="0"/>
          </a:p>
        </p:txBody>
      </p:sp>
      <p:sp>
        <p:nvSpPr>
          <p:cNvPr id="35" name="Text 32"/>
          <p:cNvSpPr/>
          <p:nvPr/>
        </p:nvSpPr>
        <p:spPr>
          <a:xfrm>
            <a:off x="6136481" y="2753916"/>
            <a:ext cx="2357438" cy="102941"/>
          </a:xfrm>
          <a:prstGeom prst="rect">
            <a:avLst/>
          </a:prstGeom>
          <a:noFill/>
          <a:ln/>
        </p:spPr>
        <p:txBody>
          <a:bodyPr wrap="non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VERSION RULES</a:t>
            </a:r>
            <a:endParaRPr lang="en-US" sz="800" dirty="0"/>
          </a:p>
        </p:txBody>
      </p:sp>
      <p:sp>
        <p:nvSpPr>
          <p:cNvPr id="36" name="Text 33"/>
          <p:cNvSpPr/>
          <p:nvPr/>
        </p:nvSpPr>
        <p:spPr>
          <a:xfrm>
            <a:off x="6136481" y="2884289"/>
            <a:ext cx="2357438" cy="379492"/>
          </a:xfrm>
          <a:prstGeom prst="rect">
            <a:avLst/>
          </a:prstGeom>
          <a:noFill/>
          <a:ln/>
        </p:spPr>
        <p:txBody>
          <a:bodyPr wrap="square" lIns="0" tIns="0" rIns="0" bIns="0" rtlCol="0" anchor="t"/>
          <a:lstStyle/>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Major.minor; minor bump = 1.0 → 1.1; major rewrite = 1.x → 2.0</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Review: every 6 months in Year 1, then annually</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All 15 docs currently at v1.0, status “Approved draft”</a:t>
            </a:r>
            <a:endParaRPr lang="en-US" sz="800" dirty="0"/>
          </a:p>
        </p:txBody>
      </p:sp>
      <p:sp>
        <p:nvSpPr>
          <p:cNvPr id="37" name="Text 34"/>
          <p:cNvSpPr/>
          <p:nvPr/>
        </p:nvSpPr>
        <p:spPr>
          <a:xfrm>
            <a:off x="6136481" y="3306998"/>
            <a:ext cx="2467166" cy="102941"/>
          </a:xfrm>
          <a:prstGeom prst="rect">
            <a:avLst/>
          </a:prstGeom>
          <a:noFill/>
          <a:ln/>
        </p:spPr>
        <p:txBody>
          <a:bodyPr wrap="square" lIns="0" tIns="0" rIns="0" bIns="0" rtlCol="0" anchor="t">
            <a:normAutofit/>
          </a:bodyPr>
          <a:lstStyle/>
          <a:p>
            <a:pPr algn="l" indent="0" marL="0">
              <a:lnSpc>
                <a:spcPts val="802"/>
              </a:lnSpc>
              <a:buNone/>
            </a:pPr>
            <a:r>
              <a:rPr lang="en-US" sz="800" spc="96" kern="0" dirty="0">
                <a:solidFill>
                  <a:srgbClr val="B57820"/>
                </a:solidFill>
                <a:latin typeface="Carlito" pitchFamily="34" charset="0"/>
                <a:ea typeface="Carlito" pitchFamily="34" charset="-122"/>
                <a:cs typeface="Carlito" pitchFamily="34" charset="-120"/>
              </a:rPr>
              <a:t>REGULATORY CHECKLIST (PRE-LAUNCH)</a:t>
            </a:r>
            <a:endParaRPr lang="en-US" sz="800" dirty="0"/>
          </a:p>
        </p:txBody>
      </p:sp>
      <p:sp>
        <p:nvSpPr>
          <p:cNvPr id="38" name="Text 35"/>
          <p:cNvSpPr/>
          <p:nvPr/>
        </p:nvSpPr>
        <p:spPr>
          <a:xfrm>
            <a:off x="6136481" y="3437372"/>
            <a:ext cx="2357438" cy="627724"/>
          </a:xfrm>
          <a:prstGeom prst="rect">
            <a:avLst/>
          </a:prstGeom>
          <a:noFill/>
          <a:ln/>
        </p:spPr>
        <p:txBody>
          <a:bodyPr wrap="square" lIns="0" tIns="0" rIns="0" bIns="0" rtlCol="0" anchor="t"/>
          <a:lstStyle/>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Liberation Sans Narrow" pitchFamily="34" charset="0"/>
                <a:ea typeface="Liberation Sans Narrow" pitchFamily="34" charset="-122"/>
                <a:cs typeface="Liberation Sans Narrow" pitchFamily="34" charset="-120"/>
              </a:rPr>
              <a:t>SECP company registration — Month 1</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FBR tax registration (NTN + sales tax) — Month 1</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Sindh Food Authority licence — before first sale</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PSQCA product standards &amp; labelling — before first sale</a:t>
            </a:r>
            <a:endParaRPr lang="en-US" sz="800" dirty="0"/>
          </a:p>
          <a:p>
            <a:pPr algn="l" indent="0" marL="0">
              <a:lnSpc>
                <a:spcPts val="866"/>
              </a:lnSpc>
              <a:spcAft>
                <a:spcPts val="56"/>
              </a:spcAft>
              <a:buNone/>
            </a:pPr>
            <a:r>
              <a:rPr lang="en-US" sz="600" dirty="0">
                <a:solidFill>
                  <a:srgbClr val="E8A33D"/>
                </a:solidFill>
                <a:latin typeface="Carlito" pitchFamily="34" charset="0"/>
                <a:ea typeface="Carlito" pitchFamily="34" charset="-122"/>
                <a:cs typeface="Carlito" pitchFamily="34" charset="-120"/>
              </a:rPr>
              <a:t>●  </a:t>
            </a:r>
            <a:pPr algn="l" indent="0" marL="0">
              <a:lnSpc>
                <a:spcPts val="866"/>
              </a:lnSpc>
              <a:spcAft>
                <a:spcPts val="56"/>
              </a:spcAft>
              <a:buNone/>
            </a:pPr>
            <a:r>
              <a:rPr lang="en-US" sz="800" dirty="0">
                <a:solidFill>
                  <a:srgbClr val="4A4A4A"/>
                </a:solidFill>
                <a:latin typeface="Carlito" pitchFamily="34" charset="0"/>
                <a:ea typeface="Carlito" pitchFamily="34" charset="-122"/>
                <a:cs typeface="Carlito" pitchFamily="34" charset="-120"/>
              </a:rPr>
              <a:t>IPO Pakistan trademark — search, then file</a:t>
            </a:r>
            <a:endParaRPr lang="en-US" sz="800" dirty="0"/>
          </a:p>
        </p:txBody>
      </p:sp>
      <p:sp>
        <p:nvSpPr>
          <p:cNvPr id="39" name="Text 36"/>
          <p:cNvSpPr/>
          <p:nvPr/>
        </p:nvSpPr>
        <p:spPr>
          <a:xfrm>
            <a:off x="0" y="4857750"/>
            <a:ext cx="9144000" cy="285750"/>
          </a:xfrm>
          <a:prstGeom prst="rect">
            <a:avLst/>
          </a:prstGeom>
          <a:solidFill>
            <a:srgbClr val="1F4D3A"/>
          </a:solidFill>
          <a:ln/>
        </p:spPr>
        <p:txBody>
          <a:bodyPr wrap="square" rtlCol="0" anchor="ctr"/>
          <a:lstStyle/>
          <a:p>
            <a:pPr indent="0" marL="0">
              <a:buNone/>
            </a:pPr>
            <a:endParaRPr lang="en-US" dirty="0"/>
          </a:p>
        </p:txBody>
      </p:sp>
      <p:sp>
        <p:nvSpPr>
          <p:cNvPr id="40" name="Text 37"/>
          <p:cNvSpPr/>
          <p:nvPr/>
        </p:nvSpPr>
        <p:spPr>
          <a:xfrm>
            <a:off x="228600" y="4936331"/>
            <a:ext cx="3512604"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FFFFFF"/>
                </a:solidFill>
                <a:latin typeface="Tinos" pitchFamily="34" charset="0"/>
                <a:ea typeface="Tinos" pitchFamily="34" charset="-122"/>
                <a:cs typeface="Tinos" pitchFamily="34" charset="-120"/>
              </a:rPr>
              <a:t>TOWATIVE </a:t>
            </a:r>
            <a:pPr algn="l" indent="0" marL="0">
              <a:lnSpc>
                <a:spcPts val="1013"/>
              </a:lnSpc>
              <a:buNone/>
            </a:pPr>
            <a:r>
              <a:rPr lang="en-US" sz="800" spc="27" kern="0" dirty="0">
                <a:solidFill>
                  <a:srgbClr val="E8A33D"/>
                </a:solidFill>
                <a:latin typeface="Tinos" pitchFamily="34" charset="0"/>
                <a:ea typeface="Tinos" pitchFamily="34" charset="-122"/>
                <a:cs typeface="Tinos" pitchFamily="34" charset="-120"/>
              </a:rPr>
              <a:t>•</a:t>
            </a:r>
            <a:pPr algn="l" indent="0" marL="0">
              <a:lnSpc>
                <a:spcPts val="1013"/>
              </a:lnSpc>
              <a:buNone/>
            </a:pPr>
            <a:r>
              <a:rPr lang="en-US" sz="800" spc="27" kern="0" dirty="0">
                <a:solidFill>
                  <a:srgbClr val="FFFFFF"/>
                </a:solidFill>
                <a:latin typeface="Tinos" pitchFamily="34" charset="0"/>
                <a:ea typeface="Tinos" pitchFamily="34" charset="-122"/>
                <a:cs typeface="Tinos" pitchFamily="34" charset="-120"/>
              </a:rPr>
              <a:t> Nourish Boldly. Enjoy Fully.</a:t>
            </a:r>
            <a:endParaRPr lang="en-US" sz="800" dirty="0"/>
          </a:p>
        </p:txBody>
      </p:sp>
      <p:sp>
        <p:nvSpPr>
          <p:cNvPr id="41" name="Text 38"/>
          <p:cNvSpPr/>
          <p:nvPr/>
        </p:nvSpPr>
        <p:spPr>
          <a:xfrm>
            <a:off x="3755492" y="4941689"/>
            <a:ext cx="3142804" cy="164592"/>
          </a:xfrm>
          <a:prstGeom prst="rect">
            <a:avLst/>
          </a:prstGeom>
          <a:noFill/>
          <a:ln/>
        </p:spPr>
        <p:txBody>
          <a:bodyPr wrap="square" lIns="0" tIns="0" rIns="0" bIns="0" rtlCol="0" anchor="t"/>
          <a:lstStyle/>
          <a:p>
            <a:pPr algn="l" indent="0" marL="0">
              <a:lnSpc>
                <a:spcPts val="928"/>
              </a:lnSpc>
              <a:buNone/>
            </a:pPr>
            <a:r>
              <a:rPr lang="en-US" sz="800" i="1" spc="50" kern="0" dirty="0">
                <a:solidFill>
                  <a:srgbClr val="F4C77B"/>
                </a:solidFill>
                <a:latin typeface="Liberation Sans Narrow" pitchFamily="34" charset="0"/>
                <a:ea typeface="Liberation Sans Narrow" pitchFamily="34" charset="-122"/>
                <a:cs typeface="Liberation Sans Narrow" pitchFamily="34" charset="-120"/>
              </a:rPr>
              <a:t>— End of Monthly Assessment 1 —</a:t>
            </a:r>
            <a:endParaRPr lang="en-US" sz="800" dirty="0"/>
          </a:p>
        </p:txBody>
      </p:sp>
      <p:sp>
        <p:nvSpPr>
          <p:cNvPr id="42" name="Text 39"/>
          <p:cNvSpPr/>
          <p:nvPr/>
        </p:nvSpPr>
        <p:spPr>
          <a:xfrm>
            <a:off x="6912583" y="4944368"/>
            <a:ext cx="2112545" cy="164592"/>
          </a:xfrm>
          <a:prstGeom prst="rect">
            <a:avLst/>
          </a:prstGeom>
          <a:noFill/>
          <a:ln/>
        </p:spPr>
        <p:txBody>
          <a:bodyPr wrap="square" lIns="0" tIns="0" rIns="0" bIns="0" rtlCol="0" anchor="t"/>
          <a:lstStyle/>
          <a:p>
            <a:pPr algn="l" indent="0" marL="0">
              <a:lnSpc>
                <a:spcPts val="886"/>
              </a:lnSpc>
              <a:buNone/>
            </a:pPr>
            <a:r>
              <a:rPr lang="en-US" sz="600" spc="24" kern="0" dirty="0">
                <a:solidFill>
                  <a:srgbClr val="FFFFFF">
                    <a:alpha val="85000"/>
                  </a:srgbClr>
                </a:solidFill>
                <a:latin typeface="Courier New" pitchFamily="34" charset="0"/>
                <a:ea typeface="Courier New" pitchFamily="34" charset="-122"/>
                <a:cs typeface="Courier New" pitchFamily="34" charset="-120"/>
              </a:rPr>
              <a:t>Prepared by Hareem Fatima • v1.0 • 01 Nov 2026</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2026-10-20T10:04:49Z</dcterms:created>
  <dcterms:modified xsi:type="dcterms:W3CDTF">2026-10-20T10:04:49Z</dcterms:modified>
</cp:coreProperties>
</file>